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the course, a text, and the ten weeks" id="{be621656-a847-759b-ae0b-f24e4a668a2b}">
          <p14:sldIdLst>
            <p14:sldId id="256"/>
            <p14:sldId id="257"/>
            <p14:sldId id="258"/>
          </p14:sldIdLst>
        </p14:section>
        <p14:section name="The rules: how Israelis vote and how votes become seats" id="{a775ef62-79c6-fb61-860b-b6219df561c1}">
          <p14:sldIdLst>
            <p14:sldId id="259"/>
            <p14:sldId id="260"/>
            <p14:sldId id="261"/>
            <p14:sldId id="262"/>
            <p14:sldId id="263"/>
            <p14:sldId id="264"/>
          </p14:sldIdLst>
        </p14:section>
        <p14:section name="From seats to a government, and why Israel voted five times" id="{93f4f3db-386f-26e7-bc50-46f6648940d9}">
          <p14:sldIdLst>
            <p14:sldId id="265"/>
            <p14:sldId id="266"/>
          </p14:sldIdLst>
        </p14:section>
        <p14:section name="The tribes: who Israelis are" id="{0f7a011f-fd6d-a588-9f7d-acec40670542}">
          <p14:sldIdLst>
            <p14:sldId id="267"/>
            <p14:sldId id="268"/>
            <p14:sldId id="269"/>
          </p14:sldIdLst>
        </p14:section>
        <p14:section name="The parties: one slide for every list likely to cross the threshold" id="{566db1e2-3fff-17ce-2bc7-06dd090e33b3}">
          <p14:sldIdLst>
            <p14:sldId id="270"/>
            <p14:sldId id="271"/>
            <p14:sldId id="272"/>
            <p14:sldId id="273"/>
            <p14:sldId id="274"/>
            <p14:sldId id="275"/>
            <p14:sldId id="276"/>
            <p14:sldId id="277"/>
            <p14:sldId id="278"/>
            <p14:sldId id="279"/>
            <p14:sldId id="280"/>
            <p14:sldId id="281"/>
            <p14:sldId id="282"/>
          </p14:sldIdLst>
        </p14:section>
        <p14:section name="The map: blocs and polls three weeks out" id="{c942a824-84d0-78e8-f4a7-8703477ac125}">
          <p14:sldIdLst>
            <p14:sldId id="283"/>
            <p14:sldId id="284"/>
            <p14:sldId id="285"/>
          </p14:sldIdLst>
        </p14:section>
        <p14:section name="Discussion and next week" id="{a731093e-609a-8ffb-0cc9-0d3a20a6e571}">
          <p14:sldIdLst>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first of ten sessions on the Israeli election and the society behind it. Israelis vote on Tuesday, October 27, which is 21 days from tonight, and our class will meet that evening as the results come in.
Tonight has three parts. First, the rules: how Israelis vote, how votes turn into seats, and how seats turn into a government. Second, the tribes: who Israelis are, starting with President Rivlin's 2015 speech about Israel's four "tribes." Third, the map: the parties, grouped into blocs, and where the polls stand this week.
Many of these rules run against American instincts, so expect a few surprises. There are no districts, no candidates on the ballot, and no absentee voting.
Every number on these slides has its source and date in these notes; a few are our own arithmetic from sourced figures and say so. If someone asks where a figure comes from, the answer is here, and you can say so. We will keep the last ten minutes for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numbers, a text. The Tosefta, quoted in the Talmud at Berakhot 58a, gives a blessing for seeing a great crowd of Israel: Blessed is the One who knows all secrets.
Notice the reason it gives. The crowd is not praised for being of one mind. The blessing is said because no two minds in it are alike and no two faces are alike, and only God knows what is in each heart. The blessing is for the variety itself, and for a knowledge of each person that none of us has.
Then Ben Zoma, standing on a step on the Temple Mount, looks out at a multitude, says that blessing, and adds a second one: Blessed is the One who created all these to serve me. Let people sit with that second line for a moment before explaining it. It is a strange thing to say about a crowd, and it is worth asking what kind of dependence on strangers he is describing.
This is a good frame for a class on an election, and for this room. Everyone is welcome at this table. Our aim is description, not advocacy: to understand what this election is actually about, rather than what any of us might wish it were about.
Text: Berakhot 58a, William Davidson translation, on Sefaria at sefaria.org/Berakhot.58a.3.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shape of the fall. Part one runs up to the vote. Tonight is the system, the tribes and the map. Next week, October 13, is how we got here, from 1977 to 2026, and what is and isn't on the ballot. There is no class on October 20. On October 27 we meet on election night, after Israel's polls have closed, and we will come back to the predictions we make at the end of tonight.
Part two turns from the election to the communities that make up Israeli society, and how each relates to the state and to politics: the Haredi world, Mizrahi Israel, Tel Aviv and the shrinking liberal world, the settler movement as it actually operates, and Palestinian citizens of Israel. We finish on December 15 with Hebron.
Each session stands on its own, so people can come to any of them. The format each week: about 35 minutes of teaching with slides, about 15 minutes with one Jewish text, in English, and the last 10 minutes for discussion.
Source: course syllabus draft, October 4,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carry the whole system. One: the entire country is a single electoral district, and voters choose closed party lists (Wikipedia, "2026 Israeli legislative election," accessed Oct 4, 2026). You vote for a party; the party has already ranked its candidates, and seats are filled down the list in order. 120: the Knesset has 120 seats, and Basic Law: The Knesset requires elections that are "general, national, direct, equal, secret and proportional" (sections 3–4, Constitute Project text). 3.25 percent: a list below it gets nothing. 61: a majority of 120.
For 2026: about 7.56 million eligible voters, and about 172,000 votes to clear the threshold (IsraelEd, Sep 28, 2026). No absentee ballot: only diplomats and official emissaries vote abroad (IDI, Kenig and Plesner, Feb 18, 2020).
Two more rules worth knowing. The Knesset can extend its own term only with 80 votes. A list can be barred for denying Israel as "a Jewish and democratic state," inciting racism, or supporting armed struggle, and the Supreme Court must confirm (Basic Law: The Knesset, ss. 9A and 7A). We will see that rule in action at the end of tonight.
The sources disagree on the threshold's history: IDI's Ofer Kenig (Jan 26, 2015) and IDI's Assaf Shapira (Nov 8, 2022) give different years for each step. The firm anchor is that the 3.25 percent law passed March 11, 2014 and was first used in 2015. Supporters said it would reduce the number of small parties; critics said it would reduce Arab representation (IDI, Kenig, 2015).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2022, about 8.7 percent of all votes went to lists that did not cross the threshold, a record (IDI, Shapira, Nov 8, 2022). Three lists account for most of it: Meretz with 150,793 votes (3.16 percent), Balad with 138,617 (2.91 percent), and Jewish Home with 56,775 (1.19 percent), out of 4,764,742 valid votes (Wikipedia, 2022 Knesset election).
The two blocs were nearly even in votes, roughly 2.36 million to 2.33 million, yet the seats split 64 to 56. The opposition side wasted about 289,000 votes. Meretz missed by roughly 3,800 to 4,000 votes, Balad by about 15,000. Zehava Galon called it "a disaster for Meretz, a disaster for the country, and yes, a disaster for me personally" (Times of Israel, Nov 3 and Nov 7, 2022).
It has happened on the right too. In April 2019 Naftali Bennett's New Right won 138,598 votes, 3.22 percent, about 1,450 votes short of the line (Wikipedia, April 2019 election; the shortfall is the research memo's own arithmetic). Bennett led more than 100 volunteers to the ballot warehouse in Shoham to search for uncounted votes. The Central Elections Committee found one. He conceded: "I, and I alone, am responsible" (Times of Israel, Apr 16, 2019). IDI has argued that on a joint list the right would have had more than 60 seats, and there would have been no September 2019 election (IDI, Shapira &amp; Rahat, Apr 27,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counting in plain terms, in five steps (IDI, Ofer Kenig, Mar 16, 2026; Matthew Shugart, Fruits and Votes, Sep 8, 2026).
One: throw out the votes of every list under 3.25 percent. Two: divide the remaining votes by 120; that is the price of one seat. In 2022 it was 4,347,342 ÷ 120 = 36,227. Three: each list gets a seat for every full 36,227 votes. In 2022 that handed out 113 seats and left 7. Four: the leftover seats go one at a time. Divide each list's votes by its seats plus one; the biggest number wins a seat; recalculate and repeat. Lists that signed a surplus agreement count as one list here (IDI, Oct 30, 2022). Five: when a pair wins a seat, the same rule decides which partner gets it. This is the Bader-Ofer method, Israel's version of the D'Hondt formula.
A surplus agreement is signed before the election. It counts only if both lists pass the threshold (IDI, Shapira and Rahat, Apr 27, 2026). The 2026 pairs are Yashar with The Democrats, and B'Yachad with Yisrael Beiteinu (Israel Policy Forum, 120 Project, updated Sep 24, 2026).
The next slide works the 2022 count through. A caution: short descriptions of the leftover-seat rule, including Wikipedia's, simplify it in ways that differ from IDI's; IDI's account is the one used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2022 count, step by step (Matthew Shugart, Fruits and Votes, Sep 8, 2026; IDI, Kenig, Mar 16, 2026). The price of a seat was 36,227 votes. Whole seats used up 113 of 120, leaving 7.
For the leftovers, each list or pair's votes are divided by its seats plus one. Shas and UTJ, paired, had the biggest number, 37,397.67, and won round one. Then National Unity with Yesh Atid, then Likud with Religious Zionism, then Hadash–Ta'al, then Yisrael Beiteinu, then the same two big pairs again. Labor and Ra'am got nothing.
Inside the Likud–RZ pair the same rule ran twice, and Likud won both times: 32 seats instead of 30, while RZ stayed at 14. Under the old largest-remainder rule Likud would have had 31; UTJ and Labor each lost a seat they would have won under the old rule (Shugart). Labor's surplus deal with Meretz did not count, because Meretz, with 150,793 votes, missed the threshold.
It does not always favor the big partner. In 2021 the Yesh Atid–Yisrael Beiteinu pair's leftover seat went to the smaller Yisrael Beiteinu; Meretz and New Hope also got their pairs' seats, while Likud and Shas, as bigger partners, got theirs (IDI, Oct 30, 2022).
A caveat from IDI: apart from leftover seats, "there is almost no electoral advantage to large lists" (Shapira and Rahat, Apr 27,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can vote: citizens 18 and over; candidates must be 21 (Basic Law: The Knesset, Constitute Project text). Israelis living in the West Bank vote from within the territories (Wikipedia, Elections in Israel), and emergency regulations treat them as residents for various laws (IDI, Libman, Jun 7, 2022). I could not find the specific law on polling stations in the settlements.
Soldiers vote at stations that open 72 hours early. Soldiers, hospital patients, prisoners, voters with disabilities and diplomats vote by double envelope, and those ballots are counted after election night (Wikipedia; Times of Israel, Sep 18, 2019). Abroad, only diplomats and official emissaries can vote, including Jewish Agency shlichim, plus ships' crews (IDI, Kenig and Plesner, Feb 18, 2020). Israel's missions abroad vote on Oct 20 (Wikipedia, 2026 election article).
Everyone else living abroad has to fly home to vote. That is why CNN's Sep 19, 2026 report matters: Likud is trying to block a campaign to fly expatriates home to vote. I have only the headline.
Who cannot: Jerusalem has 1.063M residents, 38.4% Arab — roughly 408,000, nearly all East Jerusalem residents without citizenship [our arithmetic from CBS end-2025 via Jewish News, May 18, 2026]. They are permanent residents, not citizens, and may vote for the city council, not the Knesset. There is no published direct count of East Jerusalem Palestinians.
Golan Druze: over 35% (~10,000) now hold citizenship; 4,600 naturalized Dec 2024–Feb 2026 (Globes, May 24, 2026). The rest hold residency only.
Election day is a national holiday (Wikipedia).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turnout stays in a narrow band, about 67 to 72 percent (Wikipedia, per-election articles). Overall turnout ranged 67.4–72.3 percent across these six elections. Arab-sector turnout swings much more widely.
The figures, overall then Arab sector: 2015, 72.34 and 63.5; April 2019, 68.46 and 49.2; September 2019, 69.83 and 59.2; March 2020, 71.52 and 64.8; March 2021, 67.44 and 44.6; November 2022, 70.63 and 53.2. The slide rounds the overall figures to one decimal. Arab-sector figures are from IDI's Arik Rudnitzky (Sep 23, 2019; Mar 10, 2020; Apr 27, 2021; Dec 25, 2022) and, for 2015, the Dayan Center (May 20, 2019).
The sources disagree on 2015: the Dayan Center gives 63.5 percent for the Arab sector, while another calculation gives 52.
The striking line is March 2020 to March 2021: Arab turnout fell from 64.8 to 44.6 percent in a single year, while overall turnout stayed inside its 67.4–72.3 percent range. Arabs are 21.7% of the population (CBS, Sep 9, 2026); not all are citizens.
For 2026: Arab-sector turnout is expected at about 53 percent. The same survey put it at 67 percent for a hypothetical four-party Joint List including Ra'am, which did not happen: the list re-formed on Aug 19 without Ra'am (Konrad Adenauer Program/Dayan Center survey, May 2026). Keep this in mind when we look at the polls; by our arithmetic Arab-sector turnout has moved by as much as 20 points between consecutive elections (64.8 to 44.6).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vote, the clock starts. Diplomats abroad vote on October 20; everyone else on October 27. Results are to be certified November 4 (Wikipedia, 2026 election). The President consults the factions within 7 days of the results and assigns the mandate, so by November 11 (IsraelEd, Sep 28, 2026).
The person with the mandate has 28 days, and the President can add up to 14 more. If that fails, a second candidate gets 28 days. If that fails too, a majority of 61 MKs can, within 21 days, ask the President to give the mandate to someone, and that person gets 14 days. If nobody succeeds, the Knesset dissolves and a new election is held within 90 days (Basic Law: The Government, 2001, sections 7–11).
A government takes office by winning a confidence vote, which in practice means 61 (IDI, Apr 15, 2026).
How long does it take? Historically between 20 and 100 days, and no government has been sworn in less than 50 days after an election in the last two decades (IDI, Ofer Kenig, Apr 15, 2026). By date arithmetic, fifty days from October 27 is December 16, after our last session on December 15. So election night is the start of the story, not the end of it; we will follow the coalition talks together on November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Israel vote five times between April 2019 and November 2022? Each election has a short cause.
April 9, 2019: Avigdor Lieberman refused to join a Netanyahu government over the Haredi draft law. On May 30 the Knesset dissolved itself, the first time it had done so before any government was formed.
September 17, 2019: deadlock. Neither side could form a government, and the last 21-day window ran out on December 11.
March 2, 2020: Netanyahu and Benny Gantz agreed on a rotation on April 20 and were sworn in May 17. The Knesset dissolved on December 23, 2020, over the failure to pass a budget (RTÉ, Dec 22, 2020).
March 23, 2021: Naftali Bennett and Yair Lapid formed a government, sworn in June 13, 2021. Mansour Abbas's Ra'am became the first independent Arab party in a governing coalition (Wikipedia). It dissolved June 30, 2022 (Axios, Jun 30, 2022).
November 1, 2022: the Netanyahu bloc won 64 seats (Times of Israel, Nov 7, 2022).
Then something unusual. The 25th Knesset served a full term, the first to do so since 1988, and dissolved on July 17, 2026 (Wikipedia; Jerusalem Post, Jul 13, 2026). Other dates are from Wikipedia.
Worth noticing: many of the people at the center of this story are on the ballot again: Netanyahu, Bennett, Lapid, Gantz, Lieberman and Abbas. Next week we look at the longer history that brought them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is Education Ministry data via the Times of Israel, Aug 31, 2025. Secular state schools: 51,680 first-graders in 2000, 66,185 in 2025–26. State religious: 16,639 to 29,470. Haredi: 16,525 to 42,751. Arab 26,975, Bedouin 11,418 and Druze 2,702 in 2025–26, which we sum to 41,095; no 2000 figure was given. The 72,221 is our sum of state religious and Haredi. For the first time, religious first-graders outnumber secular ones.
History: in June 2015 President Reuven Rivlin told the Herzliya Conference that first-grade classes were "about 38% secular Jews, about 15% national religious, about one quarter Arabs, and close to a quarter Haredim": four principal "tribes," "growing closer in size" (Reichman University text; Times of Israel, Jun 7, 2015). Our arithmetic on the 2025–26 total of 179,501: 36.9 percent secular, 16.4 state religious, 23.8 Haredi, 22.9 Arab, Bedouin and Druze. His proportions have held.
The 2026–27 split by stream has not been published yet; only the total, about 180,000 first-graders (JNS, Aug 31, 2026; Jerusalem Post, Sep 1, 2026).
The speech was argued over: Schechter in Haaretz said he "told the uncomfortable truth"; Yemini in Ynet objected that "50 percent of the Ultra Orthodox do identify as Zionists" (Foreign Policy, Sep 4, 2015).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Rivlin's four school streams leave people out. This table is our best attempt at a 2026 map; shares marked [arith] are our arithmetic from CBS's Sep 2026 figures for Jewish adults, scaled to the whole population.
Masortim are the missing tribe. JPPI's Even Tzur (2023) called leaving them out "a common mistake"; CBS now counts 35.8 percent of Jewish adults as traditional (our sum of two categories). In 2022 they voted Likud 46.5 percent (IDI, Jun 28, 2026).
Russian-speakers are neither secular nor religious in Rivlin's sense: about a million voters (Lazar via JPost, Dec 2025). Polina Altzitser, who arrived in 2022: "Why can't you get married without a certificate stating your mother is Jewish?" Rabbi Benjamin Minich: "It's impossible to be fully Israeli without being born here" (Ynetnews/Media Line, May 14, 2024).
Settlers cut across: 36 percent Haredi, 36 religious Zionist, 28 secular (Yesha via ToI, May 2023). Reservists may be an emerging identity: Yoaz Hendel launched a reservists' party in Sep 2025, "between the blocs."
And the sharpest divide now is political: in IDI's 2025 Democracy Index, 55 percent of Jews named right–left as the most acute tension.
Haredi streams: Machon, Dec 2024. Arab figures: CBS 2026 releases; Bedouin, State Comptroller via JPost, Apr 2026; Druze, 2022.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measures, each with limits. Population: CBS's Rosh Hashanah release (Sep 9, 2026, via Times of Israel) gives 10,305,000; Jews and others 78.3 percent, Arabs 21.7, leaving out 304,000 foreign nationals.
Religiosity is self-description by Jews 20 and over, so young Haredim are undercounted. CBS 2026: secular 39.6, traditional-not-so-religious 21.8, traditional-religious 14.0, religious 12.4, Haredi 11.5 (via VIN and Ynet, Sep 9, 2026). The thin bar is the 2009 baseline: 41.4, 26.3, 13.0, 11.7, 8.2 (CBS 2009).
Origin is self-identification in IDI's Democracy Index 2025 (Dec 2025). IDI weights its sample to CBS, so it is not an independent check. CBS's own origin table uses father's birthplace and was last seen for 2015; the two are not comparable. About 81 percent of Jews are Israeli-born (CBS via Ynet, Apr 19, 2026).
Haredim: 14.3 percent today (IDI, Cahaner and Malach, Dec 14, 2025). IDI's "Haredim in Israel 2050" (Feb 10, 2026) projects about 22 percent by 2050; CBS's projection, still from 2017, gives 24.4.
Emigration: CBS revised figures, via VIN, Times of Israel and Ynet. A Tel Aviv University study uses a different method and runs higher.
Does identity predict the vote? IDI's June 2026 analysis of the 2022 vote shows each religiosity group voting overwhelmingly for one bloc: secular 74 percent opposition; masorti 66.5 percent coalition; religious 80 percent coalition; Haredi UTJ 58, Shas 28, RZ–Otzma 7, Likud 4 (IDI, Jun 28,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Likud was founded Sept 13, 1973 by Begin and Sharon and became a single party in 1988 (IDI party page). Netanyahu has led it since 2005; his trial began May 24, 2020. The Aug 17, 2026 primary put Eli Cohen first; ToI called it a “win for Netanyahu bid to reshape sinking party” (ToI, Aug 18, 2026). In 2022 Likud won 1,115,336 votes, 23.41 percent, 32 seats; its voters were 57 percent traditional, 32 secular, 10 national-religious (IDI/Finkelstein, Jun 28, 2026). Likud has no written 2026 platform (Ynet, Sep 30, 2026). Courts: under the new judge-selection law, the committee's professional members lose their veto once the next government takes office (JTA, Sep 18, 2026). Levin: “We'll wait for the next term, when two-thirds of the Supreme Court justices' seats become vacant… You'll simply go extinct” (Kan recordings, via JTA, Sep 18, 2026). West Bank: in July 2025 all Likud ministers urged “apply sovereignty” (Ynet, Jul 2, 2025). Gaza: Netanyahu rejected Trump's 15-point plan on Aug 9 (Al Jazeera, Aug 9, 2026). Trial: pardon requested Nov 30, 2025; Herzog deferred Apr 26, 2026, pushing a plea deal; no reply as of Sep 19 (JPost, Sep 19, 2026). Coalition: Netanyahu, “a strong right-wing government led by me – or a weak l[eft]…” (JPost, Sep 8, 2026; the report cuts off there). Likud petitioned; the committee voted 18–5 with Likud, Shas and UTJ representatives in favor (ToI, Sep 23, 2026); the Supreme Court reversed Oct 2. Seats: Maariv 19, Channel 13 19, Zman Yisrael 21, Kan 21, Channel 14 31–32. Watch out: the Religious Zionism surplus deal was agreed Sep 8 but unsigned Sep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Shas was founded in 1984 as Shomrei Sefarad, protesting thin Sephardi representation in Agudat Yisrael, under Rav Ovadia Yosef (IDI party page). It peaked at 17 seats in 1999. In August 2026 council head Rabbi Moshe Maya chose former Chief Rabbi Yitzhak Yosef “to lead” (JPost, Aug 20, 2026). In 2022 Shas won 392,964 votes, 8.25 percent, 11 seats; 28 percent of Haredim and 10.5 percent of national-religious voters chose it (IDI, Jun 28, 2026). IDI's Malach: Shas has “at least three or four Knesset seats' worth of voters who are simply not Haredi” (Shomrim, Jun 30, 2026). Courts: “fundamentally reform the judicial system and return power to the people and their elected representatives” (Ynet, Sep 22, 2026). West Bank: opposes a Palestinian state; the issue is “not central” (Ynet, Sep 30, 2026). The Gaza and religion-and-state rows summarize JPost, Sep 8, 2026. Deri, Dec 9, 2025: “It is unacceptable that a poor Haredi child would not receive the minimum support as a poor Arab child does” (ToI). Deri: “We support Netanyahu, period” (Jul 16, 2026; outlet not recorded). Deri: “The army doesn't want haredi soldiers, get that into your head” (JPost, Sep 3, 2026). The same month Shas put Lt.-Col. (res.) Dror Amos, 25 years in the IDF, at no. 6 (JPost, Sep 8, 2026). Seats: Maariv 7, Channel 13 7, Zman Yisrael 9, Kan 7 (Kan via Haaretz, Sep 27; JPost's report of the poll gave no figure), Channel 14 10. Watch out: the opposition plan is anonymous and “not a formal decision” (Maariv via JPost, Sep 17, 2026); no slogan, trial statement or signed surplus deal was found; ITIM's petition against Amos has no known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United Torah Judaism is a joint list of Agudat Yisrael, which is Hasidic, and Degel HaTorah, which is Lithuanian, since 1992 (IDI party page); some sources date the alliance to 1988. In July 2025 both factions quit the government over the draft. On Sept 5, 2026 Rav Dov Landau removed Gafni and Maklev from the slate by letter, and Yaakov Asher became head (Yeshiva World, Sep 5, 2026). On Sept 8 Meir Porush and Elyakim Stark formed Homat Torat Yisrael inside the list, its first third component since 1992 (Davar, Sep 8, 2026). In 2022 UTJ won 280,194 votes, 5.88 percent, 7 seats; 58 percent of Haredim voted UTJ and 86 percent UTJ or Shas (IDI, Jun 28, 2026). Asher, Sep 28: UTJ “will not support or enter any government without regulating the status of Torah learners” (Matzav). Rav Dov Landau's May 2026 letter: “We no longer have trust in Netanyahu” (JPost, May 25, 2026). Courts: “The Supreme Court has accumulated excessive power” (party position as reported by Ynet, Sep 2026). Gaza: the party “focuses primarily on domestic issues” (JPost, Sep 8, 2026). West Bank: no unified policy; Degel is “more moderate” (Ynet, Sep 30, 2026). Channel 12 reported Goldknopf and Tessler might abstain to let an Eisenkot minority government form; Asher said there is “no desire to topple or install anyone” (ToI, Sep 29, 2026). Seats: Maariv 7, Channel 13 8, Zman Yisrael 8, Kan 7 (Kan via Haaretz, Sep 27; JPost's report of the poll gave no figure), Channel 14 8. Watch out: Israel Policy Forum still names Goldknopf as list head, which is out of date. No joint slogan and no signed surplus deal were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Religious Zionism traces to Tkuma, which split from the National Religious Party in 1998. Smotrich has chaired it since 2019. In 2022 it ran jointly with Otzma and Noam: 516,470 votes, 10.84 percent, 14 seats, then split into RZ 7, Otzma 6, Noam 1. That list won 45 percent of national-religious voters (IDI, Jun 28, 2026) and 22 percent in settlements against about 11 percent nationally (Washington Institute, Nov 22, 2022). Finkelstein: Smotrich draws “mainstream Religious Zionists” (ToI, Apr 15, 2026). Smotrich refused a joint 2026 run with Ben-Gvir (JPost, Aug 13, 2026) and on Sep 1 formed a technical bloc with Moshe Feiglin's Zehut (JPost, Sep 1, 2026). Draft: the July 14, 2026 law banning arrests of Haredi draft evaders passed 58–54; most RZ MKs voted for it, Moshe Solomon against (ToI, Jul 14, 2026). Gaza: “return to the whole of Gaza in a big way”; West Bank: 103 new settlements approved in his tenure and a call to “abolish the Oslo Accords” (JPost, Aug 18, 2026). Religion and state: “Jewish identity in state institutions and education” (israel2026.co.il, date not recorded). Trial: Smotrich said Netanyahu “has been persecuted for years by a corrupt judicial system that fabricated political cases” (ToI, Nov 30, 2025). E1: “Every settlement… is another nail in the coffin of this dangerous idea” (ToI, Aug 20, 2025). Ten countries had sanctioned Smotrich by July 6, 2026 (MEMO). Seats: Maariv 5, Channel 13 7, Zman Yisrael 5, Kan 6, Channel 14 7. Sources differ on Zvi Sukkot's slot (6 or 7). Watch out: no 2026 Smotrich quote on “voluntary emigration” was found, and the Likud surplus deal's signing is unconfirmed.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Otzma Yehudit was founded Nov 13, 2012 (founders disputed). Israel Policy Forum describes it as the “ideological continuation” of Rabbi Meir Kahane's movement; Kach was barred in 1988 as “manifestly racist” and outlawed in 1994. On its own it won 1.76 percent in 2013, 1.88 in Sep 2019, 0.42 in 2020; 6 seats in 2022 on the joint list. Ben-Gvir has at least eight convictions, including 2007 incitement to racism and support for a terror organization. Finkelstein: Ben-Gvir draws “traditional Mizrahi voters from the periphery” (ToI, Apr 15, 2026). Draft: Haredi tracks in the police and Border Police, to “enter service as Haredi and leave it as Haredi” (Ynet platform, date not recorded). “Disengagement 710” (Sep 3, 2026): an emigration ministry, 250,000 departures a year, NIS 10 billion (JPost); “we are not forcing anyone to leave, but there is encouragement” (JTA, Sep 6, 2026). Temple Mount, Tisha B'Av: “Jews are praying and feel that they are the rightful owners of this place” (JPost, Jul 23, 2026). Trial: “I hope President Trump will put an end to this farce” (ToI, Jan 27, 2026). Coalition: a “fully right-wing government” (JPost, date not recorded). A Democrats–Zulat petition to disqualify Otzma failed in the Elections Committee on Sept 23, 19–10–1 (JPost, Sep 24, 2026). Prison video, to Hamas prisoner Hassan Salameh: “I want to kill you. I want to put you to death.” Justice Sohlberg ruled it misused public assets and ordered it removed with NIS 20,000 costs; Ben-Gvir called it “extremely puzzling” (JPost, Oct 3, 2026). Seats: Maariv 9, Channel 13 8, Zman Yisrael 6, Kan 7, Channel 14 7. Watch out: no 2026 economic platform and no surplus partner were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Ofer Winter retired from the IDF in May 2024 after being passed over for major general and turned down a Likud slot. He launched Amcha Yisrael on Aug 25, 2026 at Jerusalem's Shalva Center with about 300 people (Ynet, Aug 25, 2026). Winter refused Smotrich's merger despite pressure from rabbis (INN, Sep 7, 2026). Winter said the public wants “new people, those who were not part of the events that led us to October 7” (JPost, Sep 7, 2026). The party targets younger voters, reservists and disaffected right-wingers (JPost, Sep 17, 2026). Draft: “We will not join a government that does not pass, before it is formed, a law that puts an end to draft evasion… Full stop” (JPost, Sep 2, 2026). Gaza: “There is one solution in Gaza: migration.” Palestinian state: “There will never be a Palestinian state here” (both Ynet, Aug 25, 2026). Double combat pay: Ynet, Oct 4, 2026. On Netanyahu: “I don't work for Netanyahu” (JPost, Sep 17, 2026); he called him “a sucker” (ToI, Oct 4, 2026), yet recommends him. Coalition: reports conflict on whether Winter would sit with Bennett or Lieberman; he opposes Eisenkot at Defense (JPost, Sep 2 and Sep 17, 2026; Ynet, Oct 4, 2026). Yoseph Haddad, no. 2: “I want to work for Shfaram and Nazareth, not for Gaza and Jenin” and “I despise these people… I'm here to oust them from the Knesset”; the report does not specify whom he meant (JFeed, Sep 14, 2026). Seats: Maariv 4, Channel 13 5, Zman Yisrael 4, Kan 4, Channel 14 below threshold (1.6 percent). Watch out: no 2026 positions found on hostages, annexation, Netanyahu's trial, or religion and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Yashar! is Gadi Eisenkot's new party, founded Sep 16, 2025 with about 120 co-founders, two months after he resigned from the Knesset. The name comes from freed hostage Eli Sharabi, who said bringing the captives home was “not about right or left, but straight” (ToI, Sep 16, 2025). Eisenkot, born 1960 in Tiberias to Moroccan immigrants, was chief of staff 2015–19; his son Gal was killed in Gaza in December 2023.
Voters: the campaign aims at “Route 4” commuter suburbs (ToI, Jul 1, 2026) and former Likud voters (ToI, Sep 14, 2026). It has 16 percent of first-time voters, the largest share (N12/Midgam via JPost, Sep 23, 2026).
Draft: “National Service for All,” deferments capped at 3 percent of each cohort (Ynet, Sep 16, 2026), about 2,200 people (JPost, Sep 24, 2026). Courts: repeal the judicial-selection law, no override clause (Ynet, Sep 22, 2026). Gaza: opposes the Board of Peace framework as “leaving Hamas in power” (JPost, Aug 1, 2026). Religion and state: “a secular party, but not anti-religious” (JC, Oct 4, 2026).
Sources disagree on a Palestinian state: ToI (Sep 26, 2026) and JTA (Sep 9, 2026) say he opposes one; the JC (Oct 4, 2026) reports him calling the question “largely irrelevant.”
Coalition: any Zionist party that accepts his four principles. Eisenkot said Abbas “won't be part of my next government” (ToI, Sep 26, 2026); JTA on Sep 9 had said he had not ruled Ra'am out. Surplus deal with the Democrats signed Sep 10 (ToI).
Seats: Maariv 21, Channel 13 21, Zman Yisrael 21, Kan 23, Channel 14 21 (Oct 1).
Watch out: no position found on a Netanyahu pardon or on annexation.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B'Yachad, “Together – Led by Bennett,” is Naftali Bennett's list with Yair Lapid's Yesh Atid running inside it. The deal was announced Apr 26, 2026; Bennett is the candidate for prime minister and Lapid is no. 2 (ToI, Apr 26, 2026). It is not a formal merger.
Bennett was born in 1972 in Haifa to American immigrants, was prime minister June 2021 to June 2022.
Voters: in 2022 Yesh Atid won 847,435 votes, 17.79 percent, 24 seats; its voters were 78.5 percent secular (IDI, Jun 28, 2026). Polling fell from about 25 seats in May to roughly half (ToI, Sep 7, 2026).
Draft: service for all “without exemptions” (Ynet, Sep 16, 2026); “I am talking about 0 exemption” (Bennett, JPost, Aug 30, 2026). Gaza: “We must not budge a centimeter from the red line until Hamas is disarmed” (JPost, Aug 1, 2026). West Bank: “I'm a right-wing guy, I'm not changing my opinions. But I'm not a schmuck” (ToI, Jun 23, 2026). Economy: “We will cut food prices by 30% within three years” (party website be-yahad.org.il, date not recorded). Trial: Bennett would back a binding arrangement that includes “a respectful retirement from political life alongside the end of the trial” (ToI, Nov 30, 2025). He has pledged “full equality of rights” for the LGBTQ community (Ynet, Sep 14, 2026).
Seats: Maariv 13, Channel 13 11, Zman Yisrael 10, Kan 11, Channel 14 8 (Oct 1).
Sources disagree on annexation: a Haaretz headline (Jun 30, 2026) says Bennett is committed to it, while his June quotes back legal settlement and dismantling illegal outposts. Watch out: no 2026 position from B'Yachad on the hostages was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Democrats join Labor, founded in 1968 and the party of prime ministers Meir, Rabin and Peres, with Meretz, formed in 1992. Yair Golan won the Labor leadership on May 28, 2024; the merger was announced June 30, 2024 and ratified by members May 31, 2026. IDI calls it a partial merger.
Golan, born 1962 in Rishon LeZion, was deputy chief of staff 2014–17. On Oct 7 he went south on his own and rescued Nova survivors.
Voters: in 2022 Labor won 3.69 percent and 4 seats; Meretz 3.16 percent and no seats, its first time out. Together they took 16 percent of the secular vote, down from 19 (IDI).
Draft: universal service “within a national and equal framework” (Ynet, Sep 16, 2026); Golan also called mass Haredi conscription “impractical” (ToI, Aug 5, 2026). Gaza: “topple the Hamas regime” (IDI party page, date not recorded). Trial: “In our government, there will be zero criminal defendants. Zero” (JPost, Jul 21, 2026).
Arab parties: “an Arab party can be part of the government” (party statement on Kan, via ToI, Sep 27, 2026); the party says this is its platform, not the bloc's. Its later statement: “Jewish-Arab partnership in government is a positive thing. That is absolutely our future” (as reported by ToI, Oct 3, 2026; speaker not named). Lieberman replied Oct 3: “There will be no coalition with the Arab parties” (ToI liveblog, Oct 3, 2026).
Seats: Maariv 10, Channel 13 11, Zman Yisrael 8, Kan 9, Channel 14 9 (Oct 1).
Sources disagree on two states: Israel Policy Forum says Golan supports a two-state outcome; Golan told CSMonitor (Aug 12, 2026) the leap to two states now is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Yisrael Beiteinu was founded in 1999 for immigrants from the former Soviet Union and later drew right-wing secular voters too (IDI). In April 2019 Lieberman refused to join Netanyahu over the draft law, which set off five elections.
Lieberman was born in 1958 in Chișinău, immigrated in 1978, and has lived in Nokdim since 1988. He was defense minister 2016–18 and finance minister 2021–22.
Voters: among Russian-speakers, 23 percent back Yisrael Beiteinu and 17 percent Bennett (Lazar, n=663, JPost, Dec 10, 2025). In 2022 it won 213,687 votes, 4.48 percent, 6 seats. The seat counts since 2015 (6, 5, 8, 7, 7, 6) are our own tally of the results, not a quoted figure.
Draft: everyone at 18, “Jews, Muslims, Christians, Druze and Circassians,” with sanctions including travel bans (Ynet, Sep 16, 2026). Courts: a written constitution “put to the public in a national referendum” (Ynet, Sep 22, 2026). Gaza: the Board of Peace arrangements are “a capitulation to terror” (JPost, Aug 12, 2026). West Bank: “The Palestinian Authority must be dismantled” (JPost, Sep 28, 2026). Economy: “right-wing fiscal positions” (IDI party page, date not recorded). Trial: “You made a deal — a state in exchange for a pardon” (Ynet, Feb 23, 2026); in 2019 he backed a pardon if Netanyahu left politics. Slogan: “We are the Likud of yesteryear” (Ynet, Sep 27, 2026).
Seats: Maariv 9, Channel 13 9, Zman Yisrael 10, Kan 9, Channel 14 6 (Oct 1).
Sources disagree on the Palestinians: IsraelEd describes a two-state framework, while Lieberman calls for dismantling the PA and IDI cites his long-standing plan for population exchanges. Watch out: no Russian-speakers poll newer than December 2025 was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Yoaz Hendel founded the Reservists on Sept 18, 2025. He served in Shayetet 13, commanded reserve Battalion 8555 in the 2023 war, and was communications minister May–Dec 2020 and June 2021–22. An alliance with Chili Tropper was announced July 8, 2026; Tropper left for Yashar on Sep 6. The same day Hendel partnered with Yaron Zelekha's New Economic Party, which took 0.79 percent in 2021 and 0.29 percent, 13,920 votes, in 2022. The list was filed Sep 7 (C14, Sep 7, 2026). Hendel: “Those wanting government with ultra-Orthodox parties know who to vote for… We must provide the alternative” (Maariv, Sep 7, 2026). Platform: “Those who do not serve cannot vote or be elected to the Knesset” (Reservists party website, themiluimnikim.org.il, read Oct 4, 2026). On Gaza, Hendel earlier proposed moving about 1.5 million Gazans to “a tent city outside the Strip” (JPost, Aug 11, 2026); Wilf calls for “full perimeter control” and a “voluntary emigration directorate for Gaza” (Petek, date not recorded). Demands: universal-draft law, a state commission of inquiry, a national security ministry for Hendel. Seats: Maariv 4, Channel 13 below threshold, Zman Yisrael 5, Kan 4, Channel 14 1.2 percent (below). Petek counts it over the threshold in 4 of 10 polls as of Oct 2. Sources disagree on its bloc: IsraelEd says it would join a Netanyahu government; Times of Israel calls it non-aligned. Hendel said “Netanyahu is not my red line” (Aug 11; outlet not recorded) and later “whoever is responsible for October 7 needs to go home, and that includes Netanyahu” (JPost, Aug 23, 2026). Watch out: the surplus partner is unverified (IPF says Yisrael Beiteinu, which signed with B'Yachad).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Joint List first formed in 2015, uniting all four Arab-led parties; it won 13 seats then and peaked at 15 in 2020. Ra'am left before 2021. Hadash, Ta'al and Balad re-formed the list on Aug 19, 2026, without Ra'am (JPost, Aug 19, 2026). Jabareen on the deal: “We agreed on the Joint List because the interests of our people are greater than any disagreement” (outlet and date not recorded).
Yousef Jabareen, of Umm al-Fahm, is a constitutional-law scholar. He was elected Hadash chair on May 16, 2026, replacing Ayman Odeh (ToI, May 16, 2026).
Voters: in 2022, in Arab and Druze localities, Hadash–Ta'al took 28.8 percent and Balad 21.7 (IDI, Dec 25, 2022).
Positions: “End Gaza destruction and West Bank ethnic cleansing; stop Al-Aqsa incursions and settlement expansion” (New Arab, Sep 9, 2026); a Palestinian state alongside Israel (Jabareen, JPost).
Disqualification: on Sept 23 the Elections Committee barred the list 18–5, Ofer Cassif 19–5, and Sami Abu Shehadeh 30–4 (ToI; JPost). On Oct 2 the Supreme Court reinstated the list 9–0 and Cassif 7–2. Abu Shehadeh withdrew, saying of his Oct 8, 2023 article: “The article contains things that were wrong. I would not say them today” (JPost, Oct 2, 2026). A Kan poll on Sep 28 found 55 percent of Israelis supported disqualifying the list.
Seats: Maariv 7, Channel 13 9, Zman Yisrael 8, Kan 7, Channel 14 7 (Oct 1).
Sources differ on some vote counts (Al Jazeera has Cassif 18–5; Abu Shehadeh 30–4 or 31–4) and on slot order: Cassif is no. 6 per The New Arab (Sep 9, 2026). Watch out: no joint platform on the draft, courts, economy or Netanyahu's trial was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Ra'am was founded in 1996 as the political wing of the Southern Branch of the Islamic Movement. Sources date Ra'am's break from the Shura Council three ways: announced Dec 2025, membership opened Jan 2026, declared complete late Jul 2026 (ToI, Dec 7, 2025; MEF).
Abbas, born 1974 in Maghar, is a dentist and imam, chair since 2018. No. 2 is Yoav Segalovitz, 67, a Jewish former police commander, who joined on Aug 31; he joins the faction, not the party (JPost; ToI, Aug 31, 2026). Segalovitz: “I am going to an Arab party. They are not coming to me” (outlet not recorded).
Voters: in 2022 Ra'am won 4.07 percent and 5 seats, 35.2 percent of the Arab and Druze vote and 73.9 percent in the Negev (IDI, Dec 25, 2022).
Hamas: asked on Kan (Jul 28) whether Hamas is a terror group to be destroyed, Abbas said “I don't want to give you a straight answer… I have a straight answer; I just don't want to say it,” and called such questions “loyalty tests” (INN, Jul 28, 2026).
Jewish state: in an earlier statement (date not recorded) Abbas said “Israel was born as a Jewish state, and it will remain so.” On Sep 23 the attorney general told the Elections Committee his quotes “demonstrate that MK Mansour Abbas recognizes Israel's Jewish character” (ToI, Sep 23, 2026). The committee barred Ra'am 18–5; the Supreme Court reinstated it 9–0 on Oct 2.
Coalition: Eisenkot said Abbas “won't be part of my next government” (ToI, Sep 26, 2026).
Watch out: no positions found on the draft, courts, Netanyahu's trial or hostages.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opposition has pledged to govern without the Arab-led parties, so Arab seats are counted separately (Haaretz headline, Oct 1, 2026). Seat ranges are the low and high across the four polls on the next slide (Maariv, Channel 13, Zman Yisrael, Kan; Sep 28–Oct 2). Each bar is our own average over the polls that report that party; Kan gave no separate Shas or UTJ figure, so those bars average three polls. Channel 13 had the Reservists below the threshold, which we count as 0.
Netanyahu bloc. Likud: Netanyahu; Channel 14 alone has Likud at 30–32. Shas: Aryeh Deri. United Torah Judaism did not split but reshuffled: Yaakov Asher of Degel HaTorah heads the list, Goldknopf of Agudat Yisrael is no. 2, and Porush's new faction, Homat Torat Yisrael, has no. 4 (INN, Sep 8, 2026). Religious Zionism–Zehut: Smotrich with Moshe Feiglin. Otzma Yehudit: Ben-Gvir; the Kach line is Israel Policy Forum's description (120 Project, updated Sep 24, 2026). People of Israel: led by Ofer Winter, with Yoseph Haddad at no. 2 (JPost, Sep 7, 2026). Noam runs alone; no polling found.
Zionist opposition. Yashar!: Gadi Eisenkot, former chief of staff, leads or ties in every poll except Channel 14's. B'Yachad: Bennett's list, with Lapid's Yesh Atid inside it since April (JPost, Apr 26, 2026). The Democrats: Labor and Meretz under Yair Golan. Yisrael Beiteinu: Lieberman; secular, and the Haredi draft is its signature issue. Blue and White: Gantz, below the threshold.
Reservists–Economic Party: IsraelEd says it would join Netanyahu; IPF calls it a third bloc; ToI, non-aligned. Arab-led: the Joint List, re-formed Aug 19 under Yousef Jabareen, won't join Netanyahu (ToI, Aug 19, 2026); Ra'am under Mansour Abbas polls 5 everywhere; in 2021 it became the first independent Arab party in a coalition (Wikipedia). Its no. 2 is Yoav Segalovitz, a Jewish former police commander who joined on Aug 31 (JPost; ToI, Aug 31,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recent polls side by side. Maariv, by Lazar: fieldwork Sep 30–Oct 1, published Oct 2 (Jerusalem Post). Channel 13: published Oct 1, sample of 1,013 (Times of Israel live blog). Zman Yisrael, by Tatika: Oct 1, sample of 500, margin of error 4.4 points. Kan 11: Sep 28 (Jerusalem Post). Kan did not give Shas and UTJ separately; by our arithmetic they total 14 together, and Kan's Arab-led total of 12 is our sum of its two lists. Kan also asked who should be prime minister: Netanyahu 39 percent, Eisenkot 38. Channel 12 (Midgam, Sep 22) had the government bloc at 50 (MEF poll of polls).
Channel 14 is the outlier: Likud 32 and the bloc 63 on Sep 27 (Channel 14 via The Media Line, Sep 27), and Likud 31, bloc 64, on Sep 17.
Worth noticing: in none of these four polls does either bloc reach 61.
Samples are small, 500 to about 1,000 people; Zman Yisrael gives its margin of error as 4.4 points. The threshold is a cliff: a list just under 3.25 percent gets nothing, and one just over it gets roughly four seats (our arithmetic: 3.25% × 120 ≈ 3.9).
Thirty-eight lists filed by the deadline. The best-supported date is Tuesday, Sep 8, at 10 pm, though it was reported as Sep 7, 8 or 9. The Central Elections Committee approved 38 lists (Ynet, Sep 27,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stories since mid-September.
First, the attempt to bar the Arab-led lists. On Sep 23 the Central Elections Committee voted to disqualify Ra'am and the Joint List, each 18 to 5, and two candidates: Ofer Cassif 19 to 5 and Sami Abu Shehadeh 30 to 4 (Times of Israel; Jerusalem Post; reported Sep 24 by Al Jazeera). This is the rule from the start of tonight: a list can be barred for denying Israel as a Jewish and democratic state, inciting racism, or supporting armed struggle, but the Supreme Court must confirm. The Court heard the case on Thursday, Oct 1, and ruled on Friday, Oct 2: both lists reinstated 9 to 0, Cassif 7 to 2. Abu Shehadeh withdrew after the hearing; the judges called his remarks "painful, outrageous and nauseating" (Jerusalem Post, Oct 2; Al Jazeera, Oct 2, 2026). Some sources give slightly different counts (Al Jazeera has Cassif 18 to 5; Abu Shehadeh is also reported as 31 to 4).
Second, Benny Gantz. Blue and White is down to three MKs after defections and below the threshold in every poll. Gantz has said he will leave the race in the last week if it is still under (Times of Israel, Sep 20, 2026). Watch for that decision in the week before the vote.
Third, the expatriate vote. Israelis abroad have no absentee vote; only diplomats and official emissaries, including Jewish Agency shlichim, plus ships' crews, vote abroad (IDI, Kenig and Plesner, Feb 18, 2020; Wikipedia). CNN reported on Sep 19, 2026 that Likud is trying to block a campaign to fly Israelis living abroad home to vote. I have only the headline, so I can't say who is behind the campaign or how many people it involves.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for discussion. The question is open on purpose: what do you think this election is about?
Let people answer in a sentence or two, and write every answer down; on Zoom the chat works well for this, and you can read some aloud. Some will say Netanyahu himself. Some will say the war and October 7, the hostages, the Haredi draft, the courts, or the cost of living. Some may notice what seems to be missing from the campaign. Try not to correct anyone tonight. The point is to record what this room expects, before the votes are in.
We will come back to this list on election night, October 27, and see how it compares with what Israelis actually voted on.
Next week, October 13: how we got here, from 1977 to 2026, and what is and isn't on the ballot. There is no class on October 20.
If anyone wants the sources behind tonight's numbers, every slide's notes carry them, and the course materials can be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sefaria.org/Berakhot.58a.3"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53D"/>
        </a:solidFill>
      </p:bgPr>
    </p:bg>
    <p:spTree>
      <p:nvGrpSpPr>
        <p:cNvPr id="1" name=""/>
        <p:cNvGrpSpPr/>
        <p:nvPr/>
      </p:nvGrpSpPr>
      <p:grpSpPr>
        <a:xfrm>
          <a:off x="0" y="0"/>
          <a:ext cx="0" cy="0"/>
          <a:chOff x="0" y="0"/>
          <a:chExt cx="0" cy="0"/>
        </a:xfrm>
      </p:grpSpPr>
      <p:sp>
        <p:nvSpPr>
          <p:cNvPr id="2" name="text-1"/>
          <p:cNvSpPr txBox="1"/>
          <p:nvPr/>
        </p:nvSpPr>
        <p:spPr>
          <a:xfrm>
            <a:off x="812800" y="812800"/>
            <a:ext cx="10762996" cy="205680"/>
          </a:xfrm>
          <a:prstGeom prst="rect">
            <a:avLst/>
          </a:prstGeom>
          <a:noFill/>
          <a:ln/>
        </p:spPr>
        <p:txBody>
          <a:bodyPr wrap="square" lIns="0" tIns="0" rIns="0" bIns="0" rtlCol="0" anchor="t"/>
          <a:lstStyle/>
          <a:p>
            <a:pPr algn="l" indent="0" marL="0">
              <a:lnSpc>
                <a:spcPts val="1620"/>
              </a:lnSpc>
              <a:buNone/>
            </a:pPr>
            <a:r>
              <a:rPr lang="en-US" sz="1200" b="1" spc="150" kern="0" dirty="0">
                <a:solidFill>
                  <a:srgbClr val="E2AD6E"/>
                </a:solidFill>
                <a:latin typeface="Public Sans" pitchFamily="34" charset="0"/>
                <a:ea typeface="Public Sans" pitchFamily="34" charset="-122"/>
                <a:cs typeface="Public Sans" pitchFamily="34" charset="-120"/>
              </a:rPr>
              <a:t>A COURSE ON THE 2026 ISRAELI ELECTION</a:t>
            </a:r>
            <a:endParaRPr lang="en-US" sz="1200" dirty="0"/>
          </a:p>
        </p:txBody>
      </p:sp>
      <p:sp>
        <p:nvSpPr>
          <p:cNvPr id="3" name="text-2"/>
          <p:cNvSpPr txBox="1"/>
          <p:nvPr/>
        </p:nvSpPr>
        <p:spPr>
          <a:xfrm>
            <a:off x="812800" y="2461915"/>
            <a:ext cx="10762996" cy="670520"/>
          </a:xfrm>
          <a:prstGeom prst="rect">
            <a:avLst/>
          </a:prstGeom>
          <a:noFill/>
          <a:ln/>
        </p:spPr>
        <p:txBody>
          <a:bodyPr wrap="square" lIns="0" tIns="0" rIns="0" bIns="0" rtlCol="0" anchor="t"/>
          <a:lstStyle/>
          <a:p>
            <a:pPr algn="l" indent="0" marL="0">
              <a:lnSpc>
                <a:spcPts val="5280"/>
              </a:lnSpc>
              <a:buNone/>
            </a:pPr>
            <a:r>
              <a:rPr lang="en-US" sz="4800" dirty="0">
                <a:solidFill>
                  <a:srgbClr val="F4EFE4"/>
                </a:solidFill>
                <a:latin typeface="Libre Baskerville" pitchFamily="34" charset="0"/>
                <a:ea typeface="Libre Baskerville" pitchFamily="34" charset="-122"/>
                <a:cs typeface="Libre Baskerville" pitchFamily="34" charset="-120"/>
              </a:rPr>
              <a:t>Israel Votes</a:t>
            </a:r>
            <a:endParaRPr lang="en-US" sz="4800" dirty="0"/>
          </a:p>
        </p:txBody>
      </p:sp>
      <p:sp>
        <p:nvSpPr>
          <p:cNvPr id="4" name="text-3"/>
          <p:cNvSpPr txBox="1"/>
          <p:nvPr/>
        </p:nvSpPr>
        <p:spPr>
          <a:xfrm>
            <a:off x="812800" y="3335635"/>
            <a:ext cx="10762996" cy="297160"/>
          </a:xfrm>
          <a:prstGeom prst="rect">
            <a:avLst/>
          </a:prstGeom>
          <a:noFill/>
          <a:ln/>
        </p:spPr>
        <p:txBody>
          <a:bodyPr wrap="square" lIns="0" tIns="0" rIns="0" bIns="0" rtlCol="0" anchor="t"/>
          <a:lstStyle/>
          <a:p>
            <a:pPr algn="l" indent="0" marL="0">
              <a:lnSpc>
                <a:spcPts val="2340"/>
              </a:lnSpc>
              <a:buNone/>
            </a:pPr>
            <a:r>
              <a:rPr lang="en-US" sz="1800" i="1" dirty="0">
                <a:solidFill>
                  <a:srgbClr val="F4EFE4"/>
                </a:solidFill>
                <a:latin typeface="Libre Baskerville" pitchFamily="34" charset="0"/>
                <a:ea typeface="Libre Baskerville" pitchFamily="34" charset="-122"/>
                <a:cs typeface="Libre Baskerville" pitchFamily="34" charset="-120"/>
              </a:rPr>
              <a:t>Parties, Tribes, and the 2026 Election</a:t>
            </a:r>
            <a:endParaRPr lang="en-US" sz="1800" dirty="0"/>
          </a:p>
        </p:txBody>
      </p:sp>
      <p:sp>
        <p:nvSpPr>
          <p:cNvPr id="5" name="shape-4"/>
          <p:cNvSpPr/>
          <p:nvPr/>
        </p:nvSpPr>
        <p:spPr>
          <a:xfrm>
            <a:off x="812800" y="3835995"/>
            <a:ext cx="1016000" cy="25400"/>
          </a:xfrm>
          <a:prstGeom prst="rect">
            <a:avLst/>
          </a:prstGeom>
          <a:solidFill>
            <a:srgbClr val="E2AD6E"/>
          </a:solidFill>
          <a:ln/>
        </p:spPr>
      </p:sp>
      <p:sp>
        <p:nvSpPr>
          <p:cNvPr id="6" name="text-5"/>
          <p:cNvSpPr txBox="1"/>
          <p:nvPr/>
        </p:nvSpPr>
        <p:spPr>
          <a:xfrm>
            <a:off x="812800" y="4064595"/>
            <a:ext cx="10762996" cy="297160"/>
          </a:xfrm>
          <a:prstGeom prst="rect">
            <a:avLst/>
          </a:prstGeom>
          <a:noFill/>
          <a:ln/>
        </p:spPr>
        <p:txBody>
          <a:bodyPr wrap="square" lIns="0" tIns="0" rIns="0" bIns="0" rtlCol="0" anchor="t"/>
          <a:lstStyle/>
          <a:p>
            <a:pPr algn="l" indent="0" marL="0">
              <a:lnSpc>
                <a:spcPts val="2340"/>
              </a:lnSpc>
              <a:buNone/>
            </a:pPr>
            <a:r>
              <a:rPr lang="en-US" sz="1800" dirty="0">
                <a:solidFill>
                  <a:srgbClr val="F4EFE4"/>
                </a:solidFill>
                <a:latin typeface="Public Sans" pitchFamily="34" charset="0"/>
                <a:ea typeface="Public Sans" pitchFamily="34" charset="-122"/>
                <a:cs typeface="Public Sans" pitchFamily="34" charset="-120"/>
              </a:rPr>
              <a:t>Session 1 — The System, the Tribes, and the Map</a:t>
            </a:r>
            <a:endParaRPr lang="en-US" sz="1800" dirty="0"/>
          </a:p>
        </p:txBody>
      </p:sp>
      <p:sp>
        <p:nvSpPr>
          <p:cNvPr id="7" name="text-6"/>
          <p:cNvSpPr txBox="1"/>
          <p:nvPr/>
        </p:nvSpPr>
        <p:spPr>
          <a:xfrm>
            <a:off x="812800" y="5805190"/>
            <a:ext cx="10762996" cy="240010"/>
          </a:xfrm>
          <a:prstGeom prst="rect">
            <a:avLst/>
          </a:prstGeom>
          <a:noFill/>
          <a:ln/>
        </p:spPr>
        <p:txBody>
          <a:bodyPr wrap="square" lIns="0" tIns="0" rIns="0" bIns="0" rtlCol="0" anchor="t"/>
          <a:lstStyle/>
          <a:p>
            <a:pPr algn="l" indent="0" marL="0">
              <a:lnSpc>
                <a:spcPts val="1890"/>
              </a:lnSpc>
              <a:buNone/>
            </a:pPr>
            <a:r>
              <a:rPr lang="en-US" sz="1400" dirty="0">
                <a:solidFill>
                  <a:srgbClr val="C9D1DC"/>
                </a:solidFill>
                <a:latin typeface="Public Sans" pitchFamily="34" charset="0"/>
                <a:ea typeface="Public Sans" pitchFamily="34" charset="-122"/>
                <a:cs typeface="Public Sans" pitchFamily="34" charset="-120"/>
              </a:rPr>
              <a:t>October 6, 2026 · 21 days to the vote · Rabbi Daniel Bogard · israelielection.org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5253D"/>
        </a:solidFill>
      </p:bgPr>
    </p:bg>
    <p:spTree>
      <p:nvGrpSpPr>
        <p:cNvPr id="1" name=""/>
        <p:cNvGrpSpPr/>
        <p:nvPr/>
      </p:nvGrpSpPr>
      <p:grpSpPr>
        <a:xfrm>
          <a:off x="0" y="0"/>
          <a:ext cx="0" cy="0"/>
          <a:chOff x="0" y="0"/>
          <a:chExt cx="0" cy="0"/>
        </a:xfrm>
      </p:grpSpPr>
      <p:sp>
        <p:nvSpPr>
          <p:cNvPr id="2" name="text-7"/>
          <p:cNvSpPr txBox="1"/>
          <p:nvPr/>
        </p:nvSpPr>
        <p:spPr>
          <a:xfrm>
            <a:off x="812800" y="812800"/>
            <a:ext cx="10762996" cy="446980"/>
          </a:xfrm>
          <a:prstGeom prst="rect">
            <a:avLst/>
          </a:prstGeom>
          <a:noFill/>
          <a:ln/>
        </p:spPr>
        <p:txBody>
          <a:bodyPr wrap="square" lIns="0" tIns="0" rIns="0" bIns="0" rtlCol="0" anchor="t"/>
          <a:lstStyle/>
          <a:p>
            <a:pPr algn="l" indent="0" marL="0">
              <a:lnSpc>
                <a:spcPts val="3520"/>
              </a:lnSpc>
              <a:buNone/>
            </a:pPr>
            <a:r>
              <a:rPr lang="en-US" sz="3200" dirty="0">
                <a:solidFill>
                  <a:srgbClr val="F4EFE4"/>
                </a:solidFill>
                <a:latin typeface="Libre Baskerville" pitchFamily="34" charset="0"/>
                <a:ea typeface="Libre Baskerville" pitchFamily="34" charset="-122"/>
                <a:cs typeface="Libre Baskerville" pitchFamily="34" charset="-120"/>
              </a:rPr>
              <a:t>A blessing over a crowd</a:t>
            </a:r>
            <a:endParaRPr lang="en-US" sz="3200" dirty="0"/>
          </a:p>
        </p:txBody>
      </p:sp>
      <p:sp>
        <p:nvSpPr>
          <p:cNvPr id="3" name="rule-9"/>
          <p:cNvSpPr/>
          <p:nvPr/>
        </p:nvSpPr>
        <p:spPr>
          <a:xfrm>
            <a:off x="812800" y="1513780"/>
            <a:ext cx="38100" cy="2311400"/>
          </a:xfrm>
          <a:prstGeom prst="rect">
            <a:avLst/>
          </a:prstGeom>
          <a:solidFill>
            <a:srgbClr val="E2AD6E"/>
          </a:solidFill>
          <a:ln/>
        </p:spPr>
      </p:sp>
      <p:sp>
        <p:nvSpPr>
          <p:cNvPr id="4" name="text-10"/>
          <p:cNvSpPr txBox="1"/>
          <p:nvPr/>
        </p:nvSpPr>
        <p:spPr>
          <a:xfrm>
            <a:off x="1155700" y="1564580"/>
            <a:ext cx="10414953" cy="1028700"/>
          </a:xfrm>
          <a:prstGeom prst="rect">
            <a:avLst/>
          </a:prstGeom>
          <a:noFill/>
          <a:ln/>
        </p:spPr>
        <p:txBody>
          <a:bodyPr wrap="square" lIns="0" tIns="0" rIns="0" bIns="0" rtlCol="0" anchor="t"/>
          <a:lstStyle/>
          <a:p>
            <a:pPr algn="l" indent="0" marL="0">
              <a:lnSpc>
                <a:spcPts val="2700"/>
              </a:lnSpc>
              <a:buNone/>
            </a:pPr>
            <a:r>
              <a:rPr lang="en-US" sz="1800" i="1" dirty="0">
                <a:solidFill>
                  <a:srgbClr val="F4EFE4"/>
                </a:solidFill>
                <a:latin typeface="Libre Baskerville" pitchFamily="34" charset="0"/>
                <a:ea typeface="Libre Baskerville" pitchFamily="34" charset="-122"/>
                <a:cs typeface="Libre Baskerville" pitchFamily="34" charset="-120"/>
              </a:rPr>
              <a:t>The Sages taught in a Tosefta: One who sees multitudes of Israel recites: Blessed…Who knows all secrets. Why is this? He sees a whole nation </a:t>
            </a:r>
            <a:pPr algn="l" indent="0" marL="0">
              <a:lnSpc>
                <a:spcPts val="2700"/>
              </a:lnSpc>
              <a:buNone/>
            </a:pPr>
            <a:r>
              <a:rPr lang="en-US" sz="1800" i="1" dirty="0">
                <a:solidFill>
                  <a:srgbClr val="E2AD6E"/>
                </a:solidFill>
                <a:latin typeface="Libre Baskerville" pitchFamily="34" charset="0"/>
                <a:ea typeface="Libre Baskerville" pitchFamily="34" charset="-122"/>
                <a:cs typeface="Libre Baskerville" pitchFamily="34" charset="-120"/>
              </a:rPr>
              <a:t>whose minds are unlike each other and whose faces are unlike each other</a:t>
            </a:r>
            <a:pPr algn="l" indent="0" marL="0">
              <a:lnSpc>
                <a:spcPts val="2700"/>
              </a:lnSpc>
              <a:buNone/>
            </a:pPr>
            <a:r>
              <a:rPr lang="en-US" sz="1800" i="1" dirty="0">
                <a:solidFill>
                  <a:srgbClr val="F4EFE4"/>
                </a:solidFill>
                <a:latin typeface="Libre Baskerville" pitchFamily="34" charset="0"/>
                <a:ea typeface="Libre Baskerville" pitchFamily="34" charset="-122"/>
                <a:cs typeface="Libre Baskerville" pitchFamily="34" charset="-120"/>
              </a:rPr>
              <a:t>, and He Who knows all secrets, God, knows what is in each of their hearts.</a:t>
            </a:r>
            <a:endParaRPr lang="en-US" sz="1800" dirty="0"/>
          </a:p>
        </p:txBody>
      </p:sp>
      <p:sp>
        <p:nvSpPr>
          <p:cNvPr id="5" name="text-11"/>
          <p:cNvSpPr txBox="1"/>
          <p:nvPr/>
        </p:nvSpPr>
        <p:spPr>
          <a:xfrm>
            <a:off x="1155700" y="2745680"/>
            <a:ext cx="10414953" cy="1028700"/>
          </a:xfrm>
          <a:prstGeom prst="rect">
            <a:avLst/>
          </a:prstGeom>
          <a:noFill/>
          <a:ln/>
        </p:spPr>
        <p:txBody>
          <a:bodyPr wrap="square" lIns="0" tIns="0" rIns="0" bIns="0" rtlCol="0" anchor="t"/>
          <a:lstStyle/>
          <a:p>
            <a:pPr algn="l" indent="0" marL="0">
              <a:lnSpc>
                <a:spcPts val="2700"/>
              </a:lnSpc>
              <a:buNone/>
            </a:pPr>
            <a:r>
              <a:rPr lang="en-US" sz="1800" i="1" dirty="0">
                <a:solidFill>
                  <a:srgbClr val="F4EFE4"/>
                </a:solidFill>
                <a:latin typeface="Libre Baskerville" pitchFamily="34" charset="0"/>
                <a:ea typeface="Libre Baskerville" pitchFamily="34" charset="-122"/>
                <a:cs typeface="Libre Baskerville" pitchFamily="34" charset="-120"/>
              </a:rPr>
              <a:t>Ben Zoma once saw a multitude of Israel while standing on a stair on the Temple Mount. He immediately recited: Blessed…Who knows all secrets and Blessed…Who created all these to serve me.</a:t>
            </a:r>
            <a:endParaRPr lang="en-US" sz="1800" dirty="0"/>
          </a:p>
        </p:txBody>
      </p:sp>
      <p:sp>
        <p:nvSpPr>
          <p:cNvPr id="6" name="text-12"/>
          <p:cNvSpPr txBox="1"/>
          <p:nvPr/>
        </p:nvSpPr>
        <p:spPr>
          <a:xfrm>
            <a:off x="812800" y="4079180"/>
            <a:ext cx="10762996" cy="240010"/>
          </a:xfrm>
          <a:prstGeom prst="rect">
            <a:avLst/>
          </a:prstGeom>
          <a:noFill/>
          <a:ln/>
        </p:spPr>
        <p:txBody>
          <a:bodyPr wrap="square" lIns="0" tIns="0" rIns="0" bIns="0" rtlCol="0" anchor="t"/>
          <a:lstStyle/>
          <a:p>
            <a:pPr algn="l" indent="0" marL="0">
              <a:lnSpc>
                <a:spcPts val="1890"/>
              </a:lnSpc>
              <a:buNone/>
            </a:pPr>
            <a:r>
              <a:rPr lang="en-US" sz="1400" dirty="0">
                <a:solidFill>
                  <a:srgbClr val="C9D1DC"/>
                </a:solidFill>
                <a:latin typeface="Public Sans" pitchFamily="34" charset="0"/>
                <a:ea typeface="Public Sans" pitchFamily="34" charset="-122"/>
                <a:cs typeface="Public Sans" pitchFamily="34" charset="-120"/>
              </a:rPr>
              <a:t>Babylonian Talmud, Berakhot 58a · William Davidson translation</a:t>
            </a:r>
            <a:endParaRPr lang="en-US" sz="1400" dirty="0"/>
          </a:p>
        </p:txBody>
      </p:sp>
      <p:sp>
        <p:nvSpPr>
          <p:cNvPr id="7" name="text-13"/>
          <p:cNvSpPr txBox="1"/>
          <p:nvPr/>
        </p:nvSpPr>
        <p:spPr>
          <a:xfrm>
            <a:off x="812800" y="6253559"/>
            <a:ext cx="10762996" cy="198041"/>
          </a:xfrm>
          <a:prstGeom prst="rect">
            <a:avLst/>
          </a:prstGeom>
          <a:noFill/>
          <a:ln/>
        </p:spPr>
        <p:txBody>
          <a:bodyPr wrap="square" lIns="0" tIns="0" rIns="0" bIns="0" rtlCol="0" anchor="t"/>
          <a:lstStyle/>
          <a:p>
            <a:pPr algn="l" indent="0" marL="0">
              <a:lnSpc>
                <a:spcPts val="1560"/>
              </a:lnSpc>
              <a:buNone/>
            </a:pPr>
            <a:r>
              <a:rPr lang="en-US" sz="1200" dirty="0">
                <a:solidFill>
                  <a:srgbClr val="C9D1DC"/>
                </a:solidFill>
                <a:latin typeface="Public Sans" pitchFamily="34" charset="0"/>
                <a:ea typeface="Public Sans" pitchFamily="34" charset="-122"/>
                <a:cs typeface="Public Sans" pitchFamily="34" charset="-120"/>
              </a:rPr>
              <a:t>Text: </a:t>
            </a:r>
            <a:pPr algn="l" indent="0" marL="0">
              <a:lnSpc>
                <a:spcPts val="1560"/>
              </a:lnSpc>
              <a:buNone/>
            </a:pPr>
            <a:r>
              <a:rPr lang="en-US" sz="1200" u="sng" dirty="0">
                <a:solidFill>
                  <a:srgbClr val="C9D1DC"/>
                </a:solidFill>
                <a:latin typeface="Public Sans" pitchFamily="34" charset="0"/>
                <a:ea typeface="Public Sans" pitchFamily="34" charset="-122"/>
                <a:cs typeface="Public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sefaria.org/Berakhot.58a.3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FE4"/>
        </a:solidFill>
      </p:bgPr>
    </p:bg>
    <p:spTree>
      <p:nvGrpSpPr>
        <p:cNvPr id="1" name=""/>
        <p:cNvGrpSpPr/>
        <p:nvPr/>
      </p:nvGrpSpPr>
      <p:grpSpPr>
        <a:xfrm>
          <a:off x="0" y="0"/>
          <a:ext cx="0" cy="0"/>
          <a:chOff x="0" y="0"/>
          <a:chExt cx="0" cy="0"/>
        </a:xfrm>
      </p:grpSpPr>
      <p:sp>
        <p:nvSpPr>
          <p:cNvPr id="2" name="text-14"/>
          <p:cNvSpPr txBox="1"/>
          <p:nvPr/>
        </p:nvSpPr>
        <p:spPr>
          <a:xfrm>
            <a:off x="812800" y="812800"/>
            <a:ext cx="10762996"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The ten weeks</a:t>
            </a:r>
            <a:endParaRPr lang="en-US" sz="3200" dirty="0"/>
          </a:p>
        </p:txBody>
      </p:sp>
      <p:sp>
        <p:nvSpPr>
          <p:cNvPr id="3" name="text-15"/>
          <p:cNvSpPr txBox="1"/>
          <p:nvPr/>
        </p:nvSpPr>
        <p:spPr>
          <a:xfrm>
            <a:off x="812800" y="1513780"/>
            <a:ext cx="5297424" cy="274241"/>
          </a:xfrm>
          <a:prstGeom prst="rect">
            <a:avLst/>
          </a:prstGeom>
          <a:noFill/>
          <a:ln/>
        </p:spPr>
        <p:txBody>
          <a:bodyPr wrap="square" lIns="0" tIns="0" rIns="0" bIns="0" rtlCol="0" anchor="t"/>
          <a:lstStyle/>
          <a:p>
            <a:pPr algn="l" indent="0" marL="0">
              <a:lnSpc>
                <a:spcPts val="2160"/>
              </a:lnSpc>
              <a:buNone/>
            </a:pPr>
            <a:r>
              <a:rPr lang="en-US" sz="1800" dirty="0">
                <a:solidFill>
                  <a:srgbClr val="9A541A"/>
                </a:solidFill>
                <a:latin typeface="Libre Baskerville" pitchFamily="34" charset="0"/>
                <a:ea typeface="Libre Baskerville" pitchFamily="34" charset="-122"/>
                <a:cs typeface="Libre Baskerville" pitchFamily="34" charset="-120"/>
              </a:rPr>
              <a:t>Part one · Before the vote</a:t>
            </a:r>
            <a:endParaRPr lang="en-US" sz="1800" dirty="0"/>
          </a:p>
        </p:txBody>
      </p:sp>
      <p:graphicFrame>
        <p:nvGraphicFramePr>
          <p:cNvPr id="4" name="table-16"/>
          <p:cNvGraphicFramePr>
            <a:graphicFrameLocks noGrp="1"/>
          </p:cNvGraphicFramePr>
          <p:nvPr>
            <p:extLst>
              <p:ext uri="{D42A27DB-BD31-4B8C-83A1-F6EECF244321}">
                <p14:modId xmlns:p14="http://schemas.microsoft.com/office/powerpoint/2010/main" val="1579011935"/>
              </p:ext>
            </p:extLst>
          </p:nvPr>
        </p:nvGraphicFramePr>
        <p:xfrm>
          <a:off x="812800" y="1889621"/>
          <a:ext cx="5181600" cy="914400"/>
        </p:xfrm>
        <a:graphic>
          <a:graphicData uri="http://schemas.openxmlformats.org/drawingml/2006/table">
            <a:tbl>
              <a:tblPr/>
              <a:tblGrid>
                <a:gridCol w="1035050"/>
                <a:gridCol w="4140200"/>
              </a:tblGrid>
              <a:tr h="370780">
                <a:tc>
                  <a:txBody>
                    <a:bodyPr/>
                    <a:lstStyle/>
                    <a:p>
                      <a:pPr algn="l" indent="0" marL="0">
                        <a:lnSpc>
                          <a:spcPts val="1890"/>
                        </a:lnSpc>
                        <a:buNone/>
                      </a:pPr>
                      <a:r>
                        <a:rPr lang="en-US" sz="1400" b="1" dirty="0">
                          <a:solidFill>
                            <a:srgbClr val="F4EFE4"/>
                          </a:solidFill>
                          <a:latin typeface="Public Sans" pitchFamily="34" charset="0"/>
                          <a:ea typeface="Public Sans" pitchFamily="34" charset="-122"/>
                          <a:cs typeface="Public Sans" pitchFamily="34" charset="-120"/>
                        </a:rPr>
                        <a:t>Date</a:t>
                      </a:r>
                      <a:endParaRPr lang="en-US" sz="1400" dirty="0">
                        <a:latin typeface="Public Sans" charset="0"/>
                        <a:ea typeface="Public Sans" charset="0"/>
                        <a:cs typeface="Public Sans" charset="0"/>
                      </a:endParaRPr>
                    </a:p>
                  </a:txBody>
                  <a:tcPr marL="106680" marR="106680" marT="62230" marB="6223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c>
                  <a:txBody>
                    <a:bodyPr/>
                    <a:lstStyle/>
                    <a:p>
                      <a:pPr algn="l" indent="0" marL="0">
                        <a:lnSpc>
                          <a:spcPts val="1890"/>
                        </a:lnSpc>
                        <a:buNone/>
                      </a:pPr>
                      <a:r>
                        <a:rPr lang="en-US" sz="1400" b="1" dirty="0">
                          <a:solidFill>
                            <a:srgbClr val="F4EFE4"/>
                          </a:solidFill>
                          <a:latin typeface="Public Sans" pitchFamily="34" charset="0"/>
                          <a:ea typeface="Public Sans" pitchFamily="34" charset="-122"/>
                          <a:cs typeface="Public Sans" pitchFamily="34" charset="-120"/>
                        </a:rPr>
                        <a:t>Topic</a:t>
                      </a:r>
                      <a:endParaRPr lang="en-US" sz="1400" dirty="0">
                        <a:latin typeface="Public Sans" charset="0"/>
                        <a:ea typeface="Public Sans" charset="0"/>
                        <a:cs typeface="Public Sans" charset="0"/>
                      </a:endParaRPr>
                    </a:p>
                  </a:txBody>
                  <a:tcPr marL="106680" marR="106680" marT="62230" marB="6223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r>
              <a:tr h="370780">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Oct 6</a:t>
                      </a:r>
                      <a:endParaRPr lang="en-US" sz="1400" dirty="0">
                        <a:latin typeface="Public Sans" charset="0"/>
                        <a:ea typeface="Public Sans" charset="0"/>
                        <a:cs typeface="Public Sans" charset="0"/>
                      </a:endParaRPr>
                    </a:p>
                  </a:txBody>
                  <a:tcPr marL="106680" marR="106680" marT="62230" marB="6223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The system, the tribes, and the map (tonight)</a:t>
                      </a:r>
                      <a:endParaRPr lang="en-US" sz="1400" dirty="0">
                        <a:latin typeface="Public Sans" charset="0"/>
                        <a:ea typeface="Public Sans" charset="0"/>
                        <a:cs typeface="Public Sans" charset="0"/>
                      </a:endParaRPr>
                    </a:p>
                  </a:txBody>
                  <a:tcPr marL="106680" marR="106680" marT="62230" marB="6223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r>
              <a:tr h="610791">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Oct 13</a:t>
                      </a:r>
                      <a:endParaRPr lang="en-US" sz="1400" dirty="0">
                        <a:latin typeface="Public Sans" charset="0"/>
                        <a:ea typeface="Public Sans" charset="0"/>
                        <a:cs typeface="Public Sans" charset="0"/>
                      </a:endParaRPr>
                    </a:p>
                  </a:txBody>
                  <a:tcPr marL="106680" marR="106680" marT="62230" marB="6223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How we got here, 1977–2026, and what is (and isn't) on the ballot</a:t>
                      </a:r>
                      <a:endParaRPr lang="en-US" sz="1400" dirty="0">
                        <a:latin typeface="Public Sans" charset="0"/>
                        <a:ea typeface="Public Sans" charset="0"/>
                        <a:cs typeface="Public Sans" charset="0"/>
                      </a:endParaRPr>
                    </a:p>
                  </a:txBody>
                  <a:tcPr marL="106680" marR="106680" marT="62230" marB="6223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70780">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Oct 20</a:t>
                      </a:r>
                      <a:endParaRPr lang="en-US" sz="1400" dirty="0">
                        <a:latin typeface="Public Sans" charset="0"/>
                        <a:ea typeface="Public Sans" charset="0"/>
                        <a:cs typeface="Public Sans" charset="0"/>
                      </a:endParaRPr>
                    </a:p>
                  </a:txBody>
                  <a:tcPr marL="106680" marR="106680" marT="62230" marB="6223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No class</a:t>
                      </a:r>
                      <a:endParaRPr lang="en-US" sz="1400" dirty="0">
                        <a:latin typeface="Public Sans" charset="0"/>
                        <a:ea typeface="Public Sans" charset="0"/>
                        <a:cs typeface="Public Sans" charset="0"/>
                      </a:endParaRPr>
                    </a:p>
                  </a:txBody>
                  <a:tcPr marL="106680" marR="106680" marT="62230" marB="6223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70780">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Oct 27</a:t>
                      </a:r>
                      <a:endParaRPr lang="en-US" sz="1400" dirty="0">
                        <a:latin typeface="Public Sans" charset="0"/>
                        <a:ea typeface="Public Sans" charset="0"/>
                        <a:cs typeface="Public Sans" charset="0"/>
                      </a:endParaRPr>
                    </a:p>
                  </a:txBody>
                  <a:tcPr marL="106680" marR="106680" marT="62230" marB="6223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8D5CF"/>
                      </a:solidFill>
                      <a:prstDash val="solid"/>
                      <a:round/>
                      <a:headEnd type="none" w="med" len="med"/>
                      <a:tailEnd type="none" w="med" len="med"/>
                    </a:lnT>
                    <a:lnB w="6350" cap="flat" cmpd="sng" algn="ctr">
                      <a:solidFill>
                        <a:srgbClr val="D9D1C1"/>
                      </a:solidFill>
                      <a:prstDash val="solid"/>
                      <a:round/>
                      <a:headEnd type="none" w="med" len="med"/>
                      <a:tailEnd type="none" w="med" len="med"/>
                    </a:lnB>
                    <a:solidFill>
                      <a:srgbClr val="FBF8F1"/>
                    </a:solidFill>
                  </a:tcPr>
                </a:tc>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Election night: watching the results come in</a:t>
                      </a:r>
                      <a:endParaRPr lang="en-US" sz="1400" dirty="0">
                        <a:latin typeface="Public Sans" charset="0"/>
                        <a:ea typeface="Public Sans" charset="0"/>
                        <a:cs typeface="Public Sans" charset="0"/>
                      </a:endParaRPr>
                    </a:p>
                  </a:txBody>
                  <a:tcPr marL="106680" marR="106680" marT="62230" marB="6223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8D5CF"/>
                      </a:solidFill>
                      <a:prstDash val="solid"/>
                      <a:round/>
                      <a:headEnd type="none" w="med" len="med"/>
                      <a:tailEnd type="none" w="med" len="med"/>
                    </a:lnT>
                    <a:lnB w="6350" cap="flat" cmpd="sng" algn="ctr">
                      <a:solidFill>
                        <a:srgbClr val="D9D1C1"/>
                      </a:solidFill>
                      <a:prstDash val="solid"/>
                      <a:round/>
                      <a:headEnd type="none" w="med" len="med"/>
                      <a:tailEnd type="none" w="med" len="med"/>
                    </a:lnB>
                    <a:solidFill>
                      <a:srgbClr val="FBF8F1"/>
                    </a:solidFill>
                  </a:tcPr>
                </a:tc>
              </a:tr>
            </a:tbl>
          </a:graphicData>
        </a:graphic>
      </p:graphicFrame>
      <p:sp>
        <p:nvSpPr>
          <p:cNvPr id="5" name="text-17"/>
          <p:cNvSpPr txBox="1"/>
          <p:nvPr/>
        </p:nvSpPr>
        <p:spPr>
          <a:xfrm>
            <a:off x="6197600" y="1513780"/>
            <a:ext cx="5297424" cy="274241"/>
          </a:xfrm>
          <a:prstGeom prst="rect">
            <a:avLst/>
          </a:prstGeom>
          <a:noFill/>
          <a:ln/>
        </p:spPr>
        <p:txBody>
          <a:bodyPr wrap="square" lIns="0" tIns="0" rIns="0" bIns="0" rtlCol="0" anchor="t"/>
          <a:lstStyle/>
          <a:p>
            <a:pPr algn="l" indent="0" marL="0">
              <a:lnSpc>
                <a:spcPts val="2160"/>
              </a:lnSpc>
              <a:buNone/>
            </a:pPr>
            <a:r>
              <a:rPr lang="en-US" sz="1800" dirty="0">
                <a:solidFill>
                  <a:srgbClr val="9A541A"/>
                </a:solidFill>
                <a:latin typeface="Libre Baskerville" pitchFamily="34" charset="0"/>
                <a:ea typeface="Libre Baskerville" pitchFamily="34" charset="-122"/>
                <a:cs typeface="Libre Baskerville" pitchFamily="34" charset="-120"/>
              </a:rPr>
              <a:t>Part two · After the vote</a:t>
            </a:r>
            <a:endParaRPr lang="en-US" sz="1800" dirty="0"/>
          </a:p>
        </p:txBody>
      </p:sp>
      <p:graphicFrame>
        <p:nvGraphicFramePr>
          <p:cNvPr id="7" name="table-18"/>
          <p:cNvGraphicFramePr>
            <a:graphicFrameLocks noGrp="1"/>
          </p:cNvGraphicFramePr>
          <p:nvPr>
            <p:extLst>
              <p:ext uri="{D42A27DB-BD31-4B8C-83A1-F6EECF244321}">
                <p14:modId xmlns:p14="http://schemas.microsoft.com/office/powerpoint/2010/main" val="1579011935"/>
              </p:ext>
            </p:extLst>
          </p:nvPr>
        </p:nvGraphicFramePr>
        <p:xfrm>
          <a:off x="6197600" y="1889621"/>
          <a:ext cx="5181600" cy="914400"/>
        </p:xfrm>
        <a:graphic>
          <a:graphicData uri="http://schemas.openxmlformats.org/drawingml/2006/table">
            <a:tbl>
              <a:tblPr/>
              <a:tblGrid>
                <a:gridCol w="1035050"/>
                <a:gridCol w="4140200"/>
              </a:tblGrid>
              <a:tr h="370780">
                <a:tc>
                  <a:txBody>
                    <a:bodyPr/>
                    <a:lstStyle/>
                    <a:p>
                      <a:pPr algn="l" indent="0" marL="0">
                        <a:lnSpc>
                          <a:spcPts val="1890"/>
                        </a:lnSpc>
                        <a:buNone/>
                      </a:pPr>
                      <a:r>
                        <a:rPr lang="en-US" sz="1400" b="1" dirty="0">
                          <a:solidFill>
                            <a:srgbClr val="F4EFE4"/>
                          </a:solidFill>
                          <a:latin typeface="Public Sans" pitchFamily="34" charset="0"/>
                          <a:ea typeface="Public Sans" pitchFamily="34" charset="-122"/>
                          <a:cs typeface="Public Sans" pitchFamily="34" charset="-120"/>
                        </a:rPr>
                        <a:t>Date</a:t>
                      </a:r>
                      <a:endParaRPr lang="en-US" sz="1400" dirty="0">
                        <a:latin typeface="Public Sans" charset="0"/>
                        <a:ea typeface="Public Sans" charset="0"/>
                        <a:cs typeface="Public Sans" charset="0"/>
                      </a:endParaRPr>
                    </a:p>
                  </a:txBody>
                  <a:tcPr marL="106680" marR="106680" marT="62230" marB="6223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c>
                  <a:txBody>
                    <a:bodyPr/>
                    <a:lstStyle/>
                    <a:p>
                      <a:pPr algn="l" indent="0" marL="0">
                        <a:lnSpc>
                          <a:spcPts val="1890"/>
                        </a:lnSpc>
                        <a:buNone/>
                      </a:pPr>
                      <a:r>
                        <a:rPr lang="en-US" sz="1400" b="1" dirty="0">
                          <a:solidFill>
                            <a:srgbClr val="F4EFE4"/>
                          </a:solidFill>
                          <a:latin typeface="Public Sans" pitchFamily="34" charset="0"/>
                          <a:ea typeface="Public Sans" pitchFamily="34" charset="-122"/>
                          <a:cs typeface="Public Sans" pitchFamily="34" charset="-120"/>
                        </a:rPr>
                        <a:t>Topic</a:t>
                      </a:r>
                      <a:endParaRPr lang="en-US" sz="1400" dirty="0">
                        <a:latin typeface="Public Sans" charset="0"/>
                        <a:ea typeface="Public Sans" charset="0"/>
                        <a:cs typeface="Public Sans" charset="0"/>
                      </a:endParaRPr>
                    </a:p>
                  </a:txBody>
                  <a:tcPr marL="106680" marR="106680" marT="62230" marB="6223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r>
              <a:tr h="370780">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Nov 3</a:t>
                      </a:r>
                      <a:endParaRPr lang="en-US" sz="1400" dirty="0">
                        <a:latin typeface="Public Sans" charset="0"/>
                        <a:ea typeface="Public Sans" charset="0"/>
                        <a:cs typeface="Public Sans" charset="0"/>
                      </a:endParaRPr>
                    </a:p>
                  </a:txBody>
                  <a:tcPr marL="106680" marR="106680" marT="62230" marB="6223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Reading the results and the coalition process</a:t>
                      </a:r>
                      <a:endParaRPr lang="en-US" sz="1400" dirty="0">
                        <a:latin typeface="Public Sans" charset="0"/>
                        <a:ea typeface="Public Sans" charset="0"/>
                        <a:cs typeface="Public Sans" charset="0"/>
                      </a:endParaRPr>
                    </a:p>
                  </a:txBody>
                  <a:tcPr marL="106680" marR="106680" marT="62230" marB="6223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70780">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Nov 10</a:t>
                      </a:r>
                      <a:endParaRPr lang="en-US" sz="1400" dirty="0">
                        <a:latin typeface="Public Sans" charset="0"/>
                        <a:ea typeface="Public Sans" charset="0"/>
                        <a:cs typeface="Public Sans" charset="0"/>
                      </a:endParaRPr>
                    </a:p>
                  </a:txBody>
                  <a:tcPr marL="106680" marR="106680" marT="62230" marB="6223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The Haredi world</a:t>
                      </a:r>
                      <a:endParaRPr lang="en-US" sz="1400" dirty="0">
                        <a:latin typeface="Public Sans" charset="0"/>
                        <a:ea typeface="Public Sans" charset="0"/>
                        <a:cs typeface="Public Sans" charset="0"/>
                      </a:endParaRPr>
                    </a:p>
                  </a:txBody>
                  <a:tcPr marL="106680" marR="106680" marT="62230" marB="6223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70780">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Nov 17</a:t>
                      </a:r>
                      <a:endParaRPr lang="en-US" sz="1400" dirty="0">
                        <a:latin typeface="Public Sans" charset="0"/>
                        <a:ea typeface="Public Sans" charset="0"/>
                        <a:cs typeface="Public Sans" charset="0"/>
                      </a:endParaRPr>
                    </a:p>
                  </a:txBody>
                  <a:tcPr marL="106680" marR="106680" marT="62230" marB="6223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Mizrahi Israel</a:t>
                      </a:r>
                      <a:endParaRPr lang="en-US" sz="1400" dirty="0">
                        <a:latin typeface="Public Sans" charset="0"/>
                        <a:ea typeface="Public Sans" charset="0"/>
                        <a:cs typeface="Public Sans" charset="0"/>
                      </a:endParaRPr>
                    </a:p>
                  </a:txBody>
                  <a:tcPr marL="106680" marR="106680" marT="62230" marB="6223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70780">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Nov 24</a:t>
                      </a:r>
                      <a:endParaRPr lang="en-US" sz="1400" dirty="0">
                        <a:latin typeface="Public Sans" charset="0"/>
                        <a:ea typeface="Public Sans" charset="0"/>
                        <a:cs typeface="Public Sans" charset="0"/>
                      </a:endParaRPr>
                    </a:p>
                  </a:txBody>
                  <a:tcPr marL="106680" marR="106680" marT="62230" marB="6223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Tel Aviv and the shrinking liberal world</a:t>
                      </a:r>
                      <a:endParaRPr lang="en-US" sz="1400" dirty="0">
                        <a:latin typeface="Public Sans" charset="0"/>
                        <a:ea typeface="Public Sans" charset="0"/>
                        <a:cs typeface="Public Sans" charset="0"/>
                      </a:endParaRPr>
                    </a:p>
                  </a:txBody>
                  <a:tcPr marL="106680" marR="106680" marT="62230" marB="6223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70780">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Dec 1</a:t>
                      </a:r>
                      <a:endParaRPr lang="en-US" sz="1400" dirty="0">
                        <a:latin typeface="Public Sans" charset="0"/>
                        <a:ea typeface="Public Sans" charset="0"/>
                        <a:cs typeface="Public Sans" charset="0"/>
                      </a:endParaRPr>
                    </a:p>
                  </a:txBody>
                  <a:tcPr marL="106680" marR="106680" marT="62230" marB="6223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The settler movement as it actually operates</a:t>
                      </a:r>
                      <a:endParaRPr lang="en-US" sz="1400" dirty="0">
                        <a:latin typeface="Public Sans" charset="0"/>
                        <a:ea typeface="Public Sans" charset="0"/>
                        <a:cs typeface="Public Sans" charset="0"/>
                      </a:endParaRPr>
                    </a:p>
                  </a:txBody>
                  <a:tcPr marL="106680" marR="106680" marT="62230" marB="6223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70780">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Dec 8</a:t>
                      </a:r>
                      <a:endParaRPr lang="en-US" sz="1400" dirty="0">
                        <a:latin typeface="Public Sans" charset="0"/>
                        <a:ea typeface="Public Sans" charset="0"/>
                        <a:cs typeface="Public Sans" charset="0"/>
                      </a:endParaRPr>
                    </a:p>
                  </a:txBody>
                  <a:tcPr marL="106680" marR="106680" marT="62230" marB="6223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Palestinian citizens of Israel</a:t>
                      </a:r>
                      <a:endParaRPr lang="en-US" sz="1400" dirty="0">
                        <a:latin typeface="Public Sans" charset="0"/>
                        <a:ea typeface="Public Sans" charset="0"/>
                        <a:cs typeface="Public Sans" charset="0"/>
                      </a:endParaRPr>
                    </a:p>
                  </a:txBody>
                  <a:tcPr marL="106680" marR="106680" marT="62230" marB="6223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70780">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Dec 15</a:t>
                      </a:r>
                      <a:endParaRPr lang="en-US" sz="1400" dirty="0">
                        <a:latin typeface="Public Sans" charset="0"/>
                        <a:ea typeface="Public Sans" charset="0"/>
                        <a:cs typeface="Public Sans" charset="0"/>
                      </a:endParaRPr>
                    </a:p>
                  </a:txBody>
                  <a:tcPr marL="106680" marR="106680" marT="62230" marB="6223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c>
                  <a:txBody>
                    <a:bodyPr/>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Hebron</a:t>
                      </a:r>
                      <a:endParaRPr lang="en-US" sz="1400" dirty="0">
                        <a:latin typeface="Public Sans" charset="0"/>
                        <a:ea typeface="Public Sans" charset="0"/>
                        <a:cs typeface="Public Sans" charset="0"/>
                      </a:endParaRPr>
                    </a:p>
                  </a:txBody>
                  <a:tcPr marL="106680" marR="106680" marT="62230" marB="6223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r>
            </a:tbl>
          </a:graphicData>
        </a:graphic>
      </p:graphicFrame>
      <p:sp>
        <p:nvSpPr>
          <p:cNvPr id="7" name="text-19"/>
          <p:cNvSpPr txBox="1"/>
          <p:nvPr/>
        </p:nvSpPr>
        <p:spPr>
          <a:xfrm>
            <a:off x="812800" y="6253559"/>
            <a:ext cx="10762996" cy="19804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Ten Tuesday sessions, October 6 – December 15, 2026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FE4"/>
        </a:solidFill>
      </p:bgPr>
    </p:bg>
    <p:spTree>
      <p:nvGrpSpPr>
        <p:cNvPr id="1" name=""/>
        <p:cNvGrpSpPr/>
        <p:nvPr/>
      </p:nvGrpSpPr>
      <p:grpSpPr>
        <a:xfrm>
          <a:off x="0" y="0"/>
          <a:ext cx="0" cy="0"/>
          <a:chOff x="0" y="0"/>
          <a:chExt cx="0" cy="0"/>
        </a:xfrm>
      </p:grpSpPr>
      <p:sp>
        <p:nvSpPr>
          <p:cNvPr id="2" name="text-20"/>
          <p:cNvSpPr txBox="1"/>
          <p:nvPr/>
        </p:nvSpPr>
        <p:spPr>
          <a:xfrm>
            <a:off x="812800" y="812800"/>
            <a:ext cx="10762996" cy="438051"/>
          </a:xfrm>
          <a:prstGeom prst="rect">
            <a:avLst/>
          </a:prstGeom>
          <a:noFill/>
          <a:ln/>
        </p:spPr>
        <p:txBody>
          <a:bodyPr wrap="square" lIns="0" tIns="0" rIns="0" bIns="0" rtlCol="0" anchor="t"/>
          <a:lstStyle/>
          <a:p>
            <a:pPr algn="l" indent="0" marL="0">
              <a:lnSpc>
                <a:spcPts val="3450"/>
              </a:lnSpc>
              <a:buNone/>
            </a:pPr>
            <a:r>
              <a:rPr lang="en-US" sz="3140" dirty="0">
                <a:solidFill>
                  <a:srgbClr val="15253D"/>
                </a:solidFill>
                <a:latin typeface="Libre Baskerville" pitchFamily="34" charset="0"/>
                <a:ea typeface="Libre Baskerville" pitchFamily="34" charset="-122"/>
                <a:cs typeface="Libre Baskerville" pitchFamily="34" charset="-120"/>
              </a:rPr>
              <a:t>The rules</a:t>
            </a:r>
            <a:endParaRPr lang="en-US" sz="3140" dirty="0"/>
          </a:p>
        </p:txBody>
      </p:sp>
      <p:sp>
        <p:nvSpPr>
          <p:cNvPr id="3" name="shape-21"/>
          <p:cNvSpPr/>
          <p:nvPr/>
        </p:nvSpPr>
        <p:spPr>
          <a:xfrm>
            <a:off x="812800" y="1504851"/>
            <a:ext cx="2527300" cy="1725613"/>
          </a:xfrm>
          <a:prstGeom prst="roundRect">
            <a:avLst>
              <a:gd name="adj" fmla="val 4416"/>
            </a:avLst>
          </a:prstGeom>
          <a:solidFill>
            <a:srgbClr val="FBF8F1"/>
          </a:solidFill>
          <a:ln w="6350">
            <a:solidFill>
              <a:srgbClr val="D9D1C1"/>
            </a:solidFill>
            <a:prstDash val="solid"/>
          </a:ln>
        </p:spPr>
      </p:sp>
      <p:sp>
        <p:nvSpPr>
          <p:cNvPr id="4" name="text-22"/>
          <p:cNvSpPr txBox="1"/>
          <p:nvPr/>
        </p:nvSpPr>
        <p:spPr>
          <a:xfrm>
            <a:off x="1022350" y="1689001"/>
            <a:ext cx="2177923" cy="627261"/>
          </a:xfrm>
          <a:prstGeom prst="rect">
            <a:avLst/>
          </a:prstGeom>
          <a:noFill/>
          <a:ln/>
        </p:spPr>
        <p:txBody>
          <a:bodyPr wrap="square" lIns="0" tIns="0" rIns="0" bIns="0" rtlCol="0" anchor="t"/>
          <a:lstStyle/>
          <a:p>
            <a:pPr algn="l" indent="0" marL="0">
              <a:lnSpc>
                <a:spcPts val="4939"/>
              </a:lnSpc>
              <a:buNone/>
            </a:pPr>
            <a:r>
              <a:rPr lang="en-US" sz="4700" dirty="0">
                <a:solidFill>
                  <a:srgbClr val="15253D"/>
                </a:solidFill>
                <a:latin typeface="Libre Baskerville" pitchFamily="34" charset="0"/>
                <a:ea typeface="Libre Baskerville" pitchFamily="34" charset="-122"/>
                <a:cs typeface="Libre Baskerville" pitchFamily="34" charset="-120"/>
              </a:rPr>
              <a:t>1</a:t>
            </a:r>
            <a:endParaRPr lang="en-US" sz="4700" dirty="0"/>
          </a:p>
        </p:txBody>
      </p:sp>
      <p:sp>
        <p:nvSpPr>
          <p:cNvPr id="5" name="text-23"/>
          <p:cNvSpPr txBox="1"/>
          <p:nvPr/>
        </p:nvSpPr>
        <p:spPr>
          <a:xfrm>
            <a:off x="1022350" y="2367062"/>
            <a:ext cx="2177923" cy="679252"/>
          </a:xfrm>
          <a:prstGeom prst="rect">
            <a:avLst/>
          </a:prstGeom>
          <a:noFill/>
          <a:ln/>
        </p:spPr>
        <p:txBody>
          <a:bodyPr wrap="square" lIns="0" tIns="0" rIns="0" bIns="0" rtlCol="0" anchor="t"/>
          <a:lstStyle/>
          <a:p>
            <a:pPr algn="l" indent="0" marL="0">
              <a:lnSpc>
                <a:spcPts val="1784"/>
              </a:lnSpc>
              <a:buNone/>
            </a:pPr>
            <a:r>
              <a:rPr lang="en-US" sz="1370" dirty="0">
                <a:solidFill>
                  <a:srgbClr val="4F5B69"/>
                </a:solidFill>
                <a:latin typeface="Public Sans" pitchFamily="34" charset="0"/>
                <a:ea typeface="Public Sans" pitchFamily="34" charset="-122"/>
                <a:cs typeface="Public Sans" pitchFamily="34" charset="-120"/>
              </a:rPr>
              <a:t>national district: the whole country votes as one</a:t>
            </a:r>
            <a:endParaRPr lang="en-US" sz="1370" dirty="0"/>
          </a:p>
        </p:txBody>
      </p:sp>
      <p:sp>
        <p:nvSpPr>
          <p:cNvPr id="6" name="shape-24"/>
          <p:cNvSpPr/>
          <p:nvPr/>
        </p:nvSpPr>
        <p:spPr>
          <a:xfrm>
            <a:off x="3492500" y="1504851"/>
            <a:ext cx="2527300" cy="1725613"/>
          </a:xfrm>
          <a:prstGeom prst="roundRect">
            <a:avLst>
              <a:gd name="adj" fmla="val 4416"/>
            </a:avLst>
          </a:prstGeom>
          <a:solidFill>
            <a:srgbClr val="FBF8F1"/>
          </a:solidFill>
          <a:ln w="6350">
            <a:solidFill>
              <a:srgbClr val="D9D1C1"/>
            </a:solidFill>
            <a:prstDash val="solid"/>
          </a:ln>
        </p:spPr>
      </p:sp>
      <p:sp>
        <p:nvSpPr>
          <p:cNvPr id="7" name="text-25"/>
          <p:cNvSpPr txBox="1"/>
          <p:nvPr/>
        </p:nvSpPr>
        <p:spPr>
          <a:xfrm>
            <a:off x="3702050" y="1689001"/>
            <a:ext cx="2177923" cy="627261"/>
          </a:xfrm>
          <a:prstGeom prst="rect">
            <a:avLst/>
          </a:prstGeom>
          <a:noFill/>
          <a:ln/>
        </p:spPr>
        <p:txBody>
          <a:bodyPr wrap="square" lIns="0" tIns="0" rIns="0" bIns="0" rtlCol="0" anchor="t"/>
          <a:lstStyle/>
          <a:p>
            <a:pPr algn="l" indent="0" marL="0">
              <a:lnSpc>
                <a:spcPts val="4939"/>
              </a:lnSpc>
              <a:buNone/>
            </a:pPr>
            <a:r>
              <a:rPr lang="en-US" sz="4700" dirty="0">
                <a:solidFill>
                  <a:srgbClr val="15253D"/>
                </a:solidFill>
                <a:latin typeface="Libre Baskerville" pitchFamily="34" charset="0"/>
                <a:ea typeface="Libre Baskerville" pitchFamily="34" charset="-122"/>
                <a:cs typeface="Libre Baskerville" pitchFamily="34" charset="-120"/>
              </a:rPr>
              <a:t>120</a:t>
            </a:r>
            <a:endParaRPr lang="en-US" sz="4700" dirty="0"/>
          </a:p>
        </p:txBody>
      </p:sp>
      <p:sp>
        <p:nvSpPr>
          <p:cNvPr id="8" name="text-26"/>
          <p:cNvSpPr txBox="1"/>
          <p:nvPr/>
        </p:nvSpPr>
        <p:spPr>
          <a:xfrm>
            <a:off x="3702050" y="2367062"/>
            <a:ext cx="2177923" cy="679252"/>
          </a:xfrm>
          <a:prstGeom prst="rect">
            <a:avLst/>
          </a:prstGeom>
          <a:noFill/>
          <a:ln/>
        </p:spPr>
        <p:txBody>
          <a:bodyPr wrap="square" lIns="0" tIns="0" rIns="0" bIns="0" rtlCol="0" anchor="t"/>
          <a:lstStyle/>
          <a:p>
            <a:pPr algn="l" indent="0" marL="0">
              <a:lnSpc>
                <a:spcPts val="1784"/>
              </a:lnSpc>
              <a:buNone/>
            </a:pPr>
            <a:r>
              <a:rPr lang="en-US" sz="1370" dirty="0">
                <a:solidFill>
                  <a:srgbClr val="4F5B69"/>
                </a:solidFill>
                <a:latin typeface="Public Sans" pitchFamily="34" charset="0"/>
                <a:ea typeface="Public Sans" pitchFamily="34" charset="-122"/>
                <a:cs typeface="Public Sans" pitchFamily="34" charset="-120"/>
              </a:rPr>
              <a:t>seats in the Knesset, filled in proportion to the vote</a:t>
            </a:r>
            <a:endParaRPr lang="en-US" sz="1370" dirty="0"/>
          </a:p>
        </p:txBody>
      </p:sp>
      <p:sp>
        <p:nvSpPr>
          <p:cNvPr id="9" name="shape-27"/>
          <p:cNvSpPr/>
          <p:nvPr/>
        </p:nvSpPr>
        <p:spPr>
          <a:xfrm>
            <a:off x="6172200" y="1504851"/>
            <a:ext cx="2527300" cy="1725613"/>
          </a:xfrm>
          <a:prstGeom prst="roundRect">
            <a:avLst>
              <a:gd name="adj" fmla="val 4416"/>
            </a:avLst>
          </a:prstGeom>
          <a:solidFill>
            <a:srgbClr val="FBF8F1"/>
          </a:solidFill>
          <a:ln w="6350">
            <a:solidFill>
              <a:srgbClr val="D9D1C1"/>
            </a:solidFill>
            <a:prstDash val="solid"/>
          </a:ln>
        </p:spPr>
      </p:sp>
      <p:sp>
        <p:nvSpPr>
          <p:cNvPr id="10" name="text-28"/>
          <p:cNvSpPr txBox="1"/>
          <p:nvPr/>
        </p:nvSpPr>
        <p:spPr>
          <a:xfrm>
            <a:off x="6381750" y="1689001"/>
            <a:ext cx="2177923" cy="627261"/>
          </a:xfrm>
          <a:prstGeom prst="rect">
            <a:avLst/>
          </a:prstGeom>
          <a:noFill/>
          <a:ln/>
        </p:spPr>
        <p:txBody>
          <a:bodyPr wrap="square" lIns="0" tIns="0" rIns="0" bIns="0" rtlCol="0" anchor="t"/>
          <a:lstStyle/>
          <a:p>
            <a:pPr algn="l" indent="0" marL="0">
              <a:lnSpc>
                <a:spcPts val="4939"/>
              </a:lnSpc>
              <a:buNone/>
            </a:pPr>
            <a:r>
              <a:rPr lang="en-US" sz="4700" dirty="0">
                <a:solidFill>
                  <a:srgbClr val="9A541A"/>
                </a:solidFill>
                <a:latin typeface="Libre Baskerville" pitchFamily="34" charset="0"/>
                <a:ea typeface="Libre Baskerville" pitchFamily="34" charset="-122"/>
                <a:cs typeface="Libre Baskerville" pitchFamily="34" charset="-120"/>
              </a:rPr>
              <a:t>3.25%</a:t>
            </a:r>
            <a:endParaRPr lang="en-US" sz="4700" dirty="0"/>
          </a:p>
        </p:txBody>
      </p:sp>
      <p:sp>
        <p:nvSpPr>
          <p:cNvPr id="11" name="text-29"/>
          <p:cNvSpPr txBox="1"/>
          <p:nvPr/>
        </p:nvSpPr>
        <p:spPr>
          <a:xfrm>
            <a:off x="6381750" y="2367062"/>
            <a:ext cx="2177923" cy="452834"/>
          </a:xfrm>
          <a:prstGeom prst="rect">
            <a:avLst/>
          </a:prstGeom>
          <a:noFill/>
          <a:ln/>
        </p:spPr>
        <p:txBody>
          <a:bodyPr wrap="square" lIns="0" tIns="0" rIns="0" bIns="0" rtlCol="0" anchor="t"/>
          <a:lstStyle/>
          <a:p>
            <a:pPr algn="l" indent="0" marL="0">
              <a:lnSpc>
                <a:spcPts val="1784"/>
              </a:lnSpc>
              <a:buNone/>
            </a:pPr>
            <a:r>
              <a:rPr lang="en-US" sz="1370" dirty="0">
                <a:solidFill>
                  <a:srgbClr val="4F5B69"/>
                </a:solidFill>
                <a:latin typeface="Public Sans" pitchFamily="34" charset="0"/>
                <a:ea typeface="Public Sans" pitchFamily="34" charset="-122"/>
                <a:cs typeface="Public Sans" pitchFamily="34" charset="-120"/>
              </a:rPr>
              <a:t>of valid votes, or a list wins no seats at all</a:t>
            </a:r>
            <a:endParaRPr lang="en-US" sz="1370" dirty="0"/>
          </a:p>
        </p:txBody>
      </p:sp>
      <p:sp>
        <p:nvSpPr>
          <p:cNvPr id="12" name="shape-30"/>
          <p:cNvSpPr/>
          <p:nvPr/>
        </p:nvSpPr>
        <p:spPr>
          <a:xfrm>
            <a:off x="8851900" y="1504851"/>
            <a:ext cx="2527300" cy="1725613"/>
          </a:xfrm>
          <a:prstGeom prst="roundRect">
            <a:avLst>
              <a:gd name="adj" fmla="val 4416"/>
            </a:avLst>
          </a:prstGeom>
          <a:solidFill>
            <a:srgbClr val="FBF8F1"/>
          </a:solidFill>
          <a:ln w="6350">
            <a:solidFill>
              <a:srgbClr val="D9D1C1"/>
            </a:solidFill>
            <a:prstDash val="solid"/>
          </a:ln>
        </p:spPr>
      </p:sp>
      <p:sp>
        <p:nvSpPr>
          <p:cNvPr id="13" name="text-31"/>
          <p:cNvSpPr txBox="1"/>
          <p:nvPr/>
        </p:nvSpPr>
        <p:spPr>
          <a:xfrm>
            <a:off x="9061450" y="1689001"/>
            <a:ext cx="2177923" cy="627261"/>
          </a:xfrm>
          <a:prstGeom prst="rect">
            <a:avLst/>
          </a:prstGeom>
          <a:noFill/>
          <a:ln/>
        </p:spPr>
        <p:txBody>
          <a:bodyPr wrap="square" lIns="0" tIns="0" rIns="0" bIns="0" rtlCol="0" anchor="t"/>
          <a:lstStyle/>
          <a:p>
            <a:pPr algn="l" indent="0" marL="0">
              <a:lnSpc>
                <a:spcPts val="4939"/>
              </a:lnSpc>
              <a:buNone/>
            </a:pPr>
            <a:r>
              <a:rPr lang="en-US" sz="4700" dirty="0">
                <a:solidFill>
                  <a:srgbClr val="15253D"/>
                </a:solidFill>
                <a:latin typeface="Libre Baskerville" pitchFamily="34" charset="0"/>
                <a:ea typeface="Libre Baskerville" pitchFamily="34" charset="-122"/>
                <a:cs typeface="Libre Baskerville" pitchFamily="34" charset="-120"/>
              </a:rPr>
              <a:t>61</a:t>
            </a:r>
            <a:endParaRPr lang="en-US" sz="4700" dirty="0"/>
          </a:p>
        </p:txBody>
      </p:sp>
      <p:sp>
        <p:nvSpPr>
          <p:cNvPr id="14" name="text-32"/>
          <p:cNvSpPr txBox="1"/>
          <p:nvPr/>
        </p:nvSpPr>
        <p:spPr>
          <a:xfrm>
            <a:off x="9061450" y="2367062"/>
            <a:ext cx="2177923" cy="452834"/>
          </a:xfrm>
          <a:prstGeom prst="rect">
            <a:avLst/>
          </a:prstGeom>
          <a:noFill/>
          <a:ln/>
        </p:spPr>
        <p:txBody>
          <a:bodyPr wrap="square" lIns="0" tIns="0" rIns="0" bIns="0" rtlCol="0" anchor="t"/>
          <a:lstStyle/>
          <a:p>
            <a:pPr algn="l" indent="0" marL="0">
              <a:lnSpc>
                <a:spcPts val="1784"/>
              </a:lnSpc>
              <a:buNone/>
            </a:pPr>
            <a:r>
              <a:rPr lang="en-US" sz="1370" dirty="0">
                <a:solidFill>
                  <a:srgbClr val="4F5B69"/>
                </a:solidFill>
                <a:latin typeface="Public Sans" pitchFamily="34" charset="0"/>
                <a:ea typeface="Public Sans" pitchFamily="34" charset="-122"/>
                <a:cs typeface="Public Sans" pitchFamily="34" charset="-120"/>
              </a:rPr>
              <a:t>seats for a majority, and in practice to govern</a:t>
            </a:r>
            <a:endParaRPr lang="en-US" sz="1370" dirty="0"/>
          </a:p>
        </p:txBody>
      </p:sp>
      <p:sp>
        <p:nvSpPr>
          <p:cNvPr id="15" name="shape-33"/>
          <p:cNvSpPr/>
          <p:nvPr/>
        </p:nvSpPr>
        <p:spPr>
          <a:xfrm>
            <a:off x="812800" y="3382863"/>
            <a:ext cx="2527300" cy="1876326"/>
          </a:xfrm>
          <a:prstGeom prst="roundRect">
            <a:avLst>
              <a:gd name="adj" fmla="val 4061"/>
            </a:avLst>
          </a:prstGeom>
          <a:solidFill>
            <a:srgbClr val="FBF8F1"/>
          </a:solidFill>
          <a:ln w="6350">
            <a:solidFill>
              <a:srgbClr val="D9D1C1"/>
            </a:solidFill>
            <a:prstDash val="solid"/>
          </a:ln>
        </p:spPr>
      </p:sp>
      <p:sp>
        <p:nvSpPr>
          <p:cNvPr id="16" name="text-34"/>
          <p:cNvSpPr txBox="1"/>
          <p:nvPr/>
        </p:nvSpPr>
        <p:spPr>
          <a:xfrm>
            <a:off x="1022350" y="3567013"/>
            <a:ext cx="2177923" cy="438051"/>
          </a:xfrm>
          <a:prstGeom prst="rect">
            <a:avLst/>
          </a:prstGeom>
          <a:noFill/>
          <a:ln/>
        </p:spPr>
        <p:txBody>
          <a:bodyPr wrap="square" lIns="0" tIns="0" rIns="0" bIns="0" rtlCol="0" anchor="t"/>
          <a:lstStyle/>
          <a:p>
            <a:pPr algn="l" indent="0" marL="0">
              <a:lnSpc>
                <a:spcPts val="3450"/>
              </a:lnSpc>
              <a:buNone/>
            </a:pPr>
            <a:r>
              <a:rPr lang="en-US" sz="3140" dirty="0">
                <a:solidFill>
                  <a:srgbClr val="15253D"/>
                </a:solidFill>
                <a:latin typeface="Libre Baskerville" pitchFamily="34" charset="0"/>
                <a:ea typeface="Libre Baskerville" pitchFamily="34" charset="-122"/>
                <a:cs typeface="Libre Baskerville" pitchFamily="34" charset="-120"/>
              </a:rPr>
              <a:t>~7.56M</a:t>
            </a:r>
            <a:endParaRPr lang="en-US" sz="3140" dirty="0"/>
          </a:p>
        </p:txBody>
      </p:sp>
      <p:sp>
        <p:nvSpPr>
          <p:cNvPr id="17" name="text-35"/>
          <p:cNvSpPr txBox="1"/>
          <p:nvPr/>
        </p:nvSpPr>
        <p:spPr>
          <a:xfrm>
            <a:off x="1022350" y="4055864"/>
            <a:ext cx="2177923" cy="226417"/>
          </a:xfrm>
          <a:prstGeom prst="rect">
            <a:avLst/>
          </a:prstGeom>
          <a:noFill/>
          <a:ln/>
        </p:spPr>
        <p:txBody>
          <a:bodyPr wrap="square" lIns="0" tIns="0" rIns="0" bIns="0" rtlCol="0" anchor="t"/>
          <a:lstStyle/>
          <a:p>
            <a:pPr algn="l" indent="0" marL="0">
              <a:lnSpc>
                <a:spcPts val="1784"/>
              </a:lnSpc>
              <a:buNone/>
            </a:pPr>
            <a:r>
              <a:rPr lang="en-US" sz="1370" dirty="0">
                <a:solidFill>
                  <a:srgbClr val="4F5B69"/>
                </a:solidFill>
                <a:latin typeface="Public Sans" pitchFamily="34" charset="0"/>
                <a:ea typeface="Public Sans" pitchFamily="34" charset="-122"/>
                <a:cs typeface="Public Sans" pitchFamily="34" charset="-120"/>
              </a:rPr>
              <a:t>eligible voters in 2026</a:t>
            </a:r>
            <a:endParaRPr lang="en-US" sz="1370" dirty="0"/>
          </a:p>
        </p:txBody>
      </p:sp>
      <p:sp>
        <p:nvSpPr>
          <p:cNvPr id="18" name="shape-36"/>
          <p:cNvSpPr/>
          <p:nvPr/>
        </p:nvSpPr>
        <p:spPr>
          <a:xfrm>
            <a:off x="3492500" y="3382863"/>
            <a:ext cx="2527300" cy="1876326"/>
          </a:xfrm>
          <a:prstGeom prst="roundRect">
            <a:avLst>
              <a:gd name="adj" fmla="val 4061"/>
            </a:avLst>
          </a:prstGeom>
          <a:solidFill>
            <a:srgbClr val="FBF8F1"/>
          </a:solidFill>
          <a:ln w="6350">
            <a:solidFill>
              <a:srgbClr val="D9D1C1"/>
            </a:solidFill>
            <a:prstDash val="solid"/>
          </a:ln>
        </p:spPr>
      </p:sp>
      <p:sp>
        <p:nvSpPr>
          <p:cNvPr id="19" name="text-37"/>
          <p:cNvSpPr txBox="1"/>
          <p:nvPr/>
        </p:nvSpPr>
        <p:spPr>
          <a:xfrm>
            <a:off x="3702050" y="3567013"/>
            <a:ext cx="2177923" cy="438051"/>
          </a:xfrm>
          <a:prstGeom prst="rect">
            <a:avLst/>
          </a:prstGeom>
          <a:noFill/>
          <a:ln/>
        </p:spPr>
        <p:txBody>
          <a:bodyPr wrap="square" lIns="0" tIns="0" rIns="0" bIns="0" rtlCol="0" anchor="t"/>
          <a:lstStyle/>
          <a:p>
            <a:pPr algn="l" indent="0" marL="0">
              <a:lnSpc>
                <a:spcPts val="3450"/>
              </a:lnSpc>
              <a:buNone/>
            </a:pPr>
            <a:r>
              <a:rPr lang="en-US" sz="3140" dirty="0">
                <a:solidFill>
                  <a:srgbClr val="15253D"/>
                </a:solidFill>
                <a:latin typeface="Libre Baskerville" pitchFamily="34" charset="0"/>
                <a:ea typeface="Libre Baskerville" pitchFamily="34" charset="-122"/>
                <a:cs typeface="Libre Baskerville" pitchFamily="34" charset="-120"/>
              </a:rPr>
              <a:t>~172,000</a:t>
            </a:r>
            <a:endParaRPr lang="en-US" sz="3140" dirty="0"/>
          </a:p>
        </p:txBody>
      </p:sp>
      <p:sp>
        <p:nvSpPr>
          <p:cNvPr id="20" name="text-38"/>
          <p:cNvSpPr txBox="1"/>
          <p:nvPr/>
        </p:nvSpPr>
        <p:spPr>
          <a:xfrm>
            <a:off x="3702050" y="4055864"/>
            <a:ext cx="2177923" cy="452834"/>
          </a:xfrm>
          <a:prstGeom prst="rect">
            <a:avLst/>
          </a:prstGeom>
          <a:noFill/>
          <a:ln/>
        </p:spPr>
        <p:txBody>
          <a:bodyPr wrap="square" lIns="0" tIns="0" rIns="0" bIns="0" rtlCol="0" anchor="t"/>
          <a:lstStyle/>
          <a:p>
            <a:pPr algn="l" indent="0" marL="0">
              <a:lnSpc>
                <a:spcPts val="1784"/>
              </a:lnSpc>
              <a:buNone/>
            </a:pPr>
            <a:r>
              <a:rPr lang="en-US" sz="1370" dirty="0">
                <a:solidFill>
                  <a:srgbClr val="4F5B69"/>
                </a:solidFill>
                <a:latin typeface="Public Sans" pitchFamily="34" charset="0"/>
                <a:ea typeface="Public Sans" pitchFamily="34" charset="-122"/>
                <a:cs typeface="Public Sans" pitchFamily="34" charset="-120"/>
              </a:rPr>
              <a:t>votes needed to clear the threshold in 2026</a:t>
            </a:r>
            <a:endParaRPr lang="en-US" sz="1370" dirty="0"/>
          </a:p>
        </p:txBody>
      </p:sp>
      <p:sp>
        <p:nvSpPr>
          <p:cNvPr id="21" name="shape-39"/>
          <p:cNvSpPr/>
          <p:nvPr/>
        </p:nvSpPr>
        <p:spPr>
          <a:xfrm>
            <a:off x="6172200" y="3382863"/>
            <a:ext cx="5207000" cy="1876326"/>
          </a:xfrm>
          <a:prstGeom prst="roundRect">
            <a:avLst>
              <a:gd name="adj" fmla="val 4061"/>
            </a:avLst>
          </a:prstGeom>
          <a:solidFill>
            <a:srgbClr val="15253D"/>
          </a:solidFill>
          <a:ln/>
        </p:spPr>
      </p:sp>
      <p:sp>
        <p:nvSpPr>
          <p:cNvPr id="22" name="text-40"/>
          <p:cNvSpPr txBox="1"/>
          <p:nvPr/>
        </p:nvSpPr>
        <p:spPr>
          <a:xfrm>
            <a:off x="6426200" y="3560663"/>
            <a:ext cx="4807585" cy="268784"/>
          </a:xfrm>
          <a:prstGeom prst="rect">
            <a:avLst/>
          </a:prstGeom>
          <a:noFill/>
          <a:ln/>
        </p:spPr>
        <p:txBody>
          <a:bodyPr wrap="square" lIns="0" tIns="0" rIns="0" bIns="0" rtlCol="0" anchor="t"/>
          <a:lstStyle/>
          <a:p>
            <a:pPr algn="l" indent="0" marL="0">
              <a:lnSpc>
                <a:spcPts val="2117"/>
              </a:lnSpc>
              <a:buNone/>
            </a:pPr>
            <a:r>
              <a:rPr lang="en-US" sz="1760" dirty="0">
                <a:solidFill>
                  <a:srgbClr val="E2AD6E"/>
                </a:solidFill>
                <a:latin typeface="Libre Baskerville" pitchFamily="34" charset="0"/>
                <a:ea typeface="Libre Baskerville" pitchFamily="34" charset="-122"/>
                <a:cs typeface="Libre Baskerville" pitchFamily="34" charset="-120"/>
              </a:rPr>
              <a:t>Unlike the US</a:t>
            </a:r>
            <a:endParaRPr lang="en-US" sz="1760" dirty="0"/>
          </a:p>
        </p:txBody>
      </p:sp>
      <p:sp>
        <p:nvSpPr>
          <p:cNvPr id="23" name="list-41"/>
          <p:cNvSpPr txBox="1"/>
          <p:nvPr/>
        </p:nvSpPr>
        <p:spPr>
          <a:xfrm>
            <a:off x="6426200" y="3905647"/>
            <a:ext cx="4807585" cy="1175742"/>
          </a:xfrm>
          <a:prstGeom prst="rect">
            <a:avLst/>
          </a:prstGeom>
          <a:noFill/>
          <a:ln/>
        </p:spPr>
        <p:txBody>
          <a:bodyPr wrap="square" lIns="0" tIns="0" rIns="0" bIns="0" rtlCol="0" anchor="t"/>
          <a:lstStyle/>
          <a:p>
            <a:pPr marL="209093" indent="-209093">
              <a:lnSpc>
                <a:spcPts val="1852"/>
              </a:lnSpc>
              <a:buSzPct val="100000"/>
              <a:buChar char="•"/>
            </a:pPr>
            <a:r>
              <a:rPr lang="en-US" sz="1370" dirty="0">
                <a:solidFill>
                  <a:srgbClr val="F4EFE4"/>
                </a:solidFill>
                <a:latin typeface="Public Sans" pitchFamily="34" charset="0"/>
                <a:ea typeface="Public Sans" pitchFamily="34" charset="-122"/>
                <a:cs typeface="Public Sans" pitchFamily="34" charset="-120"/>
              </a:rPr>
              <a:t>Closed lists: you vote for a party, not a person. The party ranks its candidates.</a:t>
            </a:r>
            <a:endParaRPr lang="en-US" sz="1370" dirty="0"/>
          </a:p>
          <a:p>
            <a:pPr marL="209093" indent="-209093">
              <a:lnSpc>
                <a:spcPts val="1852"/>
              </a:lnSpc>
              <a:buSzPct val="100000"/>
              <a:buChar char="•"/>
            </a:pPr>
            <a:r>
              <a:rPr lang="en-US" sz="1370" dirty="0">
                <a:solidFill>
                  <a:srgbClr val="F4EFE4"/>
                </a:solidFill>
                <a:latin typeface="Public Sans" pitchFamily="34" charset="0"/>
                <a:ea typeface="Public Sans" pitchFamily="34" charset="-122"/>
                <a:cs typeface="Public Sans" pitchFamily="34" charset="-120"/>
              </a:rPr>
              <a:t>No districts: no local representative, one national count.</a:t>
            </a:r>
            <a:endParaRPr lang="en-US" sz="1370" dirty="0"/>
          </a:p>
          <a:p>
            <a:pPr marL="209093" indent="-209093">
              <a:lnSpc>
                <a:spcPts val="1852"/>
              </a:lnSpc>
              <a:buSzPct val="100000"/>
              <a:buChar char="•"/>
            </a:pPr>
            <a:r>
              <a:rPr lang="en-US" sz="1370" dirty="0">
                <a:solidFill>
                  <a:srgbClr val="F4EFE4"/>
                </a:solidFill>
                <a:latin typeface="Public Sans" pitchFamily="34" charset="0"/>
                <a:ea typeface="Public Sans" pitchFamily="34" charset="-122"/>
                <a:cs typeface="Public Sans" pitchFamily="34" charset="-120"/>
              </a:rPr>
              <a:t>No absentee ballot: with narrow exceptions, you vote in person, in Israel.</a:t>
            </a:r>
            <a:endParaRPr lang="en-US" sz="1370" dirty="0"/>
          </a:p>
        </p:txBody>
      </p:sp>
      <p:sp>
        <p:nvSpPr>
          <p:cNvPr id="24" name="text-42"/>
          <p:cNvSpPr txBox="1"/>
          <p:nvPr/>
        </p:nvSpPr>
        <p:spPr>
          <a:xfrm>
            <a:off x="812800" y="5513189"/>
            <a:ext cx="10762996" cy="470297"/>
          </a:xfrm>
          <a:prstGeom prst="rect">
            <a:avLst/>
          </a:prstGeom>
          <a:noFill/>
          <a:ln/>
        </p:spPr>
        <p:txBody>
          <a:bodyPr wrap="square" lIns="0" tIns="0" rIns="0" bIns="0" rtlCol="0" anchor="t"/>
          <a:lstStyle/>
          <a:p>
            <a:pPr algn="l" indent="0" marL="0">
              <a:lnSpc>
                <a:spcPts val="1852"/>
              </a:lnSpc>
              <a:buNone/>
            </a:pPr>
            <a:r>
              <a:rPr lang="en-US" sz="1370" dirty="0">
                <a:solidFill>
                  <a:srgbClr val="4F5B69"/>
                </a:solidFill>
                <a:latin typeface="Public Sans" pitchFamily="34" charset="0"/>
                <a:ea typeface="Public Sans" pitchFamily="34" charset="-122"/>
                <a:cs typeface="Public Sans" pitchFamily="34" charset="-120"/>
              </a:rPr>
              <a:t>The threshold has risen over time, from about 1% to 1.5%, 2%, and now 3.25%. The 3.25% law passed in March 2014 and was first used in 2015.</a:t>
            </a:r>
            <a:endParaRPr lang="en-US" sz="1370" dirty="0"/>
          </a:p>
        </p:txBody>
      </p:sp>
      <p:sp>
        <p:nvSpPr>
          <p:cNvPr id="25" name="text-43"/>
          <p:cNvSpPr txBox="1"/>
          <p:nvPr/>
        </p:nvSpPr>
        <p:spPr>
          <a:xfrm>
            <a:off x="812800" y="6253559"/>
            <a:ext cx="10762996" cy="19804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Basic Law: The Knesset (Constitute Project); Wikipedia, accessed Oct 4, 2026; IsraelEd, Sep 28, 2026; IDI, 2015, 2020, 2022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FE4"/>
        </a:solidFill>
      </p:bgPr>
    </p:bg>
    <p:spTree>
      <p:nvGrpSpPr>
        <p:cNvPr id="1" name=""/>
        <p:cNvGrpSpPr/>
        <p:nvPr/>
      </p:nvGrpSpPr>
      <p:grpSpPr>
        <a:xfrm>
          <a:off x="0" y="0"/>
          <a:ext cx="0" cy="0"/>
          <a:chOff x="0" y="0"/>
          <a:chExt cx="0" cy="0"/>
        </a:xfrm>
      </p:grpSpPr>
      <p:sp>
        <p:nvSpPr>
          <p:cNvPr id="2" name="text-44"/>
          <p:cNvSpPr txBox="1"/>
          <p:nvPr/>
        </p:nvSpPr>
        <p:spPr>
          <a:xfrm>
            <a:off x="812800" y="812800"/>
            <a:ext cx="10762996"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Wasted votes</a:t>
            </a:r>
            <a:endParaRPr lang="en-US" sz="3200" dirty="0"/>
          </a:p>
        </p:txBody>
      </p:sp>
      <p:sp>
        <p:nvSpPr>
          <p:cNvPr id="3" name="text-45"/>
          <p:cNvSpPr txBox="1"/>
          <p:nvPr/>
        </p:nvSpPr>
        <p:spPr>
          <a:xfrm>
            <a:off x="812800" y="1513780"/>
            <a:ext cx="6483350" cy="274241"/>
          </a:xfrm>
          <a:prstGeom prst="rect">
            <a:avLst/>
          </a:prstGeom>
          <a:noFill/>
          <a:ln/>
        </p:spPr>
        <p:txBody>
          <a:bodyPr wrap="square" lIns="0" tIns="0" rIns="0" bIns="0" rtlCol="0" anchor="t"/>
          <a:lstStyle/>
          <a:p>
            <a:pPr algn="l" indent="0" marL="0">
              <a:lnSpc>
                <a:spcPts val="2160"/>
              </a:lnSpc>
              <a:buNone/>
            </a:pPr>
            <a:r>
              <a:rPr lang="en-US" sz="1800" dirty="0">
                <a:solidFill>
                  <a:srgbClr val="15253D"/>
                </a:solidFill>
                <a:latin typeface="Libre Baskerville" pitchFamily="34" charset="0"/>
                <a:ea typeface="Libre Baskerville" pitchFamily="34" charset="-122"/>
                <a:cs typeface="Libre Baskerville" pitchFamily="34" charset="-120"/>
              </a:rPr>
              <a:t>Lists that fell short in 2022, by share of valid votes</a:t>
            </a:r>
            <a:endParaRPr lang="en-US" sz="1800" dirty="0"/>
          </a:p>
        </p:txBody>
      </p:sp>
      <p:sp>
        <p:nvSpPr>
          <p:cNvPr id="4" name="text-46"/>
          <p:cNvSpPr txBox="1"/>
          <p:nvPr/>
        </p:nvSpPr>
        <p:spPr>
          <a:xfrm>
            <a:off x="5227320" y="1940421"/>
            <a:ext cx="1584960" cy="198041"/>
          </a:xfrm>
          <a:prstGeom prst="rect">
            <a:avLst/>
          </a:prstGeom>
          <a:noFill/>
          <a:ln/>
        </p:spPr>
        <p:txBody>
          <a:bodyPr wrap="square" lIns="0" tIns="0" rIns="0" bIns="0" rtlCol="0" anchor="t"/>
          <a:lstStyle/>
          <a:p>
            <a:pPr algn="ctr" indent="0" marL="0">
              <a:lnSpc>
                <a:spcPts val="1560"/>
              </a:lnSpc>
              <a:buNone/>
            </a:pPr>
            <a:r>
              <a:rPr lang="en-US" sz="1200" b="1" dirty="0">
                <a:solidFill>
                  <a:srgbClr val="9A541A"/>
                </a:solidFill>
                <a:latin typeface="Public Sans" pitchFamily="34" charset="0"/>
                <a:ea typeface="Public Sans" pitchFamily="34" charset="-122"/>
                <a:cs typeface="Public Sans" pitchFamily="34" charset="-120"/>
              </a:rPr>
              <a:t>3.25% threshold</a:t>
            </a:r>
            <a:endParaRPr lang="en-US" sz="1200" dirty="0"/>
          </a:p>
        </p:txBody>
      </p:sp>
      <p:sp>
        <p:nvSpPr>
          <p:cNvPr id="5" name="shape-47"/>
          <p:cNvSpPr/>
          <p:nvPr/>
        </p:nvSpPr>
        <p:spPr>
          <a:xfrm>
            <a:off x="2717800" y="2346821"/>
            <a:ext cx="4064000" cy="406400"/>
          </a:xfrm>
          <a:prstGeom prst="rect">
            <a:avLst/>
          </a:prstGeom>
          <a:solidFill>
            <a:srgbClr val="E6DFD0"/>
          </a:solidFill>
          <a:ln/>
        </p:spPr>
      </p:sp>
      <p:sp>
        <p:nvSpPr>
          <p:cNvPr id="6" name="shape-48"/>
          <p:cNvSpPr/>
          <p:nvPr/>
        </p:nvSpPr>
        <p:spPr>
          <a:xfrm>
            <a:off x="2717800" y="2346821"/>
            <a:ext cx="3213100" cy="406400"/>
          </a:xfrm>
          <a:prstGeom prst="rect">
            <a:avLst/>
          </a:prstGeom>
          <a:solidFill>
            <a:srgbClr val="15253D"/>
          </a:solidFill>
          <a:ln/>
        </p:spPr>
      </p:sp>
      <p:sp>
        <p:nvSpPr>
          <p:cNvPr id="7" name="text-49"/>
          <p:cNvSpPr txBox="1"/>
          <p:nvPr/>
        </p:nvSpPr>
        <p:spPr>
          <a:xfrm>
            <a:off x="2633028" y="2346821"/>
            <a:ext cx="3196273" cy="406400"/>
          </a:xfrm>
          <a:prstGeom prst="rect">
            <a:avLst/>
          </a:prstGeom>
          <a:noFill/>
          <a:ln/>
        </p:spPr>
        <p:txBody>
          <a:bodyPr wrap="square" lIns="0" tIns="0" rIns="0" bIns="0" rtlCol="0" anchor="ctr"/>
          <a:lstStyle/>
          <a:p>
            <a:pPr algn="r" indent="0" marL="0">
              <a:buNone/>
            </a:pPr>
            <a:r>
              <a:rPr lang="en-US" sz="1200" b="1" dirty="0">
                <a:solidFill>
                  <a:srgbClr val="F4EFE4"/>
                </a:solidFill>
                <a:latin typeface="Public Sans" pitchFamily="34" charset="0"/>
                <a:ea typeface="Public Sans" pitchFamily="34" charset="-122"/>
                <a:cs typeface="Public Sans" pitchFamily="34" charset="-120"/>
              </a:rPr>
              <a:t>3.16%</a:t>
            </a:r>
            <a:endParaRPr lang="en-US" sz="1200" dirty="0"/>
          </a:p>
        </p:txBody>
      </p:sp>
      <p:sp>
        <p:nvSpPr>
          <p:cNvPr id="8" name="shape-50"/>
          <p:cNvSpPr/>
          <p:nvPr/>
        </p:nvSpPr>
        <p:spPr>
          <a:xfrm>
            <a:off x="2717800" y="3045321"/>
            <a:ext cx="4064000" cy="406400"/>
          </a:xfrm>
          <a:prstGeom prst="rect">
            <a:avLst/>
          </a:prstGeom>
          <a:solidFill>
            <a:srgbClr val="E6DFD0"/>
          </a:solidFill>
          <a:ln/>
        </p:spPr>
      </p:sp>
      <p:sp>
        <p:nvSpPr>
          <p:cNvPr id="9" name="shape-51"/>
          <p:cNvSpPr/>
          <p:nvPr/>
        </p:nvSpPr>
        <p:spPr>
          <a:xfrm>
            <a:off x="2717800" y="3045321"/>
            <a:ext cx="2959100" cy="406400"/>
          </a:xfrm>
          <a:prstGeom prst="rect">
            <a:avLst/>
          </a:prstGeom>
          <a:solidFill>
            <a:srgbClr val="15253D"/>
          </a:solidFill>
          <a:ln/>
        </p:spPr>
      </p:sp>
      <p:sp>
        <p:nvSpPr>
          <p:cNvPr id="10" name="text-52"/>
          <p:cNvSpPr txBox="1"/>
          <p:nvPr/>
        </p:nvSpPr>
        <p:spPr>
          <a:xfrm>
            <a:off x="2636838" y="3045321"/>
            <a:ext cx="2938463" cy="406400"/>
          </a:xfrm>
          <a:prstGeom prst="rect">
            <a:avLst/>
          </a:prstGeom>
          <a:noFill/>
          <a:ln/>
        </p:spPr>
        <p:txBody>
          <a:bodyPr wrap="square" lIns="0" tIns="0" rIns="0" bIns="0" rtlCol="0" anchor="ctr"/>
          <a:lstStyle/>
          <a:p>
            <a:pPr algn="r" indent="0" marL="0">
              <a:buNone/>
            </a:pPr>
            <a:r>
              <a:rPr lang="en-US" sz="1200" b="1" dirty="0">
                <a:solidFill>
                  <a:srgbClr val="F4EFE4"/>
                </a:solidFill>
                <a:latin typeface="Public Sans" pitchFamily="34" charset="0"/>
                <a:ea typeface="Public Sans" pitchFamily="34" charset="-122"/>
                <a:cs typeface="Public Sans" pitchFamily="34" charset="-120"/>
              </a:rPr>
              <a:t>2.91%</a:t>
            </a:r>
            <a:endParaRPr lang="en-US" sz="1200" dirty="0"/>
          </a:p>
        </p:txBody>
      </p:sp>
      <p:sp>
        <p:nvSpPr>
          <p:cNvPr id="11" name="shape-53"/>
          <p:cNvSpPr/>
          <p:nvPr/>
        </p:nvSpPr>
        <p:spPr>
          <a:xfrm>
            <a:off x="2717800" y="3743821"/>
            <a:ext cx="4064000" cy="406400"/>
          </a:xfrm>
          <a:prstGeom prst="rect">
            <a:avLst/>
          </a:prstGeom>
          <a:solidFill>
            <a:srgbClr val="E6DFD0"/>
          </a:solidFill>
          <a:ln/>
        </p:spPr>
      </p:sp>
      <p:sp>
        <p:nvSpPr>
          <p:cNvPr id="12" name="shape-54"/>
          <p:cNvSpPr/>
          <p:nvPr/>
        </p:nvSpPr>
        <p:spPr>
          <a:xfrm>
            <a:off x="2717800" y="3743821"/>
            <a:ext cx="1206500" cy="406400"/>
          </a:xfrm>
          <a:prstGeom prst="rect">
            <a:avLst/>
          </a:prstGeom>
          <a:solidFill>
            <a:srgbClr val="15253D"/>
          </a:solidFill>
          <a:ln/>
        </p:spPr>
      </p:sp>
      <p:sp>
        <p:nvSpPr>
          <p:cNvPr id="13" name="text-55"/>
          <p:cNvSpPr txBox="1"/>
          <p:nvPr/>
        </p:nvSpPr>
        <p:spPr>
          <a:xfrm>
            <a:off x="2663127" y="3743821"/>
            <a:ext cx="1159574" cy="406400"/>
          </a:xfrm>
          <a:prstGeom prst="rect">
            <a:avLst/>
          </a:prstGeom>
          <a:noFill/>
          <a:ln/>
        </p:spPr>
        <p:txBody>
          <a:bodyPr wrap="square" lIns="0" tIns="0" rIns="0" bIns="0" rtlCol="0" anchor="ctr"/>
          <a:lstStyle/>
          <a:p>
            <a:pPr algn="r" indent="0" marL="0">
              <a:buNone/>
            </a:pPr>
            <a:r>
              <a:rPr lang="en-US" sz="1200" b="1" dirty="0">
                <a:solidFill>
                  <a:srgbClr val="F4EFE4"/>
                </a:solidFill>
                <a:latin typeface="Public Sans" pitchFamily="34" charset="0"/>
                <a:ea typeface="Public Sans" pitchFamily="34" charset="-122"/>
                <a:cs typeface="Public Sans" pitchFamily="34" charset="-120"/>
              </a:rPr>
              <a:t>1.19%</a:t>
            </a:r>
            <a:endParaRPr lang="en-US" sz="1200" dirty="0"/>
          </a:p>
        </p:txBody>
      </p:sp>
      <p:sp>
        <p:nvSpPr>
          <p:cNvPr id="14" name="shape-56"/>
          <p:cNvSpPr/>
          <p:nvPr/>
        </p:nvSpPr>
        <p:spPr>
          <a:xfrm>
            <a:off x="6007100" y="2219821"/>
            <a:ext cx="25400" cy="2006600"/>
          </a:xfrm>
          <a:prstGeom prst="rect">
            <a:avLst/>
          </a:prstGeom>
          <a:solidFill>
            <a:srgbClr val="9A541A"/>
          </a:solidFill>
          <a:ln/>
        </p:spPr>
      </p:sp>
      <p:sp>
        <p:nvSpPr>
          <p:cNvPr id="15" name="text-57"/>
          <p:cNvSpPr txBox="1"/>
          <p:nvPr/>
        </p:nvSpPr>
        <p:spPr>
          <a:xfrm>
            <a:off x="812800" y="2334121"/>
            <a:ext cx="1842770" cy="213320"/>
          </a:xfrm>
          <a:prstGeom prst="rect">
            <a:avLst/>
          </a:prstGeom>
          <a:noFill/>
          <a:ln/>
        </p:spPr>
        <p:txBody>
          <a:bodyPr wrap="square" lIns="0" tIns="0" rIns="0" bIns="0" rtlCol="0" anchor="t"/>
          <a:lstStyle/>
          <a:p>
            <a:pPr algn="l" indent="0" marL="0">
              <a:lnSpc>
                <a:spcPts val="1680"/>
              </a:lnSpc>
              <a:buNone/>
            </a:pPr>
            <a:r>
              <a:rPr lang="en-US" sz="1400" b="1" dirty="0">
                <a:solidFill>
                  <a:srgbClr val="1B2634"/>
                </a:solidFill>
                <a:latin typeface="Public Sans" pitchFamily="34" charset="0"/>
                <a:ea typeface="Public Sans" pitchFamily="34" charset="-122"/>
                <a:cs typeface="Public Sans" pitchFamily="34" charset="-120"/>
              </a:rPr>
              <a:t>Meretz</a:t>
            </a:r>
            <a:endParaRPr lang="en-US" sz="1400" dirty="0"/>
          </a:p>
        </p:txBody>
      </p:sp>
      <p:sp>
        <p:nvSpPr>
          <p:cNvPr id="16" name="text-58"/>
          <p:cNvSpPr txBox="1"/>
          <p:nvPr/>
        </p:nvSpPr>
        <p:spPr>
          <a:xfrm>
            <a:off x="812800" y="2562721"/>
            <a:ext cx="1842770" cy="182860"/>
          </a:xfrm>
          <a:prstGeom prst="rect">
            <a:avLst/>
          </a:prstGeom>
          <a:noFill/>
          <a:ln/>
        </p:spPr>
        <p:txBody>
          <a:bodyPr wrap="square" lIns="0" tIns="0" rIns="0" bIns="0" rtlCol="0" anchor="t"/>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150,793 votes</a:t>
            </a:r>
            <a:endParaRPr lang="en-US" sz="1200" dirty="0"/>
          </a:p>
        </p:txBody>
      </p:sp>
      <p:sp>
        <p:nvSpPr>
          <p:cNvPr id="17" name="text-59"/>
          <p:cNvSpPr txBox="1"/>
          <p:nvPr/>
        </p:nvSpPr>
        <p:spPr>
          <a:xfrm>
            <a:off x="812800" y="3032621"/>
            <a:ext cx="1842770" cy="213320"/>
          </a:xfrm>
          <a:prstGeom prst="rect">
            <a:avLst/>
          </a:prstGeom>
          <a:noFill/>
          <a:ln/>
        </p:spPr>
        <p:txBody>
          <a:bodyPr wrap="square" lIns="0" tIns="0" rIns="0" bIns="0" rtlCol="0" anchor="t"/>
          <a:lstStyle/>
          <a:p>
            <a:pPr algn="l" indent="0" marL="0">
              <a:lnSpc>
                <a:spcPts val="1680"/>
              </a:lnSpc>
              <a:buNone/>
            </a:pPr>
            <a:r>
              <a:rPr lang="en-US" sz="1400" b="1" dirty="0">
                <a:solidFill>
                  <a:srgbClr val="1B2634"/>
                </a:solidFill>
                <a:latin typeface="Public Sans" pitchFamily="34" charset="0"/>
                <a:ea typeface="Public Sans" pitchFamily="34" charset="-122"/>
                <a:cs typeface="Public Sans" pitchFamily="34" charset="-120"/>
              </a:rPr>
              <a:t>Balad</a:t>
            </a:r>
            <a:endParaRPr lang="en-US" sz="1400" dirty="0"/>
          </a:p>
        </p:txBody>
      </p:sp>
      <p:sp>
        <p:nvSpPr>
          <p:cNvPr id="18" name="text-60"/>
          <p:cNvSpPr txBox="1"/>
          <p:nvPr/>
        </p:nvSpPr>
        <p:spPr>
          <a:xfrm>
            <a:off x="812800" y="3261221"/>
            <a:ext cx="1842770" cy="182860"/>
          </a:xfrm>
          <a:prstGeom prst="rect">
            <a:avLst/>
          </a:prstGeom>
          <a:noFill/>
          <a:ln/>
        </p:spPr>
        <p:txBody>
          <a:bodyPr wrap="square" lIns="0" tIns="0" rIns="0" bIns="0" rtlCol="0" anchor="t"/>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138,617 votes</a:t>
            </a:r>
            <a:endParaRPr lang="en-US" sz="1200" dirty="0"/>
          </a:p>
        </p:txBody>
      </p:sp>
      <p:sp>
        <p:nvSpPr>
          <p:cNvPr id="19" name="text-61"/>
          <p:cNvSpPr txBox="1"/>
          <p:nvPr/>
        </p:nvSpPr>
        <p:spPr>
          <a:xfrm>
            <a:off x="812800" y="3731121"/>
            <a:ext cx="1842770" cy="213320"/>
          </a:xfrm>
          <a:prstGeom prst="rect">
            <a:avLst/>
          </a:prstGeom>
          <a:noFill/>
          <a:ln/>
        </p:spPr>
        <p:txBody>
          <a:bodyPr wrap="square" lIns="0" tIns="0" rIns="0" bIns="0" rtlCol="0" anchor="t"/>
          <a:lstStyle/>
          <a:p>
            <a:pPr algn="l" indent="0" marL="0">
              <a:lnSpc>
                <a:spcPts val="1680"/>
              </a:lnSpc>
              <a:buNone/>
            </a:pPr>
            <a:r>
              <a:rPr lang="en-US" sz="1400" b="1" dirty="0">
                <a:solidFill>
                  <a:srgbClr val="1B2634"/>
                </a:solidFill>
                <a:latin typeface="Public Sans" pitchFamily="34" charset="0"/>
                <a:ea typeface="Public Sans" pitchFamily="34" charset="-122"/>
                <a:cs typeface="Public Sans" pitchFamily="34" charset="-120"/>
              </a:rPr>
              <a:t>Jewish Home</a:t>
            </a:r>
            <a:endParaRPr lang="en-US" sz="1400" dirty="0"/>
          </a:p>
        </p:txBody>
      </p:sp>
      <p:sp>
        <p:nvSpPr>
          <p:cNvPr id="20" name="text-62"/>
          <p:cNvSpPr txBox="1"/>
          <p:nvPr/>
        </p:nvSpPr>
        <p:spPr>
          <a:xfrm>
            <a:off x="812800" y="3959721"/>
            <a:ext cx="1842770" cy="182860"/>
          </a:xfrm>
          <a:prstGeom prst="rect">
            <a:avLst/>
          </a:prstGeom>
          <a:noFill/>
          <a:ln/>
        </p:spPr>
        <p:txBody>
          <a:bodyPr wrap="square" lIns="0" tIns="0" rIns="0" bIns="0" rtlCol="0" anchor="t"/>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56,775 votes</a:t>
            </a:r>
            <a:endParaRPr lang="en-US" sz="1200" dirty="0"/>
          </a:p>
        </p:txBody>
      </p:sp>
      <p:sp>
        <p:nvSpPr>
          <p:cNvPr id="21" name="text-63"/>
          <p:cNvSpPr txBox="1"/>
          <p:nvPr/>
        </p:nvSpPr>
        <p:spPr>
          <a:xfrm>
            <a:off x="2505393" y="4277221"/>
            <a:ext cx="424815" cy="198041"/>
          </a:xfrm>
          <a:prstGeom prst="rect">
            <a:avLst/>
          </a:prstGeom>
          <a:noFill/>
          <a:ln/>
        </p:spPr>
        <p:txBody>
          <a:bodyPr wrap="square" lIns="0" tIns="0" rIns="0" bIns="0" rtlCol="0" anchor="t"/>
          <a:lstStyle/>
          <a:p>
            <a:pPr algn="ctr"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0%</a:t>
            </a:r>
            <a:endParaRPr lang="en-US" sz="1200" dirty="0"/>
          </a:p>
        </p:txBody>
      </p:sp>
      <p:sp>
        <p:nvSpPr>
          <p:cNvPr id="22" name="text-64"/>
          <p:cNvSpPr txBox="1"/>
          <p:nvPr/>
        </p:nvSpPr>
        <p:spPr>
          <a:xfrm>
            <a:off x="3521392" y="4277221"/>
            <a:ext cx="424815" cy="198041"/>
          </a:xfrm>
          <a:prstGeom prst="rect">
            <a:avLst/>
          </a:prstGeom>
          <a:noFill/>
          <a:ln/>
        </p:spPr>
        <p:txBody>
          <a:bodyPr wrap="square" lIns="0" tIns="0" rIns="0" bIns="0" rtlCol="0" anchor="t"/>
          <a:lstStyle/>
          <a:p>
            <a:pPr algn="ctr"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1%</a:t>
            </a:r>
            <a:endParaRPr lang="en-US" sz="1200" dirty="0"/>
          </a:p>
        </p:txBody>
      </p:sp>
      <p:sp>
        <p:nvSpPr>
          <p:cNvPr id="23" name="text-65"/>
          <p:cNvSpPr txBox="1"/>
          <p:nvPr/>
        </p:nvSpPr>
        <p:spPr>
          <a:xfrm>
            <a:off x="4537393" y="4277221"/>
            <a:ext cx="424815" cy="198041"/>
          </a:xfrm>
          <a:prstGeom prst="rect">
            <a:avLst/>
          </a:prstGeom>
          <a:noFill/>
          <a:ln/>
        </p:spPr>
        <p:txBody>
          <a:bodyPr wrap="square" lIns="0" tIns="0" rIns="0" bIns="0" rtlCol="0" anchor="t"/>
          <a:lstStyle/>
          <a:p>
            <a:pPr algn="ctr"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2%</a:t>
            </a:r>
            <a:endParaRPr lang="en-US" sz="1200" dirty="0"/>
          </a:p>
        </p:txBody>
      </p:sp>
      <p:sp>
        <p:nvSpPr>
          <p:cNvPr id="24" name="text-66"/>
          <p:cNvSpPr txBox="1"/>
          <p:nvPr/>
        </p:nvSpPr>
        <p:spPr>
          <a:xfrm>
            <a:off x="5553393" y="4277221"/>
            <a:ext cx="424815" cy="198041"/>
          </a:xfrm>
          <a:prstGeom prst="rect">
            <a:avLst/>
          </a:prstGeom>
          <a:noFill/>
          <a:ln/>
        </p:spPr>
        <p:txBody>
          <a:bodyPr wrap="square" lIns="0" tIns="0" rIns="0" bIns="0" rtlCol="0" anchor="t"/>
          <a:lstStyle/>
          <a:p>
            <a:pPr algn="ctr"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3%</a:t>
            </a:r>
            <a:endParaRPr lang="en-US" sz="1200" dirty="0"/>
          </a:p>
        </p:txBody>
      </p:sp>
      <p:sp>
        <p:nvSpPr>
          <p:cNvPr id="25" name="text-67"/>
          <p:cNvSpPr txBox="1"/>
          <p:nvPr/>
        </p:nvSpPr>
        <p:spPr>
          <a:xfrm>
            <a:off x="6569392" y="4277221"/>
            <a:ext cx="424815" cy="198041"/>
          </a:xfrm>
          <a:prstGeom prst="rect">
            <a:avLst/>
          </a:prstGeom>
          <a:noFill/>
          <a:ln/>
        </p:spPr>
        <p:txBody>
          <a:bodyPr wrap="square" lIns="0" tIns="0" rIns="0" bIns="0" rtlCol="0" anchor="t"/>
          <a:lstStyle/>
          <a:p>
            <a:pPr algn="ctr"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4%</a:t>
            </a:r>
            <a:endParaRPr lang="en-US" sz="1200" dirty="0"/>
          </a:p>
        </p:txBody>
      </p:sp>
      <p:sp>
        <p:nvSpPr>
          <p:cNvPr id="26" name="shape-68"/>
          <p:cNvSpPr/>
          <p:nvPr/>
        </p:nvSpPr>
        <p:spPr>
          <a:xfrm>
            <a:off x="7569200" y="1513780"/>
            <a:ext cx="3810000" cy="1277441"/>
          </a:xfrm>
          <a:prstGeom prst="roundRect">
            <a:avLst>
              <a:gd name="adj" fmla="val 5965"/>
            </a:avLst>
          </a:prstGeom>
          <a:solidFill>
            <a:srgbClr val="FBF8F1"/>
          </a:solidFill>
          <a:ln w="6350">
            <a:solidFill>
              <a:srgbClr val="D9D1C1"/>
            </a:solidFill>
            <a:prstDash val="solid"/>
          </a:ln>
        </p:spPr>
      </p:sp>
      <p:sp>
        <p:nvSpPr>
          <p:cNvPr id="27" name="text-69"/>
          <p:cNvSpPr txBox="1"/>
          <p:nvPr/>
        </p:nvSpPr>
        <p:spPr>
          <a:xfrm>
            <a:off x="7778750" y="1672530"/>
            <a:ext cx="3479864" cy="446980"/>
          </a:xfrm>
          <a:prstGeom prst="rect">
            <a:avLst/>
          </a:prstGeom>
          <a:noFill/>
          <a:ln/>
        </p:spPr>
        <p:txBody>
          <a:bodyPr wrap="square" lIns="0" tIns="0" rIns="0" bIns="0" rtlCol="0" anchor="t"/>
          <a:lstStyle/>
          <a:p>
            <a:pPr algn="l" indent="0" marL="0">
              <a:lnSpc>
                <a:spcPts val="3520"/>
              </a:lnSpc>
              <a:buNone/>
            </a:pPr>
            <a:r>
              <a:rPr lang="en-US" sz="3200" dirty="0">
                <a:solidFill>
                  <a:srgbClr val="9A541A"/>
                </a:solidFill>
                <a:latin typeface="Libre Baskerville" pitchFamily="34" charset="0"/>
                <a:ea typeface="Libre Baskerville" pitchFamily="34" charset="-122"/>
                <a:cs typeface="Libre Baskerville" pitchFamily="34" charset="-120"/>
              </a:rPr>
              <a:t>8.7%</a:t>
            </a:r>
            <a:endParaRPr lang="en-US" sz="3200" dirty="0"/>
          </a:p>
        </p:txBody>
      </p:sp>
      <p:sp>
        <p:nvSpPr>
          <p:cNvPr id="28" name="text-70"/>
          <p:cNvSpPr txBox="1"/>
          <p:nvPr/>
        </p:nvSpPr>
        <p:spPr>
          <a:xfrm>
            <a:off x="7778750" y="2170311"/>
            <a:ext cx="3479864" cy="462161"/>
          </a:xfrm>
          <a:prstGeom prst="rect">
            <a:avLst/>
          </a:prstGeom>
          <a:noFill/>
          <a:ln/>
        </p:spPr>
        <p:txBody>
          <a:bodyPr wrap="square" lIns="0" tIns="0" rIns="0" bIns="0" rtlCol="0" anchor="t"/>
          <a:lstStyle/>
          <a:p>
            <a:pPr algn="l" indent="0" marL="0">
              <a:lnSpc>
                <a:spcPts val="1820"/>
              </a:lnSpc>
              <a:buNone/>
            </a:pPr>
            <a:r>
              <a:rPr lang="en-US" sz="1400" dirty="0">
                <a:solidFill>
                  <a:srgbClr val="4F5B69"/>
                </a:solidFill>
                <a:latin typeface="Public Sans" pitchFamily="34" charset="0"/>
                <a:ea typeface="Public Sans" pitchFamily="34" charset="-122"/>
                <a:cs typeface="Public Sans" pitchFamily="34" charset="-120"/>
              </a:rPr>
              <a:t>of all valid votes went to lists that missed the line, a record</a:t>
            </a:r>
            <a:endParaRPr lang="en-US" sz="1400" dirty="0"/>
          </a:p>
        </p:txBody>
      </p:sp>
      <p:sp>
        <p:nvSpPr>
          <p:cNvPr id="29" name="shape-71"/>
          <p:cNvSpPr/>
          <p:nvPr/>
        </p:nvSpPr>
        <p:spPr>
          <a:xfrm>
            <a:off x="7569200" y="2943622"/>
            <a:ext cx="3810000" cy="1277441"/>
          </a:xfrm>
          <a:prstGeom prst="roundRect">
            <a:avLst>
              <a:gd name="adj" fmla="val 5965"/>
            </a:avLst>
          </a:prstGeom>
          <a:solidFill>
            <a:srgbClr val="FBF8F1"/>
          </a:solidFill>
          <a:ln w="6350">
            <a:solidFill>
              <a:srgbClr val="D9D1C1"/>
            </a:solidFill>
            <a:prstDash val="solid"/>
          </a:ln>
        </p:spPr>
      </p:sp>
      <p:sp>
        <p:nvSpPr>
          <p:cNvPr id="30" name="text-72"/>
          <p:cNvSpPr txBox="1"/>
          <p:nvPr/>
        </p:nvSpPr>
        <p:spPr>
          <a:xfrm>
            <a:off x="7778750" y="3102372"/>
            <a:ext cx="3479864"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64–56</a:t>
            </a:r>
            <a:endParaRPr lang="en-US" sz="3200" dirty="0"/>
          </a:p>
        </p:txBody>
      </p:sp>
      <p:sp>
        <p:nvSpPr>
          <p:cNvPr id="31" name="text-73"/>
          <p:cNvSpPr txBox="1"/>
          <p:nvPr/>
        </p:nvSpPr>
        <p:spPr>
          <a:xfrm>
            <a:off x="7778750" y="3600152"/>
            <a:ext cx="3479864" cy="462161"/>
          </a:xfrm>
          <a:prstGeom prst="rect">
            <a:avLst/>
          </a:prstGeom>
          <a:noFill/>
          <a:ln/>
        </p:spPr>
        <p:txBody>
          <a:bodyPr wrap="square" lIns="0" tIns="0" rIns="0" bIns="0" rtlCol="0" anchor="t"/>
          <a:lstStyle/>
          <a:p>
            <a:pPr algn="l" indent="0" marL="0">
              <a:lnSpc>
                <a:spcPts val="1820"/>
              </a:lnSpc>
              <a:buNone/>
            </a:pPr>
            <a:r>
              <a:rPr lang="en-US" sz="1400" dirty="0">
                <a:solidFill>
                  <a:srgbClr val="4F5B69"/>
                </a:solidFill>
                <a:latin typeface="Public Sans" pitchFamily="34" charset="0"/>
                <a:ea typeface="Public Sans" pitchFamily="34" charset="-122"/>
                <a:cs typeface="Public Sans" pitchFamily="34" charset="-120"/>
              </a:rPr>
              <a:t>seats, from roughly 2.36 million vs 2.33 million bloc votes</a:t>
            </a:r>
            <a:endParaRPr lang="en-US" sz="1400" dirty="0"/>
          </a:p>
        </p:txBody>
      </p:sp>
      <p:sp>
        <p:nvSpPr>
          <p:cNvPr id="32" name="shape-74"/>
          <p:cNvSpPr/>
          <p:nvPr/>
        </p:nvSpPr>
        <p:spPr>
          <a:xfrm>
            <a:off x="7569200" y="4373463"/>
            <a:ext cx="3810000" cy="1046361"/>
          </a:xfrm>
          <a:prstGeom prst="roundRect">
            <a:avLst>
              <a:gd name="adj" fmla="val 7282"/>
            </a:avLst>
          </a:prstGeom>
          <a:solidFill>
            <a:srgbClr val="FBF8F1"/>
          </a:solidFill>
          <a:ln w="6350">
            <a:solidFill>
              <a:srgbClr val="D9D1C1"/>
            </a:solidFill>
            <a:prstDash val="solid"/>
          </a:ln>
        </p:spPr>
      </p:sp>
      <p:sp>
        <p:nvSpPr>
          <p:cNvPr id="33" name="text-75"/>
          <p:cNvSpPr txBox="1"/>
          <p:nvPr/>
        </p:nvSpPr>
        <p:spPr>
          <a:xfrm>
            <a:off x="7778750" y="4532213"/>
            <a:ext cx="3479864"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~3,800–4,000</a:t>
            </a:r>
            <a:endParaRPr lang="en-US" sz="3200" dirty="0"/>
          </a:p>
        </p:txBody>
      </p:sp>
      <p:sp>
        <p:nvSpPr>
          <p:cNvPr id="34" name="text-76"/>
          <p:cNvSpPr txBox="1"/>
          <p:nvPr/>
        </p:nvSpPr>
        <p:spPr>
          <a:xfrm>
            <a:off x="7778750" y="5029994"/>
            <a:ext cx="3479864" cy="231080"/>
          </a:xfrm>
          <a:prstGeom prst="rect">
            <a:avLst/>
          </a:prstGeom>
          <a:noFill/>
          <a:ln/>
        </p:spPr>
        <p:txBody>
          <a:bodyPr wrap="square" lIns="0" tIns="0" rIns="0" bIns="0" rtlCol="0" anchor="t"/>
          <a:lstStyle/>
          <a:p>
            <a:pPr algn="l" indent="0" marL="0">
              <a:lnSpc>
                <a:spcPts val="1820"/>
              </a:lnSpc>
              <a:buNone/>
            </a:pPr>
            <a:r>
              <a:rPr lang="en-US" sz="1400" dirty="0">
                <a:solidFill>
                  <a:srgbClr val="4F5B69"/>
                </a:solidFill>
                <a:latin typeface="Public Sans" pitchFamily="34" charset="0"/>
                <a:ea typeface="Public Sans" pitchFamily="34" charset="-122"/>
                <a:cs typeface="Public Sans" pitchFamily="34" charset="-120"/>
              </a:rPr>
              <a:t>votes: how far Meretz fell short</a:t>
            </a:r>
            <a:endParaRPr lang="en-US" sz="1400" dirty="0"/>
          </a:p>
        </p:txBody>
      </p:sp>
      <p:sp>
        <p:nvSpPr>
          <p:cNvPr id="35" name="text-77"/>
          <p:cNvSpPr txBox="1"/>
          <p:nvPr/>
        </p:nvSpPr>
        <p:spPr>
          <a:xfrm>
            <a:off x="812800" y="6253559"/>
            <a:ext cx="10762996" cy="19804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IDI (Shapira), Nov 8, 2022; Wikipedia, 2022 Knesset election; Times of Israel, Nov 3 and Nov 7, 2022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FE4"/>
        </a:solidFill>
      </p:bgPr>
    </p:bg>
    <p:spTree>
      <p:nvGrpSpPr>
        <p:cNvPr id="1" name=""/>
        <p:cNvGrpSpPr/>
        <p:nvPr/>
      </p:nvGrpSpPr>
      <p:grpSpPr>
        <a:xfrm>
          <a:off x="0" y="0"/>
          <a:ext cx="0" cy="0"/>
          <a:chOff x="0" y="0"/>
          <a:chExt cx="0" cy="0"/>
        </a:xfrm>
      </p:grpSpPr>
      <p:sp>
        <p:nvSpPr>
          <p:cNvPr id="2" name="text-78"/>
          <p:cNvSpPr txBox="1"/>
          <p:nvPr/>
        </p:nvSpPr>
        <p:spPr>
          <a:xfrm>
            <a:off x="812800" y="812800"/>
            <a:ext cx="10762996"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How seats are handed out</a:t>
            </a:r>
            <a:endParaRPr lang="en-US" sz="3200" dirty="0"/>
          </a:p>
        </p:txBody>
      </p:sp>
      <p:sp>
        <p:nvSpPr>
          <p:cNvPr id="3" name="text-79"/>
          <p:cNvSpPr txBox="1"/>
          <p:nvPr/>
        </p:nvSpPr>
        <p:spPr>
          <a:xfrm>
            <a:off x="812800" y="1513780"/>
            <a:ext cx="5978002" cy="274241"/>
          </a:xfrm>
          <a:prstGeom prst="rect">
            <a:avLst/>
          </a:prstGeom>
          <a:noFill/>
          <a:ln/>
        </p:spPr>
        <p:txBody>
          <a:bodyPr wrap="square" lIns="0" tIns="0" rIns="0" bIns="0" rtlCol="0" anchor="t"/>
          <a:lstStyle/>
          <a:p>
            <a:pPr algn="l" indent="0" marL="0">
              <a:lnSpc>
                <a:spcPts val="2160"/>
              </a:lnSpc>
              <a:buNone/>
            </a:pPr>
            <a:r>
              <a:rPr lang="en-US" sz="1800" dirty="0">
                <a:solidFill>
                  <a:srgbClr val="15253D"/>
                </a:solidFill>
                <a:latin typeface="Libre Baskerville" pitchFamily="34" charset="0"/>
                <a:ea typeface="Libre Baskerville" pitchFamily="34" charset="-122"/>
                <a:cs typeface="Libre Baskerville" pitchFamily="34" charset="-120"/>
              </a:rPr>
              <a:t>Five steps after the polls close</a:t>
            </a:r>
            <a:endParaRPr lang="en-US" sz="1800" dirty="0"/>
          </a:p>
        </p:txBody>
      </p:sp>
      <p:sp>
        <p:nvSpPr>
          <p:cNvPr id="4" name="shape-80"/>
          <p:cNvSpPr/>
          <p:nvPr/>
        </p:nvSpPr>
        <p:spPr>
          <a:xfrm>
            <a:off x="812800" y="1915021"/>
            <a:ext cx="406400" cy="406400"/>
          </a:xfrm>
          <a:prstGeom prst="roundRect">
            <a:avLst>
              <a:gd name="adj" fmla="val 50000"/>
            </a:avLst>
          </a:prstGeom>
          <a:solidFill>
            <a:srgbClr val="15253D"/>
          </a:solidFill>
          <a:ln/>
        </p:spPr>
      </p:sp>
      <p:sp>
        <p:nvSpPr>
          <p:cNvPr id="5" name="text-81"/>
          <p:cNvSpPr txBox="1"/>
          <p:nvPr/>
        </p:nvSpPr>
        <p:spPr>
          <a:xfrm>
            <a:off x="790702" y="1915021"/>
            <a:ext cx="450596" cy="406400"/>
          </a:xfrm>
          <a:prstGeom prst="rect">
            <a:avLst/>
          </a:prstGeom>
          <a:noFill/>
          <a:ln/>
        </p:spPr>
        <p:txBody>
          <a:bodyPr wrap="square" lIns="0" tIns="0" rIns="0" bIns="0" rtlCol="0" anchor="ctr"/>
          <a:lstStyle/>
          <a:p>
            <a:pPr algn="ctr" indent="0" marL="0">
              <a:buNone/>
            </a:pPr>
            <a:r>
              <a:rPr lang="en-US" sz="1400" b="1" dirty="0">
                <a:solidFill>
                  <a:srgbClr val="F4EFE4"/>
                </a:solidFill>
                <a:latin typeface="Public Sans" pitchFamily="34" charset="0"/>
                <a:ea typeface="Public Sans" pitchFamily="34" charset="-122"/>
                <a:cs typeface="Public Sans" pitchFamily="34" charset="-120"/>
              </a:rPr>
              <a:t>1</a:t>
            </a:r>
            <a:endParaRPr lang="en-US" sz="1400" dirty="0"/>
          </a:p>
        </p:txBody>
      </p:sp>
      <p:sp>
        <p:nvSpPr>
          <p:cNvPr id="6" name="text-82"/>
          <p:cNvSpPr txBox="1"/>
          <p:nvPr/>
        </p:nvSpPr>
        <p:spPr>
          <a:xfrm>
            <a:off x="1371600" y="1915021"/>
            <a:ext cx="5410820" cy="248841"/>
          </a:xfrm>
          <a:prstGeom prst="rect">
            <a:avLst/>
          </a:prstGeom>
          <a:noFill/>
          <a:ln/>
        </p:spPr>
        <p:txBody>
          <a:bodyPr wrap="square" lIns="0" tIns="0" rIns="0" bIns="0" rtlCol="0" anchor="t"/>
          <a:lstStyle/>
          <a:p>
            <a:pPr algn="l" indent="0" marL="0">
              <a:lnSpc>
                <a:spcPts val="1960"/>
              </a:lnSpc>
              <a:buNone/>
            </a:pPr>
            <a:r>
              <a:rPr lang="en-US" sz="1400" dirty="0">
                <a:solidFill>
                  <a:srgbClr val="1B2634"/>
                </a:solidFill>
                <a:latin typeface="Public Sans" pitchFamily="34" charset="0"/>
                <a:ea typeface="Public Sans" pitchFamily="34" charset="-122"/>
                <a:cs typeface="Public Sans" pitchFamily="34" charset="-120"/>
              </a:rPr>
              <a:t>Throw out every vote cast for a list under 3.25%.</a:t>
            </a:r>
            <a:endParaRPr lang="en-US" sz="1400" dirty="0"/>
          </a:p>
        </p:txBody>
      </p:sp>
      <p:sp>
        <p:nvSpPr>
          <p:cNvPr id="7" name="shape-83"/>
          <p:cNvSpPr/>
          <p:nvPr/>
        </p:nvSpPr>
        <p:spPr>
          <a:xfrm>
            <a:off x="812800" y="2448421"/>
            <a:ext cx="406400" cy="406400"/>
          </a:xfrm>
          <a:prstGeom prst="roundRect">
            <a:avLst>
              <a:gd name="adj" fmla="val 50000"/>
            </a:avLst>
          </a:prstGeom>
          <a:solidFill>
            <a:srgbClr val="15253D"/>
          </a:solidFill>
          <a:ln/>
        </p:spPr>
      </p:sp>
      <p:sp>
        <p:nvSpPr>
          <p:cNvPr id="8" name="text-84"/>
          <p:cNvSpPr txBox="1"/>
          <p:nvPr/>
        </p:nvSpPr>
        <p:spPr>
          <a:xfrm>
            <a:off x="790702" y="2448421"/>
            <a:ext cx="450596" cy="406400"/>
          </a:xfrm>
          <a:prstGeom prst="rect">
            <a:avLst/>
          </a:prstGeom>
          <a:noFill/>
          <a:ln/>
        </p:spPr>
        <p:txBody>
          <a:bodyPr wrap="square" lIns="0" tIns="0" rIns="0" bIns="0" rtlCol="0" anchor="ctr"/>
          <a:lstStyle/>
          <a:p>
            <a:pPr algn="ctr" indent="0" marL="0">
              <a:buNone/>
            </a:pPr>
            <a:r>
              <a:rPr lang="en-US" sz="1400" b="1" dirty="0">
                <a:solidFill>
                  <a:srgbClr val="F4EFE4"/>
                </a:solidFill>
                <a:latin typeface="Public Sans" pitchFamily="34" charset="0"/>
                <a:ea typeface="Public Sans" pitchFamily="34" charset="-122"/>
                <a:cs typeface="Public Sans" pitchFamily="34" charset="-120"/>
              </a:rPr>
              <a:t>2</a:t>
            </a:r>
            <a:endParaRPr lang="en-US" sz="1400" dirty="0"/>
          </a:p>
        </p:txBody>
      </p:sp>
      <p:sp>
        <p:nvSpPr>
          <p:cNvPr id="9" name="text-85"/>
          <p:cNvSpPr txBox="1"/>
          <p:nvPr/>
        </p:nvSpPr>
        <p:spPr>
          <a:xfrm>
            <a:off x="1371600" y="2448421"/>
            <a:ext cx="5410820" cy="497681"/>
          </a:xfrm>
          <a:prstGeom prst="rect">
            <a:avLst/>
          </a:prstGeom>
          <a:noFill/>
          <a:ln/>
        </p:spPr>
        <p:txBody>
          <a:bodyPr wrap="square" lIns="0" tIns="0" rIns="0" bIns="0" rtlCol="0" anchor="t"/>
          <a:lstStyle/>
          <a:p>
            <a:pPr algn="l" indent="0" marL="0">
              <a:lnSpc>
                <a:spcPts val="1960"/>
              </a:lnSpc>
              <a:buNone/>
            </a:pPr>
            <a:r>
              <a:rPr lang="en-US" sz="1400" dirty="0">
                <a:solidFill>
                  <a:srgbClr val="1B2634"/>
                </a:solidFill>
                <a:latin typeface="Public Sans" pitchFamily="34" charset="0"/>
                <a:ea typeface="Public Sans" pitchFamily="34" charset="-122"/>
                <a:cs typeface="Public Sans" pitchFamily="34" charset="-120"/>
              </a:rPr>
              <a:t>Divide the votes that remain by 120. That is the price of one seat (in 2022, 36,227 votes).</a:t>
            </a:r>
            <a:endParaRPr lang="en-US" sz="1400" dirty="0"/>
          </a:p>
        </p:txBody>
      </p:sp>
      <p:sp>
        <p:nvSpPr>
          <p:cNvPr id="10" name="shape-86"/>
          <p:cNvSpPr/>
          <p:nvPr/>
        </p:nvSpPr>
        <p:spPr>
          <a:xfrm>
            <a:off x="812800" y="3073102"/>
            <a:ext cx="406400" cy="406400"/>
          </a:xfrm>
          <a:prstGeom prst="roundRect">
            <a:avLst>
              <a:gd name="adj" fmla="val 50000"/>
            </a:avLst>
          </a:prstGeom>
          <a:solidFill>
            <a:srgbClr val="15253D"/>
          </a:solidFill>
          <a:ln/>
        </p:spPr>
      </p:sp>
      <p:sp>
        <p:nvSpPr>
          <p:cNvPr id="11" name="text-87"/>
          <p:cNvSpPr txBox="1"/>
          <p:nvPr/>
        </p:nvSpPr>
        <p:spPr>
          <a:xfrm>
            <a:off x="790702" y="3073102"/>
            <a:ext cx="450596" cy="406400"/>
          </a:xfrm>
          <a:prstGeom prst="rect">
            <a:avLst/>
          </a:prstGeom>
          <a:noFill/>
          <a:ln/>
        </p:spPr>
        <p:txBody>
          <a:bodyPr wrap="square" lIns="0" tIns="0" rIns="0" bIns="0" rtlCol="0" anchor="ctr"/>
          <a:lstStyle/>
          <a:p>
            <a:pPr algn="ctr" indent="0" marL="0">
              <a:buNone/>
            </a:pPr>
            <a:r>
              <a:rPr lang="en-US" sz="1400" b="1" dirty="0">
                <a:solidFill>
                  <a:srgbClr val="F4EFE4"/>
                </a:solidFill>
                <a:latin typeface="Public Sans" pitchFamily="34" charset="0"/>
                <a:ea typeface="Public Sans" pitchFamily="34" charset="-122"/>
                <a:cs typeface="Public Sans" pitchFamily="34" charset="-120"/>
              </a:rPr>
              <a:t>3</a:t>
            </a:r>
            <a:endParaRPr lang="en-US" sz="1400" dirty="0"/>
          </a:p>
        </p:txBody>
      </p:sp>
      <p:sp>
        <p:nvSpPr>
          <p:cNvPr id="12" name="text-88"/>
          <p:cNvSpPr txBox="1"/>
          <p:nvPr/>
        </p:nvSpPr>
        <p:spPr>
          <a:xfrm>
            <a:off x="1371600" y="3073102"/>
            <a:ext cx="5410820" cy="497681"/>
          </a:xfrm>
          <a:prstGeom prst="rect">
            <a:avLst/>
          </a:prstGeom>
          <a:noFill/>
          <a:ln/>
        </p:spPr>
        <p:txBody>
          <a:bodyPr wrap="square" lIns="0" tIns="0" rIns="0" bIns="0" rtlCol="0" anchor="t"/>
          <a:lstStyle/>
          <a:p>
            <a:pPr algn="l" indent="0" marL="0">
              <a:lnSpc>
                <a:spcPts val="1960"/>
              </a:lnSpc>
              <a:buNone/>
            </a:pPr>
            <a:r>
              <a:rPr lang="en-US" sz="1400" dirty="0">
                <a:solidFill>
                  <a:srgbClr val="1B2634"/>
                </a:solidFill>
                <a:latin typeface="Public Sans" pitchFamily="34" charset="0"/>
                <a:ea typeface="Public Sans" pitchFamily="34" charset="-122"/>
                <a:cs typeface="Public Sans" pitchFamily="34" charset="-120"/>
              </a:rPr>
              <a:t>Each list gets one seat for every full price it collected. A few seats are left over (7 in 2022).</a:t>
            </a:r>
            <a:endParaRPr lang="en-US" sz="1400" dirty="0"/>
          </a:p>
        </p:txBody>
      </p:sp>
      <p:sp>
        <p:nvSpPr>
          <p:cNvPr id="13" name="shape-89"/>
          <p:cNvSpPr/>
          <p:nvPr/>
        </p:nvSpPr>
        <p:spPr>
          <a:xfrm>
            <a:off x="812800" y="3697784"/>
            <a:ext cx="406400" cy="406400"/>
          </a:xfrm>
          <a:prstGeom prst="roundRect">
            <a:avLst>
              <a:gd name="adj" fmla="val 50000"/>
            </a:avLst>
          </a:prstGeom>
          <a:solidFill>
            <a:srgbClr val="15253D"/>
          </a:solidFill>
          <a:ln/>
        </p:spPr>
      </p:sp>
      <p:sp>
        <p:nvSpPr>
          <p:cNvPr id="14" name="text-90"/>
          <p:cNvSpPr txBox="1"/>
          <p:nvPr/>
        </p:nvSpPr>
        <p:spPr>
          <a:xfrm>
            <a:off x="790702" y="3697784"/>
            <a:ext cx="450596" cy="406400"/>
          </a:xfrm>
          <a:prstGeom prst="rect">
            <a:avLst/>
          </a:prstGeom>
          <a:noFill/>
          <a:ln/>
        </p:spPr>
        <p:txBody>
          <a:bodyPr wrap="square" lIns="0" tIns="0" rIns="0" bIns="0" rtlCol="0" anchor="ctr"/>
          <a:lstStyle/>
          <a:p>
            <a:pPr algn="ctr" indent="0" marL="0">
              <a:buNone/>
            </a:pPr>
            <a:r>
              <a:rPr lang="en-US" sz="1400" b="1" dirty="0">
                <a:solidFill>
                  <a:srgbClr val="F4EFE4"/>
                </a:solidFill>
                <a:latin typeface="Public Sans" pitchFamily="34" charset="0"/>
                <a:ea typeface="Public Sans" pitchFamily="34" charset="-122"/>
                <a:cs typeface="Public Sans" pitchFamily="34" charset="-120"/>
              </a:rPr>
              <a:t>4</a:t>
            </a:r>
            <a:endParaRPr lang="en-US" sz="1400" dirty="0"/>
          </a:p>
        </p:txBody>
      </p:sp>
      <p:sp>
        <p:nvSpPr>
          <p:cNvPr id="15" name="text-91"/>
          <p:cNvSpPr txBox="1"/>
          <p:nvPr/>
        </p:nvSpPr>
        <p:spPr>
          <a:xfrm>
            <a:off x="1371600" y="3697784"/>
            <a:ext cx="5410820" cy="746522"/>
          </a:xfrm>
          <a:prstGeom prst="rect">
            <a:avLst/>
          </a:prstGeom>
          <a:noFill/>
          <a:ln/>
        </p:spPr>
        <p:txBody>
          <a:bodyPr wrap="square" lIns="0" tIns="0" rIns="0" bIns="0" rtlCol="0" anchor="t"/>
          <a:lstStyle/>
          <a:p>
            <a:pPr algn="l" indent="0" marL="0">
              <a:lnSpc>
                <a:spcPts val="1960"/>
              </a:lnSpc>
              <a:buNone/>
            </a:pPr>
            <a:r>
              <a:rPr lang="en-US" sz="1400" dirty="0">
                <a:solidFill>
                  <a:srgbClr val="1B2634"/>
                </a:solidFill>
                <a:latin typeface="Public Sans" pitchFamily="34" charset="0"/>
                <a:ea typeface="Public Sans" pitchFamily="34" charset="-122"/>
                <a:cs typeface="Public Sans" pitchFamily="34" charset="-120"/>
              </a:rPr>
              <a:t>Leftover seats go out one at a time: divide each list's votes by its seats plus one; the biggest number wins a seat. Recalculate and repeat. Paired lists count as one.</a:t>
            </a:r>
            <a:endParaRPr lang="en-US" sz="1400" dirty="0"/>
          </a:p>
        </p:txBody>
      </p:sp>
      <p:sp>
        <p:nvSpPr>
          <p:cNvPr id="16" name="shape-92"/>
          <p:cNvSpPr/>
          <p:nvPr/>
        </p:nvSpPr>
        <p:spPr>
          <a:xfrm>
            <a:off x="812800" y="4571305"/>
            <a:ext cx="406400" cy="406400"/>
          </a:xfrm>
          <a:prstGeom prst="roundRect">
            <a:avLst>
              <a:gd name="adj" fmla="val 50000"/>
            </a:avLst>
          </a:prstGeom>
          <a:solidFill>
            <a:srgbClr val="15253D"/>
          </a:solidFill>
          <a:ln/>
        </p:spPr>
      </p:sp>
      <p:sp>
        <p:nvSpPr>
          <p:cNvPr id="17" name="text-93"/>
          <p:cNvSpPr txBox="1"/>
          <p:nvPr/>
        </p:nvSpPr>
        <p:spPr>
          <a:xfrm>
            <a:off x="790702" y="4571305"/>
            <a:ext cx="450596" cy="406400"/>
          </a:xfrm>
          <a:prstGeom prst="rect">
            <a:avLst/>
          </a:prstGeom>
          <a:noFill/>
          <a:ln/>
        </p:spPr>
        <p:txBody>
          <a:bodyPr wrap="square" lIns="0" tIns="0" rIns="0" bIns="0" rtlCol="0" anchor="ctr"/>
          <a:lstStyle/>
          <a:p>
            <a:pPr algn="ctr" indent="0" marL="0">
              <a:buNone/>
            </a:pPr>
            <a:r>
              <a:rPr lang="en-US" sz="1400" b="1" dirty="0">
                <a:solidFill>
                  <a:srgbClr val="F4EFE4"/>
                </a:solidFill>
                <a:latin typeface="Public Sans" pitchFamily="34" charset="0"/>
                <a:ea typeface="Public Sans" pitchFamily="34" charset="-122"/>
                <a:cs typeface="Public Sans" pitchFamily="34" charset="-120"/>
              </a:rPr>
              <a:t>5</a:t>
            </a:r>
            <a:endParaRPr lang="en-US" sz="1400" dirty="0"/>
          </a:p>
        </p:txBody>
      </p:sp>
      <p:sp>
        <p:nvSpPr>
          <p:cNvPr id="18" name="text-94"/>
          <p:cNvSpPr txBox="1"/>
          <p:nvPr/>
        </p:nvSpPr>
        <p:spPr>
          <a:xfrm>
            <a:off x="1371600" y="4571305"/>
            <a:ext cx="5410820" cy="248841"/>
          </a:xfrm>
          <a:prstGeom prst="rect">
            <a:avLst/>
          </a:prstGeom>
          <a:noFill/>
          <a:ln/>
        </p:spPr>
        <p:txBody>
          <a:bodyPr wrap="square" lIns="0" tIns="0" rIns="0" bIns="0" rtlCol="0" anchor="t"/>
          <a:lstStyle/>
          <a:p>
            <a:pPr algn="l" indent="0" marL="0">
              <a:lnSpc>
                <a:spcPts val="1960"/>
              </a:lnSpc>
              <a:buNone/>
            </a:pPr>
            <a:r>
              <a:rPr lang="en-US" sz="1400" dirty="0">
                <a:solidFill>
                  <a:srgbClr val="1B2634"/>
                </a:solidFill>
                <a:latin typeface="Public Sans" pitchFamily="34" charset="0"/>
                <a:ea typeface="Public Sans" pitchFamily="34" charset="-122"/>
                <a:cs typeface="Public Sans" pitchFamily="34" charset="-120"/>
              </a:rPr>
              <a:t>If a pair wins a seat, the same rule decides which partner gets it.</a:t>
            </a:r>
            <a:endParaRPr lang="en-US" sz="1400" dirty="0"/>
          </a:p>
        </p:txBody>
      </p:sp>
      <p:sp>
        <p:nvSpPr>
          <p:cNvPr id="19" name="shape-95"/>
          <p:cNvSpPr/>
          <p:nvPr/>
        </p:nvSpPr>
        <p:spPr>
          <a:xfrm>
            <a:off x="6969720" y="1513780"/>
            <a:ext cx="4409480" cy="2785765"/>
          </a:xfrm>
          <a:prstGeom prst="roundRect">
            <a:avLst>
              <a:gd name="adj" fmla="val 2735"/>
            </a:avLst>
          </a:prstGeom>
          <a:solidFill>
            <a:srgbClr val="15253D"/>
          </a:solidFill>
          <a:ln/>
        </p:spPr>
      </p:sp>
      <p:sp>
        <p:nvSpPr>
          <p:cNvPr id="20" name="text-96"/>
          <p:cNvSpPr txBox="1"/>
          <p:nvPr/>
        </p:nvSpPr>
        <p:spPr>
          <a:xfrm>
            <a:off x="7223720" y="1767780"/>
            <a:ext cx="3998102" cy="274241"/>
          </a:xfrm>
          <a:prstGeom prst="rect">
            <a:avLst/>
          </a:prstGeom>
          <a:noFill/>
          <a:ln/>
        </p:spPr>
        <p:txBody>
          <a:bodyPr wrap="square" lIns="0" tIns="0" rIns="0" bIns="0" rtlCol="0" anchor="t"/>
          <a:lstStyle/>
          <a:p>
            <a:pPr algn="l" indent="0" marL="0">
              <a:lnSpc>
                <a:spcPts val="2160"/>
              </a:lnSpc>
              <a:buNone/>
            </a:pPr>
            <a:r>
              <a:rPr lang="en-US" sz="1800" dirty="0">
                <a:solidFill>
                  <a:srgbClr val="E2AD6E"/>
                </a:solidFill>
                <a:latin typeface="Libre Baskerville" pitchFamily="34" charset="0"/>
                <a:ea typeface="Libre Baskerville" pitchFamily="34" charset="-122"/>
                <a:cs typeface="Libre Baskerville" pitchFamily="34" charset="-120"/>
              </a:rPr>
              <a:t>Surplus-vote agreements</a:t>
            </a:r>
            <a:endParaRPr lang="en-US" sz="1800" dirty="0"/>
          </a:p>
        </p:txBody>
      </p:sp>
      <p:sp>
        <p:nvSpPr>
          <p:cNvPr id="21" name="text-97"/>
          <p:cNvSpPr txBox="1"/>
          <p:nvPr/>
        </p:nvSpPr>
        <p:spPr>
          <a:xfrm>
            <a:off x="7223720" y="2143621"/>
            <a:ext cx="3998102" cy="995363"/>
          </a:xfrm>
          <a:prstGeom prst="rect">
            <a:avLst/>
          </a:prstGeom>
          <a:noFill/>
          <a:ln/>
        </p:spPr>
        <p:txBody>
          <a:bodyPr wrap="square" lIns="0" tIns="0" rIns="0" bIns="0" rtlCol="0" anchor="t"/>
          <a:lstStyle/>
          <a:p>
            <a:pPr algn="l" indent="0" marL="0">
              <a:lnSpc>
                <a:spcPts val="1960"/>
              </a:lnSpc>
              <a:buNone/>
            </a:pPr>
            <a:r>
              <a:rPr lang="en-US" sz="1400" dirty="0">
                <a:solidFill>
                  <a:srgbClr val="F4EFE4"/>
                </a:solidFill>
                <a:latin typeface="Public Sans" pitchFamily="34" charset="0"/>
                <a:ea typeface="Public Sans" pitchFamily="34" charset="-122"/>
                <a:cs typeface="Public Sans" pitchFamily="34" charset="-120"/>
              </a:rPr>
              <a:t>Two lists can sign an agreement before the election to be treated as one list when the leftover seats are handed out. It counts only if both lists pass the threshold.</a:t>
            </a:r>
            <a:endParaRPr lang="en-US" sz="1400" dirty="0"/>
          </a:p>
        </p:txBody>
      </p:sp>
      <p:sp>
        <p:nvSpPr>
          <p:cNvPr id="22" name="text-98"/>
          <p:cNvSpPr txBox="1"/>
          <p:nvPr/>
        </p:nvSpPr>
        <p:spPr>
          <a:xfrm>
            <a:off x="7223720" y="3240584"/>
            <a:ext cx="3998102" cy="205680"/>
          </a:xfrm>
          <a:prstGeom prst="rect">
            <a:avLst/>
          </a:prstGeom>
          <a:noFill/>
          <a:ln/>
        </p:spPr>
        <p:txBody>
          <a:bodyPr wrap="square" lIns="0" tIns="0" rIns="0" bIns="0" rtlCol="0" anchor="t"/>
          <a:lstStyle/>
          <a:p>
            <a:pPr algn="l" indent="0" marL="0">
              <a:lnSpc>
                <a:spcPts val="1620"/>
              </a:lnSpc>
              <a:buNone/>
            </a:pPr>
            <a:r>
              <a:rPr lang="en-US" sz="1200" b="1" spc="100" kern="0" dirty="0">
                <a:solidFill>
                  <a:srgbClr val="E2AD6E"/>
                </a:solidFill>
                <a:latin typeface="Public Sans" pitchFamily="34" charset="0"/>
                <a:ea typeface="Public Sans" pitchFamily="34" charset="-122"/>
                <a:cs typeface="Public Sans" pitchFamily="34" charset="-120"/>
              </a:rPr>
              <a:t>SIGNED FOR 2026</a:t>
            </a:r>
            <a:endParaRPr lang="en-US" sz="1200" dirty="0"/>
          </a:p>
        </p:txBody>
      </p:sp>
      <p:sp>
        <p:nvSpPr>
          <p:cNvPr id="23" name="list-99"/>
          <p:cNvSpPr txBox="1"/>
          <p:nvPr/>
        </p:nvSpPr>
        <p:spPr>
          <a:xfrm>
            <a:off x="7223720" y="3547864"/>
            <a:ext cx="3998102" cy="497681"/>
          </a:xfrm>
          <a:prstGeom prst="rect">
            <a:avLst/>
          </a:prstGeom>
          <a:noFill/>
          <a:ln/>
        </p:spPr>
        <p:txBody>
          <a:bodyPr wrap="square" lIns="0" tIns="0" rIns="0" bIns="0" rtlCol="0" anchor="t"/>
          <a:lstStyle/>
          <a:p>
            <a:pPr marL="213360" indent="-213360">
              <a:lnSpc>
                <a:spcPts val="1960"/>
              </a:lnSpc>
              <a:buSzPct val="100000"/>
              <a:buChar char="•"/>
            </a:pPr>
            <a:r>
              <a:rPr lang="en-US" sz="1400" dirty="0">
                <a:solidFill>
                  <a:srgbClr val="F4EFE4"/>
                </a:solidFill>
                <a:latin typeface="Public Sans" pitchFamily="34" charset="0"/>
                <a:ea typeface="Public Sans" pitchFamily="34" charset="-122"/>
                <a:cs typeface="Public Sans" pitchFamily="34" charset="-120"/>
              </a:rPr>
              <a:t>Yashar + The Democrats</a:t>
            </a:r>
            <a:endParaRPr lang="en-US" sz="1400" dirty="0"/>
          </a:p>
          <a:p>
            <a:pPr marL="213360" indent="-213360">
              <a:lnSpc>
                <a:spcPts val="1960"/>
              </a:lnSpc>
              <a:buSzPct val="100000"/>
              <a:buChar char="•"/>
            </a:pPr>
            <a:r>
              <a:rPr lang="en-US" sz="1400" dirty="0">
                <a:solidFill>
                  <a:srgbClr val="F4EFE4"/>
                </a:solidFill>
                <a:latin typeface="Public Sans" pitchFamily="34" charset="0"/>
                <a:ea typeface="Public Sans" pitchFamily="34" charset="-122"/>
                <a:cs typeface="Public Sans" pitchFamily="34" charset="-120"/>
              </a:rPr>
              <a:t>B'Yachad + Yisrael Beiteinu</a:t>
            </a:r>
            <a:endParaRPr lang="en-US" sz="1400" dirty="0"/>
          </a:p>
        </p:txBody>
      </p:sp>
      <p:sp>
        <p:nvSpPr>
          <p:cNvPr id="24" name="text-100"/>
          <p:cNvSpPr txBox="1"/>
          <p:nvPr/>
        </p:nvSpPr>
        <p:spPr>
          <a:xfrm>
            <a:off x="812800" y="6055519"/>
            <a:ext cx="10762996" cy="39608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IDI (Kenig), Mar 16, 2026; Shugart, Fruits and Votes, Sep 8, 2026; IDI, Oct 30, 2022; IDI (Shapira &amp; Rahat), Apr 27, 2026; Israel Policy Forum, Sep 24, 2026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FE4"/>
        </a:solidFill>
      </p:bgPr>
    </p:bg>
    <p:spTree>
      <p:nvGrpSpPr>
        <p:cNvPr id="1" name=""/>
        <p:cNvGrpSpPr/>
        <p:nvPr/>
      </p:nvGrpSpPr>
      <p:grpSpPr>
        <a:xfrm>
          <a:off x="0" y="0"/>
          <a:ext cx="0" cy="0"/>
          <a:chOff x="0" y="0"/>
          <a:chExt cx="0" cy="0"/>
        </a:xfrm>
      </p:grpSpPr>
      <p:sp>
        <p:nvSpPr>
          <p:cNvPr id="2" name="text-101"/>
          <p:cNvSpPr txBox="1"/>
          <p:nvPr/>
        </p:nvSpPr>
        <p:spPr>
          <a:xfrm>
            <a:off x="812800" y="812800"/>
            <a:ext cx="10762996"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2022, worked</a:t>
            </a:r>
            <a:endParaRPr lang="en-US" sz="3200" dirty="0"/>
          </a:p>
        </p:txBody>
      </p:sp>
      <p:sp>
        <p:nvSpPr>
          <p:cNvPr id="3" name="text-102"/>
          <p:cNvSpPr txBox="1"/>
          <p:nvPr/>
        </p:nvSpPr>
        <p:spPr>
          <a:xfrm>
            <a:off x="812800" y="1513780"/>
            <a:ext cx="6483350" cy="480020"/>
          </a:xfrm>
          <a:prstGeom prst="rect">
            <a:avLst/>
          </a:prstGeom>
          <a:noFill/>
          <a:ln/>
        </p:spPr>
        <p:txBody>
          <a:bodyPr wrap="square" lIns="0" tIns="0" rIns="0" bIns="0" rtlCol="0" anchor="t"/>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4,347,342 votes above the line ÷ 120 = </a:t>
            </a:r>
            <a:pPr algn="l" indent="0" marL="0">
              <a:lnSpc>
                <a:spcPts val="1890"/>
              </a:lnSpc>
              <a:buNone/>
            </a:pPr>
            <a:r>
              <a:rPr lang="en-US" sz="1400" b="1" dirty="0">
                <a:solidFill>
                  <a:srgbClr val="1B2634"/>
                </a:solidFill>
                <a:latin typeface="Public Sans" pitchFamily="34" charset="0"/>
                <a:ea typeface="Public Sans" pitchFamily="34" charset="-122"/>
                <a:cs typeface="Public Sans" pitchFamily="34" charset="-120"/>
              </a:rPr>
              <a:t>36,227</a:t>
            </a:r>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 a seat. Whole seats: 113. Left over: 7.</a:t>
            </a:r>
            <a:endParaRPr lang="en-US" sz="1400" dirty="0"/>
          </a:p>
        </p:txBody>
      </p:sp>
      <p:graphicFrame>
        <p:nvGraphicFramePr>
          <p:cNvPr id="8" name="table-103"/>
          <p:cNvGraphicFramePr>
            <a:graphicFrameLocks noGrp="1"/>
          </p:cNvGraphicFramePr>
          <p:nvPr>
            <p:extLst>
              <p:ext uri="{D42A27DB-BD31-4B8C-83A1-F6EECF244321}">
                <p14:modId xmlns:p14="http://schemas.microsoft.com/office/powerpoint/2010/main" val="1579011935"/>
              </p:ext>
            </p:extLst>
          </p:nvPr>
        </p:nvGraphicFramePr>
        <p:xfrm>
          <a:off x="812800" y="2146201"/>
          <a:ext cx="6350000" cy="914400"/>
        </p:xfrm>
        <a:graphic>
          <a:graphicData uri="http://schemas.openxmlformats.org/drawingml/2006/table">
            <a:tbl>
              <a:tblPr/>
              <a:tblGrid>
                <a:gridCol w="2347119"/>
                <a:gridCol w="1268710"/>
                <a:gridCol w="1078409"/>
                <a:gridCol w="1649413"/>
              </a:tblGrid>
              <a:tr h="567531">
                <a:tc>
                  <a:txBody>
                    <a:bodyPr/>
                    <a:lstStyle/>
                    <a:p>
                      <a:pPr algn="l" indent="0" marL="0">
                        <a:lnSpc>
                          <a:spcPts val="1755"/>
                        </a:lnSpc>
                        <a:buNone/>
                      </a:pPr>
                      <a:r>
                        <a:rPr lang="en-US" sz="1300" b="1" dirty="0">
                          <a:solidFill>
                            <a:srgbClr val="F4EFE4"/>
                          </a:solidFill>
                          <a:latin typeface="Public Sans" pitchFamily="34" charset="0"/>
                          <a:ea typeface="Public Sans" pitchFamily="34" charset="-122"/>
                          <a:cs typeface="Public Sans" pitchFamily="34" charset="-120"/>
                        </a:rPr>
                        <a:t>List or pair</a:t>
                      </a:r>
                      <a:endParaRPr lang="en-US" sz="1300" dirty="0">
                        <a:latin typeface="Public Sans" charset="0"/>
                        <a:ea typeface="Public Sans" charset="0"/>
                        <a:cs typeface="Public Sans" charset="0"/>
                      </a:endParaRPr>
                    </a:p>
                  </a:txBody>
                  <a:tcPr marL="99060" marR="99060" marT="57785" marB="57785"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c>
                  <a:txBody>
                    <a:bodyPr/>
                    <a:lstStyle/>
                    <a:p>
                      <a:pPr algn="r" indent="0" marL="0">
                        <a:lnSpc>
                          <a:spcPts val="1755"/>
                        </a:lnSpc>
                        <a:buNone/>
                      </a:pPr>
                      <a:r>
                        <a:rPr lang="en-US" sz="1300" b="1" dirty="0">
                          <a:solidFill>
                            <a:srgbClr val="F4EFE4"/>
                          </a:solidFill>
                          <a:latin typeface="Public Sans" pitchFamily="34" charset="0"/>
                          <a:ea typeface="Public Sans" pitchFamily="34" charset="-122"/>
                          <a:cs typeface="Public Sans" pitchFamily="34" charset="-120"/>
                        </a:rPr>
                        <a:t>Votes</a:t>
                      </a:r>
                      <a:endParaRPr lang="en-US" sz="1300" dirty="0">
                        <a:latin typeface="Public Sans" charset="0"/>
                        <a:ea typeface="Public Sans" charset="0"/>
                        <a:cs typeface="Public Sans" charset="0"/>
                      </a:endParaRPr>
                    </a:p>
                  </a:txBody>
                  <a:tcPr marL="99060" marR="99060" marT="57785" marB="57785" anchor="t">
                    <a:lnL w="0" cap="flat" cmpd="sng" algn="ctr">
                      <a:noFill/>
                    </a:lnL>
                    <a:lnR w="0" cap="flat" cmpd="sng" algn="ctr">
                      <a:noFill/>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c>
                  <a:txBody>
                    <a:bodyPr/>
                    <a:lstStyle/>
                    <a:p>
                      <a:pPr algn="ctr" indent="0" marL="0">
                        <a:lnSpc>
                          <a:spcPts val="1755"/>
                        </a:lnSpc>
                        <a:buNone/>
                      </a:pPr>
                      <a:r>
                        <a:rPr lang="en-US" sz="1300" b="1" dirty="0">
                          <a:solidFill>
                            <a:srgbClr val="F4EFE4"/>
                          </a:solidFill>
                          <a:latin typeface="Public Sans" pitchFamily="34" charset="0"/>
                          <a:ea typeface="Public Sans" pitchFamily="34" charset="-122"/>
                          <a:cs typeface="Public Sans" pitchFamily="34" charset="-120"/>
                        </a:rPr>
                        <a:t>Whole seats</a:t>
                      </a:r>
                      <a:endParaRPr lang="en-US" sz="1300" dirty="0">
                        <a:latin typeface="Public Sans" charset="0"/>
                        <a:ea typeface="Public Sans" charset="0"/>
                        <a:cs typeface="Public Sans" charset="0"/>
                      </a:endParaRPr>
                    </a:p>
                  </a:txBody>
                  <a:tcPr marL="99060" marR="99060" marT="57785" marB="57785" anchor="t">
                    <a:lnL w="0" cap="flat" cmpd="sng" algn="ctr">
                      <a:noFill/>
                    </a:lnL>
                    <a:lnR w="0" cap="flat" cmpd="sng" algn="ctr">
                      <a:noFill/>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c>
                  <a:txBody>
                    <a:bodyPr/>
                    <a:lstStyle/>
                    <a:p>
                      <a:pPr algn="r" indent="0" marL="0">
                        <a:lnSpc>
                          <a:spcPts val="1755"/>
                        </a:lnSpc>
                        <a:buNone/>
                      </a:pPr>
                      <a:r>
                        <a:rPr lang="en-US" sz="1300" b="1" dirty="0">
                          <a:solidFill>
                            <a:srgbClr val="F4EFE4"/>
                          </a:solidFill>
                          <a:latin typeface="Public Sans" pitchFamily="34" charset="0"/>
                          <a:ea typeface="Public Sans" pitchFamily="34" charset="-122"/>
                          <a:cs typeface="Public Sans" pitchFamily="34" charset="-120"/>
                        </a:rPr>
                        <a:t>÷ (seats + 1)</a:t>
                      </a:r>
                      <a:endParaRPr lang="en-US" sz="1300" dirty="0">
                        <a:latin typeface="Public Sans" charset="0"/>
                        <a:ea typeface="Public Sans" charset="0"/>
                        <a:cs typeface="Public Sans" charset="0"/>
                      </a:endParaRPr>
                    </a:p>
                  </a:txBody>
                  <a:tcPr marL="99060" marR="99060" marT="57785" marB="57785"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r>
              <a:tr h="344686">
                <a:tc>
                  <a:txBody>
                    <a:bodyPr/>
                    <a:lstStyle/>
                    <a:p>
                      <a:pPr algn="l"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Shas + UTJ</a:t>
                      </a:r>
                      <a:endParaRPr lang="en-US" sz="1300" dirty="0">
                        <a:latin typeface="Public Sans" charset="0"/>
                        <a:ea typeface="Public Sans" charset="0"/>
                        <a:cs typeface="Public Sans" charset="0"/>
                      </a:endParaRPr>
                    </a:p>
                  </a:txBody>
                  <a:tcPr marL="99060" marR="99060" marT="57785" marB="57785"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r"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673,158</a:t>
                      </a:r>
                      <a:endParaRPr lang="en-US" sz="1300" dirty="0">
                        <a:latin typeface="Public Sans" charset="0"/>
                        <a:ea typeface="Public Sans" charset="0"/>
                        <a:cs typeface="Public Sans" charset="0"/>
                      </a:endParaRPr>
                    </a:p>
                  </a:txBody>
                  <a:tcPr marL="99060" marR="99060" marT="57785" marB="57785" anchor="t">
                    <a:lnL w="0" cap="flat" cmpd="sng" algn="ctr">
                      <a:noFill/>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ctr"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17</a:t>
                      </a:r>
                      <a:endParaRPr lang="en-US" sz="1300" dirty="0">
                        <a:latin typeface="Public Sans" charset="0"/>
                        <a:ea typeface="Public Sans" charset="0"/>
                        <a:cs typeface="Public Sans" charset="0"/>
                      </a:endParaRPr>
                    </a:p>
                  </a:txBody>
                  <a:tcPr marL="99060" marR="99060" marT="57785" marB="57785" anchor="t">
                    <a:lnL w="0" cap="flat" cmpd="sng" algn="ctr">
                      <a:noFill/>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r"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37,397.67</a:t>
                      </a:r>
                      <a:endParaRPr lang="en-US" sz="1300" dirty="0">
                        <a:latin typeface="Public Sans" charset="0"/>
                        <a:ea typeface="Public Sans" charset="0"/>
                        <a:cs typeface="Public Sans" charset="0"/>
                      </a:endParaRPr>
                    </a:p>
                  </a:txBody>
                  <a:tcPr marL="99060" marR="99060" marT="57785" marB="57785"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r>
              <a:tr h="344686">
                <a:tc>
                  <a:txBody>
                    <a:bodyPr/>
                    <a:lstStyle/>
                    <a:p>
                      <a:pPr algn="l"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National Unity + Yesh Atid</a:t>
                      </a:r>
                      <a:endParaRPr lang="en-US" sz="1300" dirty="0">
                        <a:latin typeface="Public Sans" charset="0"/>
                        <a:ea typeface="Public Sans" charset="0"/>
                        <a:cs typeface="Public Sans" charset="0"/>
                      </a:endParaRPr>
                    </a:p>
                  </a:txBody>
                  <a:tcPr marL="99060" marR="99060" marT="57785" marB="57785"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r"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1,279,917</a:t>
                      </a:r>
                      <a:endParaRPr lang="en-US" sz="1300" dirty="0">
                        <a:latin typeface="Public Sans" charset="0"/>
                        <a:ea typeface="Public Sans" charset="0"/>
                        <a:cs typeface="Public Sans" charset="0"/>
                      </a:endParaRPr>
                    </a:p>
                  </a:txBody>
                  <a:tcPr marL="99060" marR="99060" marT="57785" marB="57785"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ctr"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34</a:t>
                      </a:r>
                      <a:endParaRPr lang="en-US" sz="1300" dirty="0">
                        <a:latin typeface="Public Sans" charset="0"/>
                        <a:ea typeface="Public Sans" charset="0"/>
                        <a:cs typeface="Public Sans" charset="0"/>
                      </a:endParaRPr>
                    </a:p>
                  </a:txBody>
                  <a:tcPr marL="99060" marR="99060" marT="57785" marB="57785"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r"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36,569.06</a:t>
                      </a:r>
                      <a:endParaRPr lang="en-US" sz="1300" dirty="0">
                        <a:latin typeface="Public Sans" charset="0"/>
                        <a:ea typeface="Public Sans" charset="0"/>
                        <a:cs typeface="Public Sans" charset="0"/>
                      </a:endParaRPr>
                    </a:p>
                  </a:txBody>
                  <a:tcPr marL="99060" marR="99060" marT="57785" marB="57785"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44686">
                <a:tc>
                  <a:txBody>
                    <a:bodyPr/>
                    <a:lstStyle/>
                    <a:p>
                      <a:pPr algn="l"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Likud + Rel. Zionism</a:t>
                      </a:r>
                      <a:endParaRPr lang="en-US" sz="1300" dirty="0">
                        <a:latin typeface="Public Sans" charset="0"/>
                        <a:ea typeface="Public Sans" charset="0"/>
                        <a:cs typeface="Public Sans" charset="0"/>
                      </a:endParaRPr>
                    </a:p>
                  </a:txBody>
                  <a:tcPr marL="99060" marR="99060" marT="57785" marB="57785"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r"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1,631,806</a:t>
                      </a:r>
                      <a:endParaRPr lang="en-US" sz="1300" dirty="0">
                        <a:latin typeface="Public Sans" charset="0"/>
                        <a:ea typeface="Public Sans" charset="0"/>
                        <a:cs typeface="Public Sans" charset="0"/>
                      </a:endParaRPr>
                    </a:p>
                  </a:txBody>
                  <a:tcPr marL="99060" marR="99060" marT="57785" marB="57785" anchor="t">
                    <a:lnL w="0" cap="flat" cmpd="sng" algn="ctr">
                      <a:noFill/>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ctr"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44</a:t>
                      </a:r>
                      <a:endParaRPr lang="en-US" sz="1300" dirty="0">
                        <a:latin typeface="Public Sans" charset="0"/>
                        <a:ea typeface="Public Sans" charset="0"/>
                        <a:cs typeface="Public Sans" charset="0"/>
                      </a:endParaRPr>
                    </a:p>
                  </a:txBody>
                  <a:tcPr marL="99060" marR="99060" marT="57785" marB="57785" anchor="t">
                    <a:lnL w="0" cap="flat" cmpd="sng" algn="ctr">
                      <a:noFill/>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r"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36,262.36</a:t>
                      </a:r>
                      <a:endParaRPr lang="en-US" sz="1300" dirty="0">
                        <a:latin typeface="Public Sans" charset="0"/>
                        <a:ea typeface="Public Sans" charset="0"/>
                        <a:cs typeface="Public Sans" charset="0"/>
                      </a:endParaRPr>
                    </a:p>
                  </a:txBody>
                  <a:tcPr marL="99060" marR="99060" marT="57785" marB="57785"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r>
              <a:tr h="344686">
                <a:tc>
                  <a:txBody>
                    <a:bodyPr/>
                    <a:lstStyle/>
                    <a:p>
                      <a:pPr algn="l"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Hadash–Ta'al</a:t>
                      </a:r>
                      <a:endParaRPr lang="en-US" sz="1300" dirty="0">
                        <a:latin typeface="Public Sans" charset="0"/>
                        <a:ea typeface="Public Sans" charset="0"/>
                        <a:cs typeface="Public Sans" charset="0"/>
                      </a:endParaRPr>
                    </a:p>
                  </a:txBody>
                  <a:tcPr marL="99060" marR="99060" marT="57785" marB="57785"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r"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178,735</a:t>
                      </a:r>
                      <a:endParaRPr lang="en-US" sz="1300" dirty="0">
                        <a:latin typeface="Public Sans" charset="0"/>
                        <a:ea typeface="Public Sans" charset="0"/>
                        <a:cs typeface="Public Sans" charset="0"/>
                      </a:endParaRPr>
                    </a:p>
                  </a:txBody>
                  <a:tcPr marL="99060" marR="99060" marT="57785" marB="57785"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ctr"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4</a:t>
                      </a:r>
                      <a:endParaRPr lang="en-US" sz="1300" dirty="0">
                        <a:latin typeface="Public Sans" charset="0"/>
                        <a:ea typeface="Public Sans" charset="0"/>
                        <a:cs typeface="Public Sans" charset="0"/>
                      </a:endParaRPr>
                    </a:p>
                  </a:txBody>
                  <a:tcPr marL="99060" marR="99060" marT="57785" marB="57785"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r"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35,747.00</a:t>
                      </a:r>
                      <a:endParaRPr lang="en-US" sz="1300" dirty="0">
                        <a:latin typeface="Public Sans" charset="0"/>
                        <a:ea typeface="Public Sans" charset="0"/>
                        <a:cs typeface="Public Sans" charset="0"/>
                      </a:endParaRPr>
                    </a:p>
                  </a:txBody>
                  <a:tcPr marL="99060" marR="99060" marT="57785" marB="57785"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44686">
                <a:tc>
                  <a:txBody>
                    <a:bodyPr/>
                    <a:lstStyle/>
                    <a:p>
                      <a:pPr algn="l"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Yisrael Beiteinu</a:t>
                      </a:r>
                      <a:endParaRPr lang="en-US" sz="1300" dirty="0">
                        <a:latin typeface="Public Sans" charset="0"/>
                        <a:ea typeface="Public Sans" charset="0"/>
                        <a:cs typeface="Public Sans" charset="0"/>
                      </a:endParaRPr>
                    </a:p>
                  </a:txBody>
                  <a:tcPr marL="99060" marR="99060" marT="57785" marB="57785"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r"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213,687</a:t>
                      </a:r>
                      <a:endParaRPr lang="en-US" sz="1300" dirty="0">
                        <a:latin typeface="Public Sans" charset="0"/>
                        <a:ea typeface="Public Sans" charset="0"/>
                        <a:cs typeface="Public Sans" charset="0"/>
                      </a:endParaRPr>
                    </a:p>
                  </a:txBody>
                  <a:tcPr marL="99060" marR="99060" marT="57785" marB="57785" anchor="t">
                    <a:lnL w="0" cap="flat" cmpd="sng" algn="ctr">
                      <a:noFill/>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ctr"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5</a:t>
                      </a:r>
                      <a:endParaRPr lang="en-US" sz="1300" dirty="0">
                        <a:latin typeface="Public Sans" charset="0"/>
                        <a:ea typeface="Public Sans" charset="0"/>
                        <a:cs typeface="Public Sans" charset="0"/>
                      </a:endParaRPr>
                    </a:p>
                  </a:txBody>
                  <a:tcPr marL="99060" marR="99060" marT="57785" marB="57785" anchor="t">
                    <a:lnL w="0" cap="flat" cmpd="sng" algn="ctr">
                      <a:noFill/>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r"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35,614.50</a:t>
                      </a:r>
                      <a:endParaRPr lang="en-US" sz="1300" dirty="0">
                        <a:latin typeface="Public Sans" charset="0"/>
                        <a:ea typeface="Public Sans" charset="0"/>
                        <a:cs typeface="Public Sans" charset="0"/>
                      </a:endParaRPr>
                    </a:p>
                  </a:txBody>
                  <a:tcPr marL="99060" marR="99060" marT="57785" marB="57785"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r>
              <a:tr h="344686">
                <a:tc>
                  <a:txBody>
                    <a:bodyPr/>
                    <a:lstStyle/>
                    <a:p>
                      <a:pPr algn="l"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Labor</a:t>
                      </a:r>
                      <a:endParaRPr lang="en-US" sz="1300" dirty="0">
                        <a:latin typeface="Public Sans" charset="0"/>
                        <a:ea typeface="Public Sans" charset="0"/>
                        <a:cs typeface="Public Sans" charset="0"/>
                      </a:endParaRPr>
                    </a:p>
                  </a:txBody>
                  <a:tcPr marL="99060" marR="99060" marT="57785" marB="57785"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r"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175,992</a:t>
                      </a:r>
                      <a:endParaRPr lang="en-US" sz="1300" dirty="0">
                        <a:latin typeface="Public Sans" charset="0"/>
                        <a:ea typeface="Public Sans" charset="0"/>
                        <a:cs typeface="Public Sans" charset="0"/>
                      </a:endParaRPr>
                    </a:p>
                  </a:txBody>
                  <a:tcPr marL="99060" marR="99060" marT="57785" marB="57785"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ctr"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4</a:t>
                      </a:r>
                      <a:endParaRPr lang="en-US" sz="1300" dirty="0">
                        <a:latin typeface="Public Sans" charset="0"/>
                        <a:ea typeface="Public Sans" charset="0"/>
                        <a:cs typeface="Public Sans" charset="0"/>
                      </a:endParaRPr>
                    </a:p>
                  </a:txBody>
                  <a:tcPr marL="99060" marR="99060" marT="57785" marB="57785"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r"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35,198.40</a:t>
                      </a:r>
                      <a:endParaRPr lang="en-US" sz="1300" dirty="0">
                        <a:latin typeface="Public Sans" charset="0"/>
                        <a:ea typeface="Public Sans" charset="0"/>
                        <a:cs typeface="Public Sans" charset="0"/>
                      </a:endParaRPr>
                    </a:p>
                  </a:txBody>
                  <a:tcPr marL="99060" marR="99060" marT="57785" marB="57785"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44686">
                <a:tc>
                  <a:txBody>
                    <a:bodyPr/>
                    <a:lstStyle/>
                    <a:p>
                      <a:pPr algn="l"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Ra'am</a:t>
                      </a:r>
                      <a:endParaRPr lang="en-US" sz="1300" dirty="0">
                        <a:latin typeface="Public Sans" charset="0"/>
                        <a:ea typeface="Public Sans" charset="0"/>
                        <a:cs typeface="Public Sans" charset="0"/>
                      </a:endParaRPr>
                    </a:p>
                  </a:txBody>
                  <a:tcPr marL="99060" marR="99060" marT="57785" marB="57785"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8D5CF"/>
                      </a:solidFill>
                      <a:prstDash val="solid"/>
                      <a:round/>
                      <a:headEnd type="none" w="med" len="med"/>
                      <a:tailEnd type="none" w="med" len="med"/>
                    </a:lnT>
                    <a:lnB w="6350" cap="flat" cmpd="sng" algn="ctr">
                      <a:solidFill>
                        <a:srgbClr val="D9D1C1"/>
                      </a:solidFill>
                      <a:prstDash val="solid"/>
                      <a:round/>
                      <a:headEnd type="none" w="med" len="med"/>
                      <a:tailEnd type="none" w="med" len="med"/>
                    </a:lnB>
                    <a:solidFill>
                      <a:srgbClr val="FBF8F1"/>
                    </a:solidFill>
                  </a:tcPr>
                </a:tc>
                <a:tc>
                  <a:txBody>
                    <a:bodyPr/>
                    <a:lstStyle/>
                    <a:p>
                      <a:pPr algn="r"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194,047</a:t>
                      </a:r>
                      <a:endParaRPr lang="en-US" sz="1300" dirty="0">
                        <a:latin typeface="Public Sans" charset="0"/>
                        <a:ea typeface="Public Sans" charset="0"/>
                        <a:cs typeface="Public Sans" charset="0"/>
                      </a:endParaRPr>
                    </a:p>
                  </a:txBody>
                  <a:tcPr marL="99060" marR="99060" marT="57785" marB="57785" anchor="t">
                    <a:lnL w="0" cap="flat" cmpd="sng" algn="ctr">
                      <a:noFill/>
                    </a:lnL>
                    <a:lnR w="0" cap="flat" cmpd="sng" algn="ctr">
                      <a:noFill/>
                    </a:lnR>
                    <a:lnT w="6350" cap="flat" cmpd="sng" algn="ctr">
                      <a:solidFill>
                        <a:srgbClr val="D8D5CF"/>
                      </a:solidFill>
                      <a:prstDash val="solid"/>
                      <a:round/>
                      <a:headEnd type="none" w="med" len="med"/>
                      <a:tailEnd type="none" w="med" len="med"/>
                    </a:lnT>
                    <a:lnB w="6350" cap="flat" cmpd="sng" algn="ctr">
                      <a:solidFill>
                        <a:srgbClr val="D9D1C1"/>
                      </a:solidFill>
                      <a:prstDash val="solid"/>
                      <a:round/>
                      <a:headEnd type="none" w="med" len="med"/>
                      <a:tailEnd type="none" w="med" len="med"/>
                    </a:lnB>
                    <a:solidFill>
                      <a:srgbClr val="FBF8F1"/>
                    </a:solidFill>
                  </a:tcPr>
                </a:tc>
                <a:tc>
                  <a:txBody>
                    <a:bodyPr/>
                    <a:lstStyle/>
                    <a:p>
                      <a:pPr algn="ctr"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5</a:t>
                      </a:r>
                      <a:endParaRPr lang="en-US" sz="1300" dirty="0">
                        <a:latin typeface="Public Sans" charset="0"/>
                        <a:ea typeface="Public Sans" charset="0"/>
                        <a:cs typeface="Public Sans" charset="0"/>
                      </a:endParaRPr>
                    </a:p>
                  </a:txBody>
                  <a:tcPr marL="99060" marR="99060" marT="57785" marB="57785" anchor="t">
                    <a:lnL w="0" cap="flat" cmpd="sng" algn="ctr">
                      <a:noFill/>
                    </a:lnL>
                    <a:lnR w="0" cap="flat" cmpd="sng" algn="ctr">
                      <a:noFill/>
                    </a:lnR>
                    <a:lnT w="6350" cap="flat" cmpd="sng" algn="ctr">
                      <a:solidFill>
                        <a:srgbClr val="D8D5CF"/>
                      </a:solidFill>
                      <a:prstDash val="solid"/>
                      <a:round/>
                      <a:headEnd type="none" w="med" len="med"/>
                      <a:tailEnd type="none" w="med" len="med"/>
                    </a:lnT>
                    <a:lnB w="6350" cap="flat" cmpd="sng" algn="ctr">
                      <a:solidFill>
                        <a:srgbClr val="D9D1C1"/>
                      </a:solidFill>
                      <a:prstDash val="solid"/>
                      <a:round/>
                      <a:headEnd type="none" w="med" len="med"/>
                      <a:tailEnd type="none" w="med" len="med"/>
                    </a:lnB>
                    <a:solidFill>
                      <a:srgbClr val="FBF8F1"/>
                    </a:solidFill>
                  </a:tcPr>
                </a:tc>
                <a:tc>
                  <a:txBody>
                    <a:bodyPr/>
                    <a:lstStyle/>
                    <a:p>
                      <a:pPr algn="r" indent="0" marL="0">
                        <a:lnSpc>
                          <a:spcPts val="1755"/>
                        </a:lnSpc>
                        <a:buNone/>
                      </a:pPr>
                      <a:r>
                        <a:rPr lang="en-US" sz="1300" dirty="0">
                          <a:solidFill>
                            <a:srgbClr val="1B2634"/>
                          </a:solidFill>
                          <a:latin typeface="Public Sans" pitchFamily="34" charset="0"/>
                          <a:ea typeface="Public Sans" pitchFamily="34" charset="-122"/>
                          <a:cs typeface="Public Sans" pitchFamily="34" charset="-120"/>
                        </a:rPr>
                        <a:t>32,341.17</a:t>
                      </a:r>
                      <a:endParaRPr lang="en-US" sz="1300" dirty="0">
                        <a:latin typeface="Public Sans" charset="0"/>
                        <a:ea typeface="Public Sans" charset="0"/>
                        <a:cs typeface="Public Sans" charset="0"/>
                      </a:endParaRPr>
                    </a:p>
                  </a:txBody>
                  <a:tcPr marL="99060" marR="99060" marT="57785" marB="57785"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8D5CF"/>
                      </a:solidFill>
                      <a:prstDash val="solid"/>
                      <a:round/>
                      <a:headEnd type="none" w="med" len="med"/>
                      <a:tailEnd type="none" w="med" len="med"/>
                    </a:lnT>
                    <a:lnB w="6350" cap="flat" cmpd="sng" algn="ctr">
                      <a:solidFill>
                        <a:srgbClr val="D9D1C1"/>
                      </a:solidFill>
                      <a:prstDash val="solid"/>
                      <a:round/>
                      <a:headEnd type="none" w="med" len="med"/>
                      <a:tailEnd type="none" w="med" len="med"/>
                    </a:lnB>
                    <a:solidFill>
                      <a:srgbClr val="FBF8F1"/>
                    </a:solidFill>
                  </a:tcPr>
                </a:tc>
              </a:tr>
            </a:tbl>
          </a:graphicData>
        </a:graphic>
      </p:graphicFrame>
      <p:sp>
        <p:nvSpPr>
          <p:cNvPr id="5" name="text-104"/>
          <p:cNvSpPr txBox="1"/>
          <p:nvPr/>
        </p:nvSpPr>
        <p:spPr>
          <a:xfrm>
            <a:off x="812800" y="5285284"/>
            <a:ext cx="6483350" cy="411361"/>
          </a:xfrm>
          <a:prstGeom prst="rect">
            <a:avLst/>
          </a:prstGeom>
          <a:noFill/>
          <a:ln/>
        </p:spPr>
        <p:txBody>
          <a:bodyPr wrap="square" lIns="0" tIns="0" rIns="0" bIns="0" rtlCol="0" anchor="t"/>
          <a:lstStyle/>
          <a:p>
            <a:pPr algn="l" indent="0" marL="0">
              <a:lnSpc>
                <a:spcPts val="1620"/>
              </a:lnSpc>
              <a:buNone/>
            </a:pPr>
            <a:r>
              <a:rPr lang="en-US" sz="1200" dirty="0">
                <a:solidFill>
                  <a:srgbClr val="4F5B69"/>
                </a:solidFill>
                <a:latin typeface="Public Sans" pitchFamily="34" charset="0"/>
                <a:ea typeface="Public Sans" pitchFamily="34" charset="-122"/>
                <a:cs typeface="Public Sans" pitchFamily="34" charset="-120"/>
              </a:rPr>
              <a:t>History: the Knesset adopted this method in 1973, named for MKs Yohanan Bader (Gahal) and Avraham Ofer (Alignment), in part “to strengthen the larger parties.”</a:t>
            </a:r>
            <a:endParaRPr lang="en-US" sz="1200" dirty="0"/>
          </a:p>
        </p:txBody>
      </p:sp>
      <p:sp>
        <p:nvSpPr>
          <p:cNvPr id="6" name="text-105"/>
          <p:cNvSpPr txBox="1"/>
          <p:nvPr/>
        </p:nvSpPr>
        <p:spPr>
          <a:xfrm>
            <a:off x="7467600" y="1513780"/>
            <a:ext cx="4008374" cy="274241"/>
          </a:xfrm>
          <a:prstGeom prst="rect">
            <a:avLst/>
          </a:prstGeom>
          <a:noFill/>
          <a:ln/>
        </p:spPr>
        <p:txBody>
          <a:bodyPr wrap="square" lIns="0" tIns="0" rIns="0" bIns="0" rtlCol="0" anchor="t"/>
          <a:lstStyle/>
          <a:p>
            <a:pPr algn="l" indent="0" marL="0">
              <a:lnSpc>
                <a:spcPts val="2160"/>
              </a:lnSpc>
              <a:buNone/>
            </a:pPr>
            <a:r>
              <a:rPr lang="en-US" sz="1800" dirty="0">
                <a:solidFill>
                  <a:srgbClr val="15253D"/>
                </a:solidFill>
                <a:latin typeface="Libre Baskerville" pitchFamily="34" charset="0"/>
                <a:ea typeface="Libre Baskerville" pitchFamily="34" charset="-122"/>
                <a:cs typeface="Libre Baskerville" pitchFamily="34" charset="-120"/>
              </a:rPr>
              <a:t>The seven leftover seats</a:t>
            </a:r>
            <a:endParaRPr lang="en-US" sz="1800" dirty="0"/>
          </a:p>
        </p:txBody>
      </p:sp>
      <p:sp>
        <p:nvSpPr>
          <p:cNvPr id="7" name="list-106"/>
          <p:cNvSpPr txBox="1"/>
          <p:nvPr/>
        </p:nvSpPr>
        <p:spPr>
          <a:xfrm>
            <a:off x="7467600" y="1838821"/>
            <a:ext cx="4008374" cy="1559917"/>
          </a:xfrm>
          <a:prstGeom prst="rect">
            <a:avLst/>
          </a:prstGeom>
          <a:noFill/>
          <a:ln/>
        </p:spPr>
        <p:txBody>
          <a:bodyPr wrap="square" lIns="0" tIns="0" rIns="0" bIns="0" rtlCol="0" anchor="t"/>
          <a:lstStyle/>
          <a:p>
            <a:pPr marL="198120" indent="-198120">
              <a:lnSpc>
                <a:spcPts val="1755"/>
              </a:lnSpc>
              <a:buSzPct val="100000"/>
              <a:buFont typeface="+mj-lt"/>
              <a:buAutoNum type="arabicPeriod" startAt="1"/>
            </a:pPr>
            <a:r>
              <a:rPr lang="en-US" sz="1300" dirty="0">
                <a:solidFill>
                  <a:srgbClr val="1B2634"/>
                </a:solidFill>
                <a:latin typeface="Public Sans" pitchFamily="34" charset="0"/>
                <a:ea typeface="Public Sans" pitchFamily="34" charset="-122"/>
                <a:cs typeface="Public Sans" pitchFamily="34" charset="-120"/>
              </a:rPr>
              <a:t>Shas + UTJ</a:t>
            </a:r>
            <a:endParaRPr lang="en-US" sz="1300" dirty="0"/>
          </a:p>
          <a:p>
            <a:pPr marL="198120" indent="-198120">
              <a:lnSpc>
                <a:spcPts val="1755"/>
              </a:lnSpc>
              <a:buSzPct val="100000"/>
              <a:buFont typeface="+mj-lt"/>
              <a:buAutoNum type="arabicPeriod" startAt="1"/>
            </a:pPr>
            <a:r>
              <a:rPr lang="en-US" sz="1300" dirty="0">
                <a:solidFill>
                  <a:srgbClr val="1B2634"/>
                </a:solidFill>
                <a:latin typeface="Public Sans" pitchFamily="34" charset="0"/>
                <a:ea typeface="Public Sans" pitchFamily="34" charset="-122"/>
                <a:cs typeface="Public Sans" pitchFamily="34" charset="-120"/>
              </a:rPr>
              <a:t>National Unity + Yesh Atid</a:t>
            </a:r>
            <a:endParaRPr lang="en-US" sz="1300" dirty="0"/>
          </a:p>
          <a:p>
            <a:pPr marL="198120" indent="-198120">
              <a:lnSpc>
                <a:spcPts val="1755"/>
              </a:lnSpc>
              <a:buSzPct val="100000"/>
              <a:buFont typeface="+mj-lt"/>
              <a:buAutoNum type="arabicPeriod" startAt="1"/>
            </a:pPr>
            <a:r>
              <a:rPr lang="en-US" sz="1300" dirty="0">
                <a:solidFill>
                  <a:srgbClr val="1B2634"/>
                </a:solidFill>
                <a:latin typeface="Public Sans" pitchFamily="34" charset="0"/>
                <a:ea typeface="Public Sans" pitchFamily="34" charset="-122"/>
                <a:cs typeface="Public Sans" pitchFamily="34" charset="-120"/>
              </a:rPr>
              <a:t>Likud + Rel. Zionism</a:t>
            </a:r>
            <a:endParaRPr lang="en-US" sz="1300" dirty="0"/>
          </a:p>
          <a:p>
            <a:pPr marL="198120" indent="-198120">
              <a:lnSpc>
                <a:spcPts val="1755"/>
              </a:lnSpc>
              <a:buSzPct val="100000"/>
              <a:buFont typeface="+mj-lt"/>
              <a:buAutoNum type="arabicPeriod" startAt="1"/>
            </a:pPr>
            <a:r>
              <a:rPr lang="en-US" sz="1300" dirty="0">
                <a:solidFill>
                  <a:srgbClr val="1B2634"/>
                </a:solidFill>
                <a:latin typeface="Public Sans" pitchFamily="34" charset="0"/>
                <a:ea typeface="Public Sans" pitchFamily="34" charset="-122"/>
                <a:cs typeface="Public Sans" pitchFamily="34" charset="-120"/>
              </a:rPr>
              <a:t>Hadash–Ta'al</a:t>
            </a:r>
            <a:endParaRPr lang="en-US" sz="1300" dirty="0"/>
          </a:p>
          <a:p>
            <a:pPr marL="198120" indent="-198120">
              <a:lnSpc>
                <a:spcPts val="1755"/>
              </a:lnSpc>
              <a:buSzPct val="100000"/>
              <a:buFont typeface="+mj-lt"/>
              <a:buAutoNum type="arabicPeriod" startAt="1"/>
            </a:pPr>
            <a:r>
              <a:rPr lang="en-US" sz="1300" dirty="0">
                <a:solidFill>
                  <a:srgbClr val="1B2634"/>
                </a:solidFill>
                <a:latin typeface="Public Sans" pitchFamily="34" charset="0"/>
                <a:ea typeface="Public Sans" pitchFamily="34" charset="-122"/>
                <a:cs typeface="Public Sans" pitchFamily="34" charset="-120"/>
              </a:rPr>
              <a:t>Yisrael Beiteinu</a:t>
            </a:r>
            <a:endParaRPr lang="en-US" sz="1300" dirty="0"/>
          </a:p>
          <a:p>
            <a:pPr marL="198120" indent="-198120">
              <a:lnSpc>
                <a:spcPts val="1755"/>
              </a:lnSpc>
              <a:buSzPct val="100000"/>
              <a:buFont typeface="+mj-lt"/>
              <a:buAutoNum type="arabicPeriod" startAt="1"/>
            </a:pPr>
            <a:r>
              <a:rPr lang="en-US" sz="1300" dirty="0">
                <a:solidFill>
                  <a:srgbClr val="1B2634"/>
                </a:solidFill>
                <a:latin typeface="Public Sans" pitchFamily="34" charset="0"/>
                <a:ea typeface="Public Sans" pitchFamily="34" charset="-122"/>
                <a:cs typeface="Public Sans" pitchFamily="34" charset="-120"/>
              </a:rPr>
              <a:t>National Unity + Yesh Atid</a:t>
            </a:r>
            <a:endParaRPr lang="en-US" sz="1300" dirty="0"/>
          </a:p>
          <a:p>
            <a:pPr marL="198120" indent="-198120">
              <a:lnSpc>
                <a:spcPts val="1755"/>
              </a:lnSpc>
              <a:buSzPct val="100000"/>
              <a:buFont typeface="+mj-lt"/>
              <a:buAutoNum type="arabicPeriod" startAt="1"/>
            </a:pPr>
            <a:r>
              <a:rPr lang="en-US" sz="1300" dirty="0">
                <a:solidFill>
                  <a:srgbClr val="1B2634"/>
                </a:solidFill>
                <a:latin typeface="Public Sans" pitchFamily="34" charset="0"/>
                <a:ea typeface="Public Sans" pitchFamily="34" charset="-122"/>
                <a:cs typeface="Public Sans" pitchFamily="34" charset="-120"/>
              </a:rPr>
              <a:t>Likud + Rel. Zionism</a:t>
            </a:r>
            <a:endParaRPr lang="en-US" sz="1300" dirty="0"/>
          </a:p>
        </p:txBody>
      </p:sp>
      <p:sp>
        <p:nvSpPr>
          <p:cNvPr id="8" name="text-107"/>
          <p:cNvSpPr txBox="1"/>
          <p:nvPr/>
        </p:nvSpPr>
        <p:spPr>
          <a:xfrm>
            <a:off x="7467600" y="3449538"/>
            <a:ext cx="4008374" cy="205680"/>
          </a:xfrm>
          <a:prstGeom prst="rect">
            <a:avLst/>
          </a:prstGeom>
          <a:noFill/>
          <a:ln/>
        </p:spPr>
        <p:txBody>
          <a:bodyPr wrap="square" lIns="0" tIns="0" rIns="0" bIns="0" rtlCol="0" anchor="t"/>
          <a:lstStyle/>
          <a:p>
            <a:pPr algn="l" indent="0" marL="0">
              <a:lnSpc>
                <a:spcPts val="1620"/>
              </a:lnSpc>
              <a:buNone/>
            </a:pPr>
            <a:r>
              <a:rPr lang="en-US" sz="1200" dirty="0">
                <a:solidFill>
                  <a:srgbClr val="4F5B69"/>
                </a:solidFill>
                <a:latin typeface="Public Sans" pitchFamily="34" charset="0"/>
                <a:ea typeface="Public Sans" pitchFamily="34" charset="-122"/>
                <a:cs typeface="Public Sans" pitchFamily="34" charset="-120"/>
              </a:rPr>
              <a:t>Labor and Ra'am get none.</a:t>
            </a:r>
            <a:endParaRPr lang="en-US" sz="1200" dirty="0"/>
          </a:p>
        </p:txBody>
      </p:sp>
      <p:sp>
        <p:nvSpPr>
          <p:cNvPr id="9" name="shape-108"/>
          <p:cNvSpPr/>
          <p:nvPr/>
        </p:nvSpPr>
        <p:spPr>
          <a:xfrm>
            <a:off x="7467600" y="3807619"/>
            <a:ext cx="3911600" cy="1827907"/>
          </a:xfrm>
          <a:prstGeom prst="roundRect">
            <a:avLst>
              <a:gd name="adj" fmla="val 4169"/>
            </a:avLst>
          </a:prstGeom>
          <a:solidFill>
            <a:srgbClr val="15253D"/>
          </a:solidFill>
          <a:ln/>
        </p:spPr>
      </p:sp>
      <p:sp>
        <p:nvSpPr>
          <p:cNvPr id="10" name="text-109"/>
          <p:cNvSpPr txBox="1"/>
          <p:nvPr/>
        </p:nvSpPr>
        <p:spPr>
          <a:xfrm>
            <a:off x="7670800" y="3985419"/>
            <a:ext cx="3595878" cy="205680"/>
          </a:xfrm>
          <a:prstGeom prst="rect">
            <a:avLst/>
          </a:prstGeom>
          <a:noFill/>
          <a:ln/>
        </p:spPr>
        <p:txBody>
          <a:bodyPr wrap="square" lIns="0" tIns="0" rIns="0" bIns="0" rtlCol="0" anchor="t"/>
          <a:lstStyle/>
          <a:p>
            <a:pPr algn="l" indent="0" marL="0">
              <a:lnSpc>
                <a:spcPts val="1620"/>
              </a:lnSpc>
              <a:buNone/>
            </a:pPr>
            <a:r>
              <a:rPr lang="en-US" sz="1200" b="1" spc="100" kern="0" dirty="0">
                <a:solidFill>
                  <a:srgbClr val="E2AD6E"/>
                </a:solidFill>
                <a:latin typeface="Public Sans" pitchFamily="34" charset="0"/>
                <a:ea typeface="Public Sans" pitchFamily="34" charset="-122"/>
                <a:cs typeface="Public Sans" pitchFamily="34" charset="-120"/>
              </a:rPr>
              <a:t>INSIDE LIKUD + RZ</a:t>
            </a:r>
            <a:endParaRPr lang="en-US" sz="1200" dirty="0"/>
          </a:p>
        </p:txBody>
      </p:sp>
      <p:sp>
        <p:nvSpPr>
          <p:cNvPr id="11" name="text-110"/>
          <p:cNvSpPr txBox="1"/>
          <p:nvPr/>
        </p:nvSpPr>
        <p:spPr>
          <a:xfrm>
            <a:off x="7670800" y="4267299"/>
            <a:ext cx="3595878" cy="668536"/>
          </a:xfrm>
          <a:prstGeom prst="rect">
            <a:avLst/>
          </a:prstGeom>
          <a:noFill/>
          <a:ln/>
        </p:spPr>
        <p:txBody>
          <a:bodyPr wrap="square" lIns="0" tIns="0" rIns="0" bIns="0" rtlCol="0" anchor="t"/>
          <a:lstStyle/>
          <a:p>
            <a:pPr algn="l" indent="0" marL="0">
              <a:lnSpc>
                <a:spcPts val="1755"/>
              </a:lnSpc>
              <a:buNone/>
            </a:pPr>
            <a:r>
              <a:rPr lang="en-US" sz="1300" dirty="0">
                <a:solidFill>
                  <a:srgbClr val="F4EFE4"/>
                </a:solidFill>
                <a:latin typeface="Public Sans" pitchFamily="34" charset="0"/>
                <a:ea typeface="Public Sans" pitchFamily="34" charset="-122"/>
                <a:cs typeface="Public Sans" pitchFamily="34" charset="-120"/>
              </a:rPr>
              <a:t>Likud 1,115,336 ÷ 31 = 35,978.58 beats RZ 516,470 ÷ 15 = 34,431.33. Likud's next figure, 34,854.25, still wins.</a:t>
            </a:r>
            <a:endParaRPr lang="en-US" sz="1300" dirty="0"/>
          </a:p>
        </p:txBody>
      </p:sp>
      <p:sp>
        <p:nvSpPr>
          <p:cNvPr id="12" name="text-111"/>
          <p:cNvSpPr txBox="1"/>
          <p:nvPr/>
        </p:nvSpPr>
        <p:spPr>
          <a:xfrm>
            <a:off x="7670800" y="5012035"/>
            <a:ext cx="3595878" cy="445691"/>
          </a:xfrm>
          <a:prstGeom prst="rect">
            <a:avLst/>
          </a:prstGeom>
          <a:noFill/>
          <a:ln/>
        </p:spPr>
        <p:txBody>
          <a:bodyPr wrap="square" lIns="0" tIns="0" rIns="0" bIns="0" rtlCol="0" anchor="t"/>
          <a:lstStyle/>
          <a:p>
            <a:pPr algn="l" indent="0" marL="0">
              <a:lnSpc>
                <a:spcPts val="1755"/>
              </a:lnSpc>
              <a:buNone/>
            </a:pPr>
            <a:r>
              <a:rPr lang="en-US" sz="1300" dirty="0">
                <a:solidFill>
                  <a:srgbClr val="E2AD6E"/>
                </a:solidFill>
                <a:latin typeface="Public Sans" pitchFamily="34" charset="0"/>
                <a:ea typeface="Public Sans" pitchFamily="34" charset="-122"/>
                <a:cs typeface="Public Sans" pitchFamily="34" charset="-120"/>
              </a:rPr>
              <a:t>Likud takes both: 32 seats instead of 30. RZ stays at 14.</a:t>
            </a:r>
            <a:endParaRPr lang="en-US" sz="1300" dirty="0"/>
          </a:p>
        </p:txBody>
      </p:sp>
      <p:sp>
        <p:nvSpPr>
          <p:cNvPr id="13" name="text-112"/>
          <p:cNvSpPr txBox="1"/>
          <p:nvPr/>
        </p:nvSpPr>
        <p:spPr>
          <a:xfrm>
            <a:off x="812800" y="6253559"/>
            <a:ext cx="10762996" cy="19804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Shugart, Fruits and Votes, Sep 8, 2026; IDI (Kenig), Mar 16, 2026; IDI, Vote-Sharing Agreements, Oct 30, 2022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FE4"/>
        </a:solidFill>
      </p:bgPr>
    </p:bg>
    <p:spTree>
      <p:nvGrpSpPr>
        <p:cNvPr id="1" name=""/>
        <p:cNvGrpSpPr/>
        <p:nvPr/>
      </p:nvGrpSpPr>
      <p:grpSpPr>
        <a:xfrm>
          <a:off x="0" y="0"/>
          <a:ext cx="0" cy="0"/>
          <a:chOff x="0" y="0"/>
          <a:chExt cx="0" cy="0"/>
        </a:xfrm>
      </p:grpSpPr>
      <p:sp>
        <p:nvSpPr>
          <p:cNvPr id="2" name="text-113"/>
          <p:cNvSpPr txBox="1"/>
          <p:nvPr/>
        </p:nvSpPr>
        <p:spPr>
          <a:xfrm>
            <a:off x="812800" y="812800"/>
            <a:ext cx="10762996"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Who votes, who doesn't</a:t>
            </a:r>
            <a:endParaRPr lang="en-US" sz="3200" dirty="0"/>
          </a:p>
        </p:txBody>
      </p:sp>
      <p:sp>
        <p:nvSpPr>
          <p:cNvPr id="3" name="shape-114"/>
          <p:cNvSpPr/>
          <p:nvPr/>
        </p:nvSpPr>
        <p:spPr>
          <a:xfrm>
            <a:off x="812800" y="1513780"/>
            <a:ext cx="5181600" cy="2993132"/>
          </a:xfrm>
          <a:prstGeom prst="roundRect">
            <a:avLst>
              <a:gd name="adj" fmla="val 2546"/>
            </a:avLst>
          </a:prstGeom>
          <a:solidFill>
            <a:srgbClr val="FBF8F1"/>
          </a:solidFill>
          <a:ln w="6350">
            <a:solidFill>
              <a:srgbClr val="D9D1C1"/>
            </a:solidFill>
            <a:prstDash val="solid"/>
          </a:ln>
        </p:spPr>
      </p:sp>
      <p:sp>
        <p:nvSpPr>
          <p:cNvPr id="4" name="shape-115"/>
          <p:cNvSpPr/>
          <p:nvPr/>
        </p:nvSpPr>
        <p:spPr>
          <a:xfrm>
            <a:off x="819150" y="1520130"/>
            <a:ext cx="5168900" cy="63500"/>
          </a:xfrm>
          <a:prstGeom prst="rect">
            <a:avLst/>
          </a:prstGeom>
          <a:solidFill>
            <a:srgbClr val="15253D"/>
          </a:solidFill>
          <a:ln/>
        </p:spPr>
      </p:sp>
      <p:sp>
        <p:nvSpPr>
          <p:cNvPr id="5" name="text-116"/>
          <p:cNvSpPr txBox="1"/>
          <p:nvPr/>
        </p:nvSpPr>
        <p:spPr>
          <a:xfrm>
            <a:off x="1073150" y="1761430"/>
            <a:ext cx="4768914" cy="274241"/>
          </a:xfrm>
          <a:prstGeom prst="rect">
            <a:avLst/>
          </a:prstGeom>
          <a:noFill/>
          <a:ln/>
        </p:spPr>
        <p:txBody>
          <a:bodyPr wrap="square" lIns="0" tIns="0" rIns="0" bIns="0" rtlCol="0" anchor="t"/>
          <a:lstStyle/>
          <a:p>
            <a:pPr algn="l" indent="0" marL="0">
              <a:lnSpc>
                <a:spcPts val="2160"/>
              </a:lnSpc>
              <a:buNone/>
            </a:pPr>
            <a:r>
              <a:rPr lang="en-US" sz="1800" dirty="0">
                <a:solidFill>
                  <a:srgbClr val="15253D"/>
                </a:solidFill>
                <a:latin typeface="Libre Baskerville" pitchFamily="34" charset="0"/>
                <a:ea typeface="Libre Baskerville" pitchFamily="34" charset="-122"/>
                <a:cs typeface="Libre Baskerville" pitchFamily="34" charset="-120"/>
              </a:rPr>
              <a:t>Can vote</a:t>
            </a:r>
            <a:endParaRPr lang="en-US" sz="1800" dirty="0"/>
          </a:p>
        </p:txBody>
      </p:sp>
      <p:sp>
        <p:nvSpPr>
          <p:cNvPr id="6" name="list-117"/>
          <p:cNvSpPr txBox="1"/>
          <p:nvPr/>
        </p:nvSpPr>
        <p:spPr>
          <a:xfrm>
            <a:off x="1073150" y="2137271"/>
            <a:ext cx="4768914" cy="2160091"/>
          </a:xfrm>
          <a:prstGeom prst="rect">
            <a:avLst/>
          </a:prstGeom>
          <a:noFill/>
          <a:ln/>
        </p:spPr>
        <p:txBody>
          <a:bodyPr wrap="square" lIns="0" tIns="0" rIns="0" bIns="0" rtlCol="0" anchor="t"/>
          <a:lstStyle/>
          <a:p>
            <a:pPr marL="213360" indent="-213360">
              <a:lnSpc>
                <a:spcPts val="1890"/>
              </a:lnSpc>
              <a:buSzPct val="100000"/>
              <a:buChar char="•"/>
            </a:pPr>
            <a:r>
              <a:rPr lang="en-US" sz="1400" dirty="0">
                <a:solidFill>
                  <a:srgbClr val="1B2634"/>
                </a:solidFill>
                <a:latin typeface="Public Sans" pitchFamily="34" charset="0"/>
                <a:ea typeface="Public Sans" pitchFamily="34" charset="-122"/>
                <a:cs typeface="Public Sans" pitchFamily="34" charset="-120"/>
              </a:rPr>
              <a:t>Citizens 18 and over, including settlers, who vote inside the territories</a:t>
            </a:r>
            <a:endParaRPr lang="en-US" sz="1400" dirty="0"/>
          </a:p>
          <a:p>
            <a:pPr marL="213360" indent="-213360">
              <a:lnSpc>
                <a:spcPts val="1890"/>
              </a:lnSpc>
              <a:buSzPct val="100000"/>
              <a:buChar char="•"/>
            </a:pPr>
            <a:r>
              <a:rPr lang="en-US" sz="1400" dirty="0">
                <a:solidFill>
                  <a:srgbClr val="1B2634"/>
                </a:solidFill>
                <a:latin typeface="Public Sans" pitchFamily="34" charset="0"/>
                <a:ea typeface="Public Sans" pitchFamily="34" charset="-122"/>
                <a:cs typeface="Public Sans" pitchFamily="34" charset="-120"/>
              </a:rPr>
              <a:t>Soldiers, at polling stations that open 72 hours early</a:t>
            </a:r>
            <a:endParaRPr lang="en-US" sz="1400" dirty="0"/>
          </a:p>
          <a:p>
            <a:pPr marL="213360" indent="-213360">
              <a:lnSpc>
                <a:spcPts val="1890"/>
              </a:lnSpc>
              <a:buSzPct val="100000"/>
              <a:buChar char="•"/>
            </a:pPr>
            <a:r>
              <a:rPr lang="en-US" sz="1400" dirty="0">
                <a:solidFill>
                  <a:srgbClr val="1B2634"/>
                </a:solidFill>
                <a:latin typeface="Public Sans" pitchFamily="34" charset="0"/>
                <a:ea typeface="Public Sans" pitchFamily="34" charset="-122"/>
                <a:cs typeface="Public Sans" pitchFamily="34" charset="-120"/>
              </a:rPr>
              <a:t>Diplomats and official emissaries abroad, including Jewish Agency shlichim</a:t>
            </a:r>
            <a:endParaRPr lang="en-US" sz="1400" dirty="0"/>
          </a:p>
          <a:p>
            <a:pPr marL="213360" indent="-213360">
              <a:lnSpc>
                <a:spcPts val="1890"/>
              </a:lnSpc>
              <a:buSzPct val="100000"/>
              <a:buChar char="•"/>
            </a:pPr>
            <a:r>
              <a:rPr lang="en-US" sz="1400" dirty="0">
                <a:solidFill>
                  <a:srgbClr val="1B2634"/>
                </a:solidFill>
                <a:latin typeface="Public Sans" pitchFamily="34" charset="0"/>
                <a:ea typeface="Public Sans" pitchFamily="34" charset="-122"/>
                <a:cs typeface="Public Sans" pitchFamily="34" charset="-120"/>
              </a:rPr>
              <a:t>Hospital patients, prisoners and voters with disabilities</a:t>
            </a:r>
            <a:endParaRPr lang="en-US" sz="1400" dirty="0"/>
          </a:p>
          <a:p>
            <a:pPr marL="213360" indent="-213360">
              <a:lnSpc>
                <a:spcPts val="1890"/>
              </a:lnSpc>
              <a:buSzPct val="100000"/>
              <a:buChar char="•"/>
            </a:pPr>
            <a:r>
              <a:rPr lang="en-US" sz="1400" dirty="0">
                <a:solidFill>
                  <a:srgbClr val="1B2634"/>
                </a:solidFill>
                <a:latin typeface="Public Sans" pitchFamily="34" charset="0"/>
                <a:ea typeface="Public Sans" pitchFamily="34" charset="-122"/>
                <a:cs typeface="Public Sans" pitchFamily="34" charset="-120"/>
              </a:rPr>
              <a:t>These special ballots use double envelopes and are counted after election night</a:t>
            </a:r>
            <a:endParaRPr lang="en-US" sz="1400" dirty="0"/>
          </a:p>
        </p:txBody>
      </p:sp>
      <p:sp>
        <p:nvSpPr>
          <p:cNvPr id="7" name="shape-118"/>
          <p:cNvSpPr/>
          <p:nvPr/>
        </p:nvSpPr>
        <p:spPr>
          <a:xfrm>
            <a:off x="6197600" y="1513780"/>
            <a:ext cx="5181600" cy="2993132"/>
          </a:xfrm>
          <a:prstGeom prst="roundRect">
            <a:avLst>
              <a:gd name="adj" fmla="val 2546"/>
            </a:avLst>
          </a:prstGeom>
          <a:solidFill>
            <a:srgbClr val="FBF8F1"/>
          </a:solidFill>
          <a:ln w="6350">
            <a:solidFill>
              <a:srgbClr val="D9D1C1"/>
            </a:solidFill>
            <a:prstDash val="solid"/>
          </a:ln>
        </p:spPr>
      </p:sp>
      <p:sp>
        <p:nvSpPr>
          <p:cNvPr id="8" name="shape-119"/>
          <p:cNvSpPr/>
          <p:nvPr/>
        </p:nvSpPr>
        <p:spPr>
          <a:xfrm>
            <a:off x="6203950" y="1520130"/>
            <a:ext cx="5168900" cy="63500"/>
          </a:xfrm>
          <a:prstGeom prst="rect">
            <a:avLst/>
          </a:prstGeom>
          <a:solidFill>
            <a:srgbClr val="D0904A"/>
          </a:solidFill>
          <a:ln/>
        </p:spPr>
      </p:sp>
      <p:sp>
        <p:nvSpPr>
          <p:cNvPr id="9" name="text-120"/>
          <p:cNvSpPr txBox="1"/>
          <p:nvPr/>
        </p:nvSpPr>
        <p:spPr>
          <a:xfrm>
            <a:off x="6457950" y="1761430"/>
            <a:ext cx="4768914" cy="274241"/>
          </a:xfrm>
          <a:prstGeom prst="rect">
            <a:avLst/>
          </a:prstGeom>
          <a:noFill/>
          <a:ln/>
        </p:spPr>
        <p:txBody>
          <a:bodyPr wrap="square" lIns="0" tIns="0" rIns="0" bIns="0" rtlCol="0" anchor="t"/>
          <a:lstStyle/>
          <a:p>
            <a:pPr algn="l" indent="0" marL="0">
              <a:lnSpc>
                <a:spcPts val="2160"/>
              </a:lnSpc>
              <a:buNone/>
            </a:pPr>
            <a:r>
              <a:rPr lang="en-US" sz="1800" dirty="0">
                <a:solidFill>
                  <a:srgbClr val="9A541A"/>
                </a:solidFill>
                <a:latin typeface="Libre Baskerville" pitchFamily="34" charset="0"/>
                <a:ea typeface="Libre Baskerville" pitchFamily="34" charset="-122"/>
                <a:cs typeface="Libre Baskerville" pitchFamily="34" charset="-120"/>
              </a:rPr>
              <a:t>Cannot vote</a:t>
            </a:r>
            <a:endParaRPr lang="en-US" sz="1800" dirty="0"/>
          </a:p>
        </p:txBody>
      </p:sp>
      <p:sp>
        <p:nvSpPr>
          <p:cNvPr id="10" name="list-121"/>
          <p:cNvSpPr txBox="1"/>
          <p:nvPr/>
        </p:nvSpPr>
        <p:spPr>
          <a:xfrm>
            <a:off x="6457950" y="2137271"/>
            <a:ext cx="4768914" cy="1680071"/>
          </a:xfrm>
          <a:prstGeom prst="rect">
            <a:avLst/>
          </a:prstGeom>
          <a:noFill/>
          <a:ln/>
        </p:spPr>
        <p:txBody>
          <a:bodyPr wrap="square" lIns="0" tIns="0" rIns="0" bIns="0" rtlCol="0" anchor="t"/>
          <a:lstStyle/>
          <a:p>
            <a:pPr marL="213360" indent="-213360">
              <a:lnSpc>
                <a:spcPts val="1890"/>
              </a:lnSpc>
              <a:buSzPct val="100000"/>
              <a:buChar char="•"/>
            </a:pPr>
            <a:r>
              <a:rPr lang="en-US" sz="1400" dirty="0">
                <a:solidFill>
                  <a:srgbClr val="1B2634"/>
                </a:solidFill>
                <a:latin typeface="Public Sans" pitchFamily="34" charset="0"/>
                <a:ea typeface="Public Sans" pitchFamily="34" charset="-122"/>
                <a:cs typeface="Public Sans" pitchFamily="34" charset="-120"/>
              </a:rPr>
              <a:t>Israelis living abroad: there is no absentee ballot</a:t>
            </a:r>
            <a:endParaRPr lang="en-US" sz="1400" dirty="0"/>
          </a:p>
          <a:p>
            <a:pPr marL="213360" indent="-213360">
              <a:lnSpc>
                <a:spcPts val="1890"/>
              </a:lnSpc>
              <a:buSzPct val="100000"/>
              <a:buChar char="•"/>
            </a:pPr>
            <a:r>
              <a:rPr lang="en-US" sz="1400" dirty="0">
                <a:solidFill>
                  <a:srgbClr val="1B2634"/>
                </a:solidFill>
                <a:latin typeface="Public Sans" pitchFamily="34" charset="0"/>
                <a:ea typeface="Public Sans" pitchFamily="34" charset="-122"/>
                <a:cs typeface="Public Sans" pitchFamily="34" charset="-120"/>
              </a:rPr>
              <a:t>Roughly 408,000 Arab residents of Jerusalem, nearly all in East Jerusalem: permanent residents, not citizens. They may vote in city elections, not for the Knesset.</a:t>
            </a:r>
            <a:endParaRPr lang="en-US" sz="1400" dirty="0"/>
          </a:p>
          <a:p>
            <a:pPr marL="213360" indent="-213360">
              <a:lnSpc>
                <a:spcPts val="1890"/>
              </a:lnSpc>
              <a:buSzPct val="100000"/>
              <a:buChar char="•"/>
            </a:pPr>
            <a:r>
              <a:rPr lang="en-US" sz="1400" dirty="0">
                <a:solidFill>
                  <a:srgbClr val="1B2634"/>
                </a:solidFill>
                <a:latin typeface="Public Sans" pitchFamily="34" charset="0"/>
                <a:ea typeface="Public Sans" pitchFamily="34" charset="-122"/>
                <a:cs typeface="Public Sans" pitchFamily="34" charset="-120"/>
              </a:rPr>
              <a:t>Golan Druze who hold residency only. Over 35% (about 10,000) now hold citizenship.</a:t>
            </a:r>
            <a:endParaRPr lang="en-US" sz="1400" dirty="0"/>
          </a:p>
        </p:txBody>
      </p:sp>
      <p:sp>
        <p:nvSpPr>
          <p:cNvPr id="11" name="text-122"/>
          <p:cNvSpPr txBox="1"/>
          <p:nvPr/>
        </p:nvSpPr>
        <p:spPr>
          <a:xfrm>
            <a:off x="812800" y="4760913"/>
            <a:ext cx="10762996" cy="240010"/>
          </a:xfrm>
          <a:prstGeom prst="rect">
            <a:avLst/>
          </a:prstGeom>
          <a:noFill/>
          <a:ln/>
        </p:spPr>
        <p:txBody>
          <a:bodyPr wrap="square" lIns="0" tIns="0" rIns="0" bIns="0" rtlCol="0" anchor="t"/>
          <a:lstStyle/>
          <a:p>
            <a:pPr algn="l" indent="0" marL="0">
              <a:lnSpc>
                <a:spcPts val="1890"/>
              </a:lnSpc>
              <a:buNone/>
            </a:pPr>
            <a:r>
              <a:rPr lang="en-US" sz="1400" dirty="0">
                <a:solidFill>
                  <a:srgbClr val="4F5B69"/>
                </a:solidFill>
                <a:latin typeface="Public Sans" pitchFamily="34" charset="0"/>
                <a:ea typeface="Public Sans" pitchFamily="34" charset="-122"/>
                <a:cs typeface="Public Sans" pitchFamily="34" charset="-120"/>
              </a:rPr>
              <a:t>Election day is a national holiday. Candidates must be 21 or older.</a:t>
            </a:r>
            <a:endParaRPr lang="en-US" sz="1400" dirty="0"/>
          </a:p>
        </p:txBody>
      </p:sp>
      <p:sp>
        <p:nvSpPr>
          <p:cNvPr id="12" name="text-123"/>
          <p:cNvSpPr txBox="1"/>
          <p:nvPr/>
        </p:nvSpPr>
        <p:spPr>
          <a:xfrm>
            <a:off x="812800" y="6055519"/>
            <a:ext cx="10762996" cy="39608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Basic Law: The Knesset; IDI (Kenig &amp; Plesner), Feb 18, 2020; CBS via Jewish News, May 18, 2026 (our arithmetic); Globes, May 24, 2026; Wikipedia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FE4"/>
        </a:solidFill>
      </p:bgPr>
    </p:bg>
    <p:spTree>
      <p:nvGrpSpPr>
        <p:cNvPr id="1" name=""/>
        <p:cNvGrpSpPr/>
        <p:nvPr/>
      </p:nvGrpSpPr>
      <p:grpSpPr>
        <a:xfrm>
          <a:off x="0" y="0"/>
          <a:ext cx="0" cy="0"/>
          <a:chOff x="0" y="0"/>
          <a:chExt cx="0" cy="0"/>
        </a:xfrm>
      </p:grpSpPr>
      <p:sp>
        <p:nvSpPr>
          <p:cNvPr id="2" name="text-124"/>
          <p:cNvSpPr txBox="1"/>
          <p:nvPr/>
        </p:nvSpPr>
        <p:spPr>
          <a:xfrm>
            <a:off x="812800" y="812800"/>
            <a:ext cx="10762996"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Turnout</a:t>
            </a:r>
            <a:endParaRPr lang="en-US" sz="3200" dirty="0"/>
          </a:p>
        </p:txBody>
      </p:sp>
      <p:sp>
        <p:nvSpPr>
          <p:cNvPr id="3" name="shape-125"/>
          <p:cNvSpPr/>
          <p:nvPr/>
        </p:nvSpPr>
        <p:spPr>
          <a:xfrm>
            <a:off x="812800" y="1527671"/>
            <a:ext cx="177800" cy="177800"/>
          </a:xfrm>
          <a:prstGeom prst="rect">
            <a:avLst/>
          </a:prstGeom>
          <a:solidFill>
            <a:srgbClr val="15253D"/>
          </a:solidFill>
          <a:ln/>
        </p:spPr>
      </p:sp>
      <p:sp>
        <p:nvSpPr>
          <p:cNvPr id="4" name="text-126"/>
          <p:cNvSpPr txBox="1"/>
          <p:nvPr/>
        </p:nvSpPr>
        <p:spPr>
          <a:xfrm>
            <a:off x="1066800" y="1513780"/>
            <a:ext cx="1338933" cy="205680"/>
          </a:xfrm>
          <a:prstGeom prst="rect">
            <a:avLst/>
          </a:prstGeom>
          <a:noFill/>
          <a:ln/>
        </p:spPr>
        <p:txBody>
          <a:bodyPr wrap="squar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Overall turnout, %</a:t>
            </a:r>
            <a:endParaRPr lang="en-US" sz="1200" dirty="0"/>
          </a:p>
        </p:txBody>
      </p:sp>
      <p:sp>
        <p:nvSpPr>
          <p:cNvPr id="5" name="shape-127"/>
          <p:cNvSpPr/>
          <p:nvPr/>
        </p:nvSpPr>
        <p:spPr>
          <a:xfrm>
            <a:off x="2602409" y="1527671"/>
            <a:ext cx="177800" cy="177800"/>
          </a:xfrm>
          <a:prstGeom prst="rect">
            <a:avLst/>
          </a:prstGeom>
          <a:solidFill>
            <a:srgbClr val="D0904A"/>
          </a:solidFill>
          <a:ln/>
        </p:spPr>
      </p:sp>
      <p:sp>
        <p:nvSpPr>
          <p:cNvPr id="6" name="text-128"/>
          <p:cNvSpPr txBox="1"/>
          <p:nvPr/>
        </p:nvSpPr>
        <p:spPr>
          <a:xfrm>
            <a:off x="2856409" y="1513780"/>
            <a:ext cx="1684861" cy="205680"/>
          </a:xfrm>
          <a:prstGeom prst="rect">
            <a:avLst/>
          </a:prstGeom>
          <a:noFill/>
          <a:ln/>
        </p:spPr>
        <p:txBody>
          <a:bodyPr wrap="squar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Arab-sector turnout, %</a:t>
            </a:r>
            <a:endParaRPr lang="en-US" sz="1200" dirty="0"/>
          </a:p>
        </p:txBody>
      </p:sp>
      <p:sp>
        <p:nvSpPr>
          <p:cNvPr id="7" name="rule-130"/>
          <p:cNvSpPr/>
          <p:nvPr/>
        </p:nvSpPr>
        <p:spPr>
          <a:xfrm>
            <a:off x="812800" y="4348361"/>
            <a:ext cx="6553200" cy="12700"/>
          </a:xfrm>
          <a:prstGeom prst="rect">
            <a:avLst/>
          </a:prstGeom>
          <a:solidFill>
            <a:srgbClr val="15253D"/>
          </a:solidFill>
          <a:ln/>
        </p:spPr>
      </p:sp>
      <p:sp>
        <p:nvSpPr>
          <p:cNvPr id="8" name="text-131"/>
          <p:cNvSpPr txBox="1"/>
          <p:nvPr/>
        </p:nvSpPr>
        <p:spPr>
          <a:xfrm>
            <a:off x="884535" y="1805880"/>
            <a:ext cx="356536" cy="205680"/>
          </a:xfrm>
          <a:prstGeom prst="rect">
            <a:avLst/>
          </a:prstGeom>
          <a:noFill/>
          <a:ln/>
        </p:spPr>
        <p:txBody>
          <a:bodyPr wrap="non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72.3</a:t>
            </a:r>
            <a:endParaRPr lang="en-US" sz="1200" dirty="0"/>
          </a:p>
        </p:txBody>
      </p:sp>
      <p:sp>
        <p:nvSpPr>
          <p:cNvPr id="9" name="shape-132"/>
          <p:cNvSpPr/>
          <p:nvPr/>
        </p:nvSpPr>
        <p:spPr>
          <a:xfrm>
            <a:off x="863600" y="2049661"/>
            <a:ext cx="355600" cy="2298700"/>
          </a:xfrm>
          <a:prstGeom prst="rect">
            <a:avLst/>
          </a:prstGeom>
          <a:solidFill>
            <a:srgbClr val="15253D"/>
          </a:solidFill>
          <a:ln/>
        </p:spPr>
      </p:sp>
      <p:sp>
        <p:nvSpPr>
          <p:cNvPr id="10" name="text-133"/>
          <p:cNvSpPr txBox="1"/>
          <p:nvPr/>
        </p:nvSpPr>
        <p:spPr>
          <a:xfrm>
            <a:off x="1388467" y="2085280"/>
            <a:ext cx="364794" cy="205680"/>
          </a:xfrm>
          <a:prstGeom prst="rect">
            <a:avLst/>
          </a:prstGeom>
          <a:noFill/>
          <a:ln/>
        </p:spPr>
        <p:txBody>
          <a:bodyPr wrap="non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63.5</a:t>
            </a:r>
            <a:endParaRPr lang="en-US" sz="1200" dirty="0"/>
          </a:p>
        </p:txBody>
      </p:sp>
      <p:sp>
        <p:nvSpPr>
          <p:cNvPr id="11" name="shape-134"/>
          <p:cNvSpPr/>
          <p:nvPr/>
        </p:nvSpPr>
        <p:spPr>
          <a:xfrm>
            <a:off x="1371600" y="2329061"/>
            <a:ext cx="355600" cy="2019300"/>
          </a:xfrm>
          <a:prstGeom prst="rect">
            <a:avLst/>
          </a:prstGeom>
          <a:solidFill>
            <a:srgbClr val="D0904A"/>
          </a:solidFill>
          <a:ln/>
        </p:spPr>
      </p:sp>
      <p:sp>
        <p:nvSpPr>
          <p:cNvPr id="12" name="text-135"/>
          <p:cNvSpPr txBox="1"/>
          <p:nvPr/>
        </p:nvSpPr>
        <p:spPr>
          <a:xfrm>
            <a:off x="1996678" y="1932880"/>
            <a:ext cx="367513" cy="205680"/>
          </a:xfrm>
          <a:prstGeom prst="rect">
            <a:avLst/>
          </a:prstGeom>
          <a:noFill/>
          <a:ln/>
        </p:spPr>
        <p:txBody>
          <a:bodyPr wrap="non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68.5</a:t>
            </a:r>
            <a:endParaRPr lang="en-US" sz="1200" dirty="0"/>
          </a:p>
        </p:txBody>
      </p:sp>
      <p:sp>
        <p:nvSpPr>
          <p:cNvPr id="13" name="shape-136"/>
          <p:cNvSpPr/>
          <p:nvPr/>
        </p:nvSpPr>
        <p:spPr>
          <a:xfrm>
            <a:off x="1981200" y="2176661"/>
            <a:ext cx="355600" cy="2171700"/>
          </a:xfrm>
          <a:prstGeom prst="rect">
            <a:avLst/>
          </a:prstGeom>
          <a:solidFill>
            <a:srgbClr val="15253D"/>
          </a:solidFill>
          <a:ln/>
        </p:spPr>
      </p:sp>
      <p:sp>
        <p:nvSpPr>
          <p:cNvPr id="14" name="text-137"/>
          <p:cNvSpPr txBox="1"/>
          <p:nvPr/>
        </p:nvSpPr>
        <p:spPr>
          <a:xfrm>
            <a:off x="2507357" y="2542480"/>
            <a:ext cx="362075" cy="205680"/>
          </a:xfrm>
          <a:prstGeom prst="rect">
            <a:avLst/>
          </a:prstGeom>
          <a:noFill/>
          <a:ln/>
        </p:spPr>
        <p:txBody>
          <a:bodyPr wrap="non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49.2</a:t>
            </a:r>
            <a:endParaRPr lang="en-US" sz="1200" dirty="0"/>
          </a:p>
        </p:txBody>
      </p:sp>
      <p:sp>
        <p:nvSpPr>
          <p:cNvPr id="15" name="shape-138"/>
          <p:cNvSpPr/>
          <p:nvPr/>
        </p:nvSpPr>
        <p:spPr>
          <a:xfrm>
            <a:off x="2489200" y="2786261"/>
            <a:ext cx="355600" cy="1562100"/>
          </a:xfrm>
          <a:prstGeom prst="rect">
            <a:avLst/>
          </a:prstGeom>
          <a:solidFill>
            <a:srgbClr val="D0904A"/>
          </a:solidFill>
          <a:ln/>
        </p:spPr>
      </p:sp>
      <p:sp>
        <p:nvSpPr>
          <p:cNvPr id="16" name="text-139"/>
          <p:cNvSpPr txBox="1"/>
          <p:nvPr/>
        </p:nvSpPr>
        <p:spPr>
          <a:xfrm>
            <a:off x="3115568" y="1888430"/>
            <a:ext cx="364995" cy="205680"/>
          </a:xfrm>
          <a:prstGeom prst="rect">
            <a:avLst/>
          </a:prstGeom>
          <a:noFill/>
          <a:ln/>
        </p:spPr>
        <p:txBody>
          <a:bodyPr wrap="non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69.8</a:t>
            </a:r>
            <a:endParaRPr lang="en-US" sz="1200" dirty="0"/>
          </a:p>
        </p:txBody>
      </p:sp>
      <p:sp>
        <p:nvSpPr>
          <p:cNvPr id="17" name="shape-140"/>
          <p:cNvSpPr/>
          <p:nvPr/>
        </p:nvSpPr>
        <p:spPr>
          <a:xfrm>
            <a:off x="3098800" y="2132211"/>
            <a:ext cx="355600" cy="2216150"/>
          </a:xfrm>
          <a:prstGeom prst="rect">
            <a:avLst/>
          </a:prstGeom>
          <a:solidFill>
            <a:srgbClr val="15253D"/>
          </a:solidFill>
          <a:ln/>
        </p:spPr>
      </p:sp>
      <p:sp>
        <p:nvSpPr>
          <p:cNvPr id="18" name="text-141"/>
          <p:cNvSpPr txBox="1"/>
          <p:nvPr/>
        </p:nvSpPr>
        <p:spPr>
          <a:xfrm>
            <a:off x="3624064" y="2224980"/>
            <a:ext cx="363887" cy="205680"/>
          </a:xfrm>
          <a:prstGeom prst="rect">
            <a:avLst/>
          </a:prstGeom>
          <a:noFill/>
          <a:ln/>
        </p:spPr>
        <p:txBody>
          <a:bodyPr wrap="non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59.2</a:t>
            </a:r>
            <a:endParaRPr lang="en-US" sz="1200" dirty="0"/>
          </a:p>
        </p:txBody>
      </p:sp>
      <p:sp>
        <p:nvSpPr>
          <p:cNvPr id="19" name="shape-142"/>
          <p:cNvSpPr/>
          <p:nvPr/>
        </p:nvSpPr>
        <p:spPr>
          <a:xfrm>
            <a:off x="3606800" y="2468761"/>
            <a:ext cx="355600" cy="1879600"/>
          </a:xfrm>
          <a:prstGeom prst="rect">
            <a:avLst/>
          </a:prstGeom>
          <a:solidFill>
            <a:srgbClr val="D0904A"/>
          </a:solidFill>
          <a:ln/>
        </p:spPr>
      </p:sp>
      <p:sp>
        <p:nvSpPr>
          <p:cNvPr id="20" name="text-143"/>
          <p:cNvSpPr txBox="1"/>
          <p:nvPr/>
        </p:nvSpPr>
        <p:spPr>
          <a:xfrm>
            <a:off x="4249936" y="1831280"/>
            <a:ext cx="330956" cy="205680"/>
          </a:xfrm>
          <a:prstGeom prst="rect">
            <a:avLst/>
          </a:prstGeom>
          <a:noFill/>
          <a:ln/>
        </p:spPr>
        <p:txBody>
          <a:bodyPr wrap="non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71.5</a:t>
            </a:r>
            <a:endParaRPr lang="en-US" sz="1200" dirty="0"/>
          </a:p>
        </p:txBody>
      </p:sp>
      <p:sp>
        <p:nvSpPr>
          <p:cNvPr id="21" name="shape-144"/>
          <p:cNvSpPr/>
          <p:nvPr/>
        </p:nvSpPr>
        <p:spPr>
          <a:xfrm>
            <a:off x="4216400" y="2075061"/>
            <a:ext cx="355600" cy="2273300"/>
          </a:xfrm>
          <a:prstGeom prst="rect">
            <a:avLst/>
          </a:prstGeom>
          <a:solidFill>
            <a:srgbClr val="15253D"/>
          </a:solidFill>
          <a:ln/>
        </p:spPr>
      </p:sp>
      <p:sp>
        <p:nvSpPr>
          <p:cNvPr id="22" name="text-145"/>
          <p:cNvSpPr txBox="1"/>
          <p:nvPr/>
        </p:nvSpPr>
        <p:spPr>
          <a:xfrm>
            <a:off x="4740473" y="2047180"/>
            <a:ext cx="366405" cy="205680"/>
          </a:xfrm>
          <a:prstGeom prst="rect">
            <a:avLst/>
          </a:prstGeom>
          <a:noFill/>
          <a:ln/>
        </p:spPr>
        <p:txBody>
          <a:bodyPr wrap="non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64.8</a:t>
            </a:r>
            <a:endParaRPr lang="en-US" sz="1200" dirty="0"/>
          </a:p>
        </p:txBody>
      </p:sp>
      <p:sp>
        <p:nvSpPr>
          <p:cNvPr id="23" name="shape-146"/>
          <p:cNvSpPr/>
          <p:nvPr/>
        </p:nvSpPr>
        <p:spPr>
          <a:xfrm>
            <a:off x="4724400" y="2290961"/>
            <a:ext cx="355600" cy="2057400"/>
          </a:xfrm>
          <a:prstGeom prst="rect">
            <a:avLst/>
          </a:prstGeom>
          <a:solidFill>
            <a:srgbClr val="D0904A"/>
          </a:solidFill>
          <a:ln/>
        </p:spPr>
      </p:sp>
      <p:sp>
        <p:nvSpPr>
          <p:cNvPr id="24" name="text-147"/>
          <p:cNvSpPr txBox="1"/>
          <p:nvPr/>
        </p:nvSpPr>
        <p:spPr>
          <a:xfrm>
            <a:off x="5364559" y="1964630"/>
            <a:ext cx="336898" cy="205680"/>
          </a:xfrm>
          <a:prstGeom prst="rect">
            <a:avLst/>
          </a:prstGeom>
          <a:noFill/>
          <a:ln/>
        </p:spPr>
        <p:txBody>
          <a:bodyPr wrap="non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67.4</a:t>
            </a:r>
            <a:endParaRPr lang="en-US" sz="1200" dirty="0"/>
          </a:p>
        </p:txBody>
      </p:sp>
      <p:sp>
        <p:nvSpPr>
          <p:cNvPr id="25" name="shape-148"/>
          <p:cNvSpPr/>
          <p:nvPr/>
        </p:nvSpPr>
        <p:spPr>
          <a:xfrm>
            <a:off x="5334000" y="2208411"/>
            <a:ext cx="355600" cy="2139950"/>
          </a:xfrm>
          <a:prstGeom prst="rect">
            <a:avLst/>
          </a:prstGeom>
          <a:solidFill>
            <a:srgbClr val="15253D"/>
          </a:solidFill>
          <a:ln/>
        </p:spPr>
      </p:sp>
      <p:sp>
        <p:nvSpPr>
          <p:cNvPr id="26" name="text-149"/>
          <p:cNvSpPr txBox="1"/>
          <p:nvPr/>
        </p:nvSpPr>
        <p:spPr>
          <a:xfrm>
            <a:off x="5859363" y="2688530"/>
            <a:ext cx="363686" cy="205680"/>
          </a:xfrm>
          <a:prstGeom prst="rect">
            <a:avLst/>
          </a:prstGeom>
          <a:noFill/>
          <a:ln/>
        </p:spPr>
        <p:txBody>
          <a:bodyPr wrap="non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44.6</a:t>
            </a:r>
            <a:endParaRPr lang="en-US" sz="1200" dirty="0"/>
          </a:p>
        </p:txBody>
      </p:sp>
      <p:sp>
        <p:nvSpPr>
          <p:cNvPr id="27" name="shape-150"/>
          <p:cNvSpPr/>
          <p:nvPr/>
        </p:nvSpPr>
        <p:spPr>
          <a:xfrm>
            <a:off x="5842000" y="2932311"/>
            <a:ext cx="355600" cy="1416050"/>
          </a:xfrm>
          <a:prstGeom prst="rect">
            <a:avLst/>
          </a:prstGeom>
          <a:solidFill>
            <a:srgbClr val="D0904A"/>
          </a:solidFill>
          <a:ln/>
        </p:spPr>
      </p:sp>
      <p:sp>
        <p:nvSpPr>
          <p:cNvPr id="28" name="text-151"/>
          <p:cNvSpPr txBox="1"/>
          <p:nvPr/>
        </p:nvSpPr>
        <p:spPr>
          <a:xfrm>
            <a:off x="6473924" y="1863030"/>
            <a:ext cx="353716" cy="205680"/>
          </a:xfrm>
          <a:prstGeom prst="rect">
            <a:avLst/>
          </a:prstGeom>
          <a:noFill/>
          <a:ln/>
        </p:spPr>
        <p:txBody>
          <a:bodyPr wrap="non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70.6</a:t>
            </a:r>
            <a:endParaRPr lang="en-US" sz="1200" dirty="0"/>
          </a:p>
        </p:txBody>
      </p:sp>
      <p:sp>
        <p:nvSpPr>
          <p:cNvPr id="29" name="shape-152"/>
          <p:cNvSpPr/>
          <p:nvPr/>
        </p:nvSpPr>
        <p:spPr>
          <a:xfrm>
            <a:off x="6451600" y="2106811"/>
            <a:ext cx="355600" cy="2241550"/>
          </a:xfrm>
          <a:prstGeom prst="rect">
            <a:avLst/>
          </a:prstGeom>
          <a:solidFill>
            <a:srgbClr val="15253D"/>
          </a:solidFill>
          <a:ln/>
        </p:spPr>
      </p:sp>
      <p:sp>
        <p:nvSpPr>
          <p:cNvPr id="30" name="text-153"/>
          <p:cNvSpPr txBox="1"/>
          <p:nvPr/>
        </p:nvSpPr>
        <p:spPr>
          <a:xfrm>
            <a:off x="6976467" y="2415480"/>
            <a:ext cx="364794" cy="205680"/>
          </a:xfrm>
          <a:prstGeom prst="rect">
            <a:avLst/>
          </a:prstGeom>
          <a:noFill/>
          <a:ln/>
        </p:spPr>
        <p:txBody>
          <a:bodyPr wrap="non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53.2</a:t>
            </a:r>
            <a:endParaRPr lang="en-US" sz="1200" dirty="0"/>
          </a:p>
        </p:txBody>
      </p:sp>
      <p:sp>
        <p:nvSpPr>
          <p:cNvPr id="31" name="shape-154"/>
          <p:cNvSpPr/>
          <p:nvPr/>
        </p:nvSpPr>
        <p:spPr>
          <a:xfrm>
            <a:off x="6959600" y="2659261"/>
            <a:ext cx="355600" cy="1689100"/>
          </a:xfrm>
          <a:prstGeom prst="rect">
            <a:avLst/>
          </a:prstGeom>
          <a:solidFill>
            <a:srgbClr val="D0904A"/>
          </a:solidFill>
          <a:ln/>
        </p:spPr>
      </p:sp>
      <p:sp>
        <p:nvSpPr>
          <p:cNvPr id="32" name="text-155"/>
          <p:cNvSpPr txBox="1"/>
          <p:nvPr/>
        </p:nvSpPr>
        <p:spPr>
          <a:xfrm>
            <a:off x="786511" y="4462661"/>
            <a:ext cx="1017778" cy="205680"/>
          </a:xfrm>
          <a:prstGeom prst="rect">
            <a:avLst/>
          </a:prstGeom>
          <a:noFill/>
          <a:ln/>
        </p:spPr>
        <p:txBody>
          <a:bodyPr wrap="square" lIns="0" tIns="0" rIns="0" bIns="0" rtlCol="0" anchor="t"/>
          <a:lstStyle/>
          <a:p>
            <a:pPr algn="ctr"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2015</a:t>
            </a:r>
            <a:endParaRPr lang="en-US" sz="1200" dirty="0"/>
          </a:p>
        </p:txBody>
      </p:sp>
      <p:sp>
        <p:nvSpPr>
          <p:cNvPr id="33" name="text-156"/>
          <p:cNvSpPr txBox="1"/>
          <p:nvPr/>
        </p:nvSpPr>
        <p:spPr>
          <a:xfrm>
            <a:off x="1904111" y="4462661"/>
            <a:ext cx="1017778" cy="205680"/>
          </a:xfrm>
          <a:prstGeom prst="rect">
            <a:avLst/>
          </a:prstGeom>
          <a:noFill/>
          <a:ln/>
        </p:spPr>
        <p:txBody>
          <a:bodyPr wrap="square" lIns="0" tIns="0" rIns="0" bIns="0" rtlCol="0" anchor="t"/>
          <a:lstStyle/>
          <a:p>
            <a:pPr algn="ctr"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Apr 2019</a:t>
            </a:r>
            <a:endParaRPr lang="en-US" sz="1200" dirty="0"/>
          </a:p>
        </p:txBody>
      </p:sp>
      <p:sp>
        <p:nvSpPr>
          <p:cNvPr id="34" name="text-157"/>
          <p:cNvSpPr txBox="1"/>
          <p:nvPr/>
        </p:nvSpPr>
        <p:spPr>
          <a:xfrm>
            <a:off x="3021711" y="4462661"/>
            <a:ext cx="1017778" cy="205680"/>
          </a:xfrm>
          <a:prstGeom prst="rect">
            <a:avLst/>
          </a:prstGeom>
          <a:noFill/>
          <a:ln/>
        </p:spPr>
        <p:txBody>
          <a:bodyPr wrap="square" lIns="0" tIns="0" rIns="0" bIns="0" rtlCol="0" anchor="t"/>
          <a:lstStyle/>
          <a:p>
            <a:pPr algn="ctr"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Sep 2019</a:t>
            </a:r>
            <a:endParaRPr lang="en-US" sz="1200" dirty="0"/>
          </a:p>
        </p:txBody>
      </p:sp>
      <p:sp>
        <p:nvSpPr>
          <p:cNvPr id="35" name="text-158"/>
          <p:cNvSpPr txBox="1"/>
          <p:nvPr/>
        </p:nvSpPr>
        <p:spPr>
          <a:xfrm>
            <a:off x="4139311" y="4462661"/>
            <a:ext cx="1017778" cy="205680"/>
          </a:xfrm>
          <a:prstGeom prst="rect">
            <a:avLst/>
          </a:prstGeom>
          <a:noFill/>
          <a:ln/>
        </p:spPr>
        <p:txBody>
          <a:bodyPr wrap="square" lIns="0" tIns="0" rIns="0" bIns="0" rtlCol="0" anchor="t"/>
          <a:lstStyle/>
          <a:p>
            <a:pPr algn="ctr"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Mar 2020</a:t>
            </a:r>
            <a:endParaRPr lang="en-US" sz="1200" dirty="0"/>
          </a:p>
        </p:txBody>
      </p:sp>
      <p:sp>
        <p:nvSpPr>
          <p:cNvPr id="36" name="text-159"/>
          <p:cNvSpPr txBox="1"/>
          <p:nvPr/>
        </p:nvSpPr>
        <p:spPr>
          <a:xfrm>
            <a:off x="5256911" y="4462661"/>
            <a:ext cx="1017778" cy="205680"/>
          </a:xfrm>
          <a:prstGeom prst="rect">
            <a:avLst/>
          </a:prstGeom>
          <a:noFill/>
          <a:ln/>
        </p:spPr>
        <p:txBody>
          <a:bodyPr wrap="square" lIns="0" tIns="0" rIns="0" bIns="0" rtlCol="0" anchor="t"/>
          <a:lstStyle/>
          <a:p>
            <a:pPr algn="ctr"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Mar 2021</a:t>
            </a:r>
            <a:endParaRPr lang="en-US" sz="1200" dirty="0"/>
          </a:p>
        </p:txBody>
      </p:sp>
      <p:sp>
        <p:nvSpPr>
          <p:cNvPr id="37" name="text-160"/>
          <p:cNvSpPr txBox="1"/>
          <p:nvPr/>
        </p:nvSpPr>
        <p:spPr>
          <a:xfrm>
            <a:off x="6374511" y="4462661"/>
            <a:ext cx="1017778" cy="205680"/>
          </a:xfrm>
          <a:prstGeom prst="rect">
            <a:avLst/>
          </a:prstGeom>
          <a:noFill/>
          <a:ln/>
        </p:spPr>
        <p:txBody>
          <a:bodyPr wrap="square" lIns="0" tIns="0" rIns="0" bIns="0" rtlCol="0" anchor="t"/>
          <a:lstStyle/>
          <a:p>
            <a:pPr algn="ctr"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Nov 2022</a:t>
            </a:r>
            <a:endParaRPr lang="en-US" sz="1200" dirty="0"/>
          </a:p>
        </p:txBody>
      </p:sp>
      <p:sp>
        <p:nvSpPr>
          <p:cNvPr id="38" name="shape-161"/>
          <p:cNvSpPr/>
          <p:nvPr/>
        </p:nvSpPr>
        <p:spPr>
          <a:xfrm>
            <a:off x="7772400" y="1513780"/>
            <a:ext cx="3606800" cy="2214662"/>
          </a:xfrm>
          <a:prstGeom prst="roundRect">
            <a:avLst>
              <a:gd name="adj" fmla="val 3441"/>
            </a:avLst>
          </a:prstGeom>
          <a:solidFill>
            <a:srgbClr val="15253D"/>
          </a:solidFill>
          <a:ln/>
        </p:spPr>
      </p:sp>
      <p:sp>
        <p:nvSpPr>
          <p:cNvPr id="39" name="text-162"/>
          <p:cNvSpPr txBox="1"/>
          <p:nvPr/>
        </p:nvSpPr>
        <p:spPr>
          <a:xfrm>
            <a:off x="7975600" y="1716980"/>
            <a:ext cx="3286506" cy="205680"/>
          </a:xfrm>
          <a:prstGeom prst="rect">
            <a:avLst/>
          </a:prstGeom>
          <a:noFill/>
          <a:ln/>
        </p:spPr>
        <p:txBody>
          <a:bodyPr wrap="square" lIns="0" tIns="0" rIns="0" bIns="0" rtlCol="0" anchor="t"/>
          <a:lstStyle/>
          <a:p>
            <a:pPr algn="l" indent="0" marL="0">
              <a:lnSpc>
                <a:spcPts val="1620"/>
              </a:lnSpc>
              <a:buNone/>
            </a:pPr>
            <a:r>
              <a:rPr lang="en-US" sz="1200" b="1" spc="100" kern="0" dirty="0">
                <a:solidFill>
                  <a:srgbClr val="E2AD6E"/>
                </a:solidFill>
                <a:latin typeface="Public Sans" pitchFamily="34" charset="0"/>
                <a:ea typeface="Public Sans" pitchFamily="34" charset="-122"/>
                <a:cs typeface="Public Sans" pitchFamily="34" charset="-120"/>
              </a:rPr>
              <a:t>ARAB-SECTOR SWING</a:t>
            </a:r>
            <a:endParaRPr lang="en-US" sz="1200" dirty="0"/>
          </a:p>
        </p:txBody>
      </p:sp>
      <p:sp>
        <p:nvSpPr>
          <p:cNvPr id="40" name="text-163"/>
          <p:cNvSpPr txBox="1"/>
          <p:nvPr/>
        </p:nvSpPr>
        <p:spPr>
          <a:xfrm>
            <a:off x="7975600" y="1998861"/>
            <a:ext cx="1180722" cy="446980"/>
          </a:xfrm>
          <a:prstGeom prst="rect">
            <a:avLst/>
          </a:prstGeom>
          <a:noFill/>
          <a:ln/>
        </p:spPr>
        <p:txBody>
          <a:bodyPr wrap="square" lIns="0" tIns="0" rIns="0" bIns="0" rtlCol="0" anchor="t"/>
          <a:lstStyle/>
          <a:p>
            <a:pPr algn="l" indent="0" marL="0">
              <a:lnSpc>
                <a:spcPts val="3520"/>
              </a:lnSpc>
              <a:buNone/>
            </a:pPr>
            <a:r>
              <a:rPr lang="en-US" sz="3200" dirty="0">
                <a:solidFill>
                  <a:srgbClr val="F4EFE4"/>
                </a:solidFill>
                <a:latin typeface="Libre Baskerville" pitchFamily="34" charset="0"/>
                <a:ea typeface="Libre Baskerville" pitchFamily="34" charset="-122"/>
                <a:cs typeface="Libre Baskerville" pitchFamily="34" charset="-120"/>
              </a:rPr>
              <a:t>64.8%</a:t>
            </a:r>
            <a:endParaRPr lang="en-US" sz="3200" dirty="0"/>
          </a:p>
        </p:txBody>
      </p:sp>
      <p:sp>
        <p:nvSpPr>
          <p:cNvPr id="41" name="text-164"/>
          <p:cNvSpPr txBox="1"/>
          <p:nvPr/>
        </p:nvSpPr>
        <p:spPr>
          <a:xfrm>
            <a:off x="9253736" y="2176661"/>
            <a:ext cx="1047084" cy="240010"/>
          </a:xfrm>
          <a:prstGeom prst="rect">
            <a:avLst/>
          </a:prstGeom>
          <a:noFill/>
          <a:ln/>
        </p:spPr>
        <p:txBody>
          <a:bodyPr wrap="square" lIns="0" tIns="0" rIns="0" bIns="0" rtlCol="0" anchor="t"/>
          <a:lstStyle/>
          <a:p>
            <a:pPr algn="l" indent="0" marL="0">
              <a:lnSpc>
                <a:spcPts val="1890"/>
              </a:lnSpc>
              <a:buNone/>
            </a:pPr>
            <a:r>
              <a:rPr lang="en-US" sz="1400" dirty="0">
                <a:solidFill>
                  <a:srgbClr val="C9D1DC"/>
                </a:solidFill>
                <a:latin typeface="Public Sans" pitchFamily="34" charset="0"/>
                <a:ea typeface="Public Sans" pitchFamily="34" charset="-122"/>
                <a:cs typeface="Public Sans" pitchFamily="34" charset="-120"/>
              </a:rPr>
              <a:t>March 2020</a:t>
            </a:r>
            <a:endParaRPr lang="en-US" sz="1400" dirty="0"/>
          </a:p>
        </p:txBody>
      </p:sp>
      <p:sp>
        <p:nvSpPr>
          <p:cNvPr id="42" name="text-165"/>
          <p:cNvSpPr txBox="1"/>
          <p:nvPr/>
        </p:nvSpPr>
        <p:spPr>
          <a:xfrm>
            <a:off x="7975600" y="2522041"/>
            <a:ext cx="1166724" cy="446980"/>
          </a:xfrm>
          <a:prstGeom prst="rect">
            <a:avLst/>
          </a:prstGeom>
          <a:noFill/>
          <a:ln/>
        </p:spPr>
        <p:txBody>
          <a:bodyPr wrap="square" lIns="0" tIns="0" rIns="0" bIns="0" rtlCol="0" anchor="t"/>
          <a:lstStyle/>
          <a:p>
            <a:pPr algn="l" indent="0" marL="0">
              <a:lnSpc>
                <a:spcPts val="3520"/>
              </a:lnSpc>
              <a:buNone/>
            </a:pPr>
            <a:r>
              <a:rPr lang="en-US" sz="3200" dirty="0">
                <a:solidFill>
                  <a:srgbClr val="E2AD6E"/>
                </a:solidFill>
                <a:latin typeface="Libre Baskerville" pitchFamily="34" charset="0"/>
                <a:ea typeface="Libre Baskerville" pitchFamily="34" charset="-122"/>
                <a:cs typeface="Libre Baskerville" pitchFamily="34" charset="-120"/>
              </a:rPr>
              <a:t>44.6%</a:t>
            </a:r>
            <a:endParaRPr lang="en-US" sz="3200" dirty="0"/>
          </a:p>
        </p:txBody>
      </p:sp>
      <p:sp>
        <p:nvSpPr>
          <p:cNvPr id="43" name="text-166"/>
          <p:cNvSpPr txBox="1"/>
          <p:nvPr/>
        </p:nvSpPr>
        <p:spPr>
          <a:xfrm>
            <a:off x="9239945" y="2699841"/>
            <a:ext cx="1010024" cy="240010"/>
          </a:xfrm>
          <a:prstGeom prst="rect">
            <a:avLst/>
          </a:prstGeom>
          <a:noFill/>
          <a:ln/>
        </p:spPr>
        <p:txBody>
          <a:bodyPr wrap="square" lIns="0" tIns="0" rIns="0" bIns="0" rtlCol="0" anchor="t"/>
          <a:lstStyle/>
          <a:p>
            <a:pPr algn="l" indent="0" marL="0">
              <a:lnSpc>
                <a:spcPts val="1890"/>
              </a:lnSpc>
              <a:buNone/>
            </a:pPr>
            <a:r>
              <a:rPr lang="en-US" sz="1400" dirty="0">
                <a:solidFill>
                  <a:srgbClr val="C9D1DC"/>
                </a:solidFill>
                <a:latin typeface="Public Sans" pitchFamily="34" charset="0"/>
                <a:ea typeface="Public Sans" pitchFamily="34" charset="-122"/>
                <a:cs typeface="Public Sans" pitchFamily="34" charset="-120"/>
              </a:rPr>
              <a:t>March 2021</a:t>
            </a:r>
            <a:endParaRPr lang="en-US" sz="1400" dirty="0"/>
          </a:p>
        </p:txBody>
      </p:sp>
      <p:sp>
        <p:nvSpPr>
          <p:cNvPr id="44" name="text-167"/>
          <p:cNvSpPr txBox="1"/>
          <p:nvPr/>
        </p:nvSpPr>
        <p:spPr>
          <a:xfrm>
            <a:off x="7975600" y="3045222"/>
            <a:ext cx="3286506" cy="480020"/>
          </a:xfrm>
          <a:prstGeom prst="rect">
            <a:avLst/>
          </a:prstGeom>
          <a:noFill/>
          <a:ln/>
        </p:spPr>
        <p:txBody>
          <a:bodyPr wrap="square" lIns="0" tIns="0" rIns="0" bIns="0" rtlCol="0" anchor="t"/>
          <a:lstStyle/>
          <a:p>
            <a:pPr algn="l" indent="0" marL="0">
              <a:lnSpc>
                <a:spcPts val="1890"/>
              </a:lnSpc>
              <a:buNone/>
            </a:pPr>
            <a:r>
              <a:rPr lang="en-US" sz="1400" dirty="0">
                <a:solidFill>
                  <a:srgbClr val="F4EFE4"/>
                </a:solidFill>
                <a:latin typeface="Public Sans" pitchFamily="34" charset="0"/>
                <a:ea typeface="Public Sans" pitchFamily="34" charset="-122"/>
                <a:cs typeface="Public Sans" pitchFamily="34" charset="-120"/>
              </a:rPr>
              <a:t>One year apart. Overall turnout ranged 67.4–72.3% across all six.</a:t>
            </a:r>
            <a:endParaRPr lang="en-US" sz="1400" dirty="0"/>
          </a:p>
        </p:txBody>
      </p:sp>
      <p:sp>
        <p:nvSpPr>
          <p:cNvPr id="45" name="shape-168"/>
          <p:cNvSpPr/>
          <p:nvPr/>
        </p:nvSpPr>
        <p:spPr>
          <a:xfrm>
            <a:off x="7772400" y="3880842"/>
            <a:ext cx="3606800" cy="1396702"/>
          </a:xfrm>
          <a:prstGeom prst="roundRect">
            <a:avLst>
              <a:gd name="adj" fmla="val 5456"/>
            </a:avLst>
          </a:prstGeom>
          <a:solidFill>
            <a:srgbClr val="FBF8F1"/>
          </a:solidFill>
          <a:ln w="6350">
            <a:solidFill>
              <a:srgbClr val="D9D1C1"/>
            </a:solidFill>
            <a:prstDash val="solid"/>
          </a:ln>
        </p:spPr>
      </p:sp>
      <p:sp>
        <p:nvSpPr>
          <p:cNvPr id="46" name="text-169"/>
          <p:cNvSpPr txBox="1"/>
          <p:nvPr/>
        </p:nvSpPr>
        <p:spPr>
          <a:xfrm>
            <a:off x="7981950" y="4039592"/>
            <a:ext cx="3273616" cy="205680"/>
          </a:xfrm>
          <a:prstGeom prst="rect">
            <a:avLst/>
          </a:prstGeom>
          <a:noFill/>
          <a:ln/>
        </p:spPr>
        <p:txBody>
          <a:bodyPr wrap="square" lIns="0" tIns="0" rIns="0" bIns="0" rtlCol="0" anchor="t"/>
          <a:lstStyle/>
          <a:p>
            <a:pPr algn="l" indent="0" marL="0">
              <a:lnSpc>
                <a:spcPts val="1620"/>
              </a:lnSpc>
              <a:buNone/>
            </a:pPr>
            <a:r>
              <a:rPr lang="en-US" sz="1200" b="1" spc="100" kern="0" dirty="0">
                <a:solidFill>
                  <a:srgbClr val="9A541A"/>
                </a:solidFill>
                <a:latin typeface="Public Sans" pitchFamily="34" charset="0"/>
                <a:ea typeface="Public Sans" pitchFamily="34" charset="-122"/>
                <a:cs typeface="Public Sans" pitchFamily="34" charset="-120"/>
              </a:rPr>
              <a:t>EXPECTED IN 2026</a:t>
            </a:r>
            <a:endParaRPr lang="en-US" sz="1200" dirty="0"/>
          </a:p>
        </p:txBody>
      </p:sp>
      <p:sp>
        <p:nvSpPr>
          <p:cNvPr id="47" name="text-170"/>
          <p:cNvSpPr txBox="1"/>
          <p:nvPr/>
        </p:nvSpPr>
        <p:spPr>
          <a:xfrm>
            <a:off x="7981950" y="4296073"/>
            <a:ext cx="3273616" cy="822722"/>
          </a:xfrm>
          <a:prstGeom prst="rect">
            <a:avLst/>
          </a:prstGeom>
          <a:noFill/>
          <a:ln/>
        </p:spPr>
        <p:txBody>
          <a:bodyPr wrap="squar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Arab-sector turnout ~53% expected; a survey put it at 67% for a hypothetical four-party list including Ra'am, which did not happen (Dayan Center/KAP, May 2026).</a:t>
            </a:r>
            <a:endParaRPr lang="en-US" sz="1200" dirty="0"/>
          </a:p>
        </p:txBody>
      </p:sp>
      <p:sp>
        <p:nvSpPr>
          <p:cNvPr id="48" name="text-171"/>
          <p:cNvSpPr txBox="1"/>
          <p:nvPr/>
        </p:nvSpPr>
        <p:spPr>
          <a:xfrm>
            <a:off x="7772400" y="5429945"/>
            <a:ext cx="3699002" cy="411361"/>
          </a:xfrm>
          <a:prstGeom prst="rect">
            <a:avLst/>
          </a:prstGeom>
          <a:noFill/>
          <a:ln/>
        </p:spPr>
        <p:txBody>
          <a:bodyPr wrap="square" lIns="0" tIns="0" rIns="0" bIns="0" rtlCol="0" anchor="t"/>
          <a:lstStyle/>
          <a:p>
            <a:pPr algn="l" indent="0" marL="0">
              <a:lnSpc>
                <a:spcPts val="1620"/>
              </a:lnSpc>
              <a:buNone/>
            </a:pPr>
            <a:r>
              <a:rPr lang="en-US" sz="1200" dirty="0">
                <a:solidFill>
                  <a:srgbClr val="4F5B69"/>
                </a:solidFill>
                <a:latin typeface="Public Sans" pitchFamily="34" charset="0"/>
                <a:ea typeface="Public Sans" pitchFamily="34" charset="-122"/>
                <a:cs typeface="Public Sans" pitchFamily="34" charset="-120"/>
              </a:rPr>
              <a:t>The 2015 Arab-sector figure is the Dayan Center's; another calculation puts it at 52%.</a:t>
            </a:r>
            <a:endParaRPr lang="en-US" sz="1200" dirty="0"/>
          </a:p>
        </p:txBody>
      </p:sp>
      <p:sp>
        <p:nvSpPr>
          <p:cNvPr id="49" name="text-172"/>
          <p:cNvSpPr txBox="1"/>
          <p:nvPr/>
        </p:nvSpPr>
        <p:spPr>
          <a:xfrm>
            <a:off x="812800" y="6055519"/>
            <a:ext cx="10762996" cy="39608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Overall: official results via Wikipedia per-election articles. Arab sector: IDI/Rudnitzky, Sep 23 2019; Mar 10 2020; Apr 27 2021; Dec 25 2022; 2015 Dayan Center, May 20 2019. 2026: Konrad Adenauer Program/Dayan Center survey, May 2026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FE4"/>
        </a:solidFill>
      </p:bgPr>
    </p:bg>
    <p:spTree>
      <p:nvGrpSpPr>
        <p:cNvPr id="1" name=""/>
        <p:cNvGrpSpPr/>
        <p:nvPr/>
      </p:nvGrpSpPr>
      <p:grpSpPr>
        <a:xfrm>
          <a:off x="0" y="0"/>
          <a:ext cx="0" cy="0"/>
          <a:chOff x="0" y="0"/>
          <a:chExt cx="0" cy="0"/>
        </a:xfrm>
      </p:grpSpPr>
      <p:sp>
        <p:nvSpPr>
          <p:cNvPr id="2" name="text-173"/>
          <p:cNvSpPr txBox="1"/>
          <p:nvPr/>
        </p:nvSpPr>
        <p:spPr>
          <a:xfrm>
            <a:off x="812800" y="812800"/>
            <a:ext cx="10762996"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From vote to government</a:t>
            </a:r>
            <a:endParaRPr lang="en-US" sz="3200" dirty="0"/>
          </a:p>
        </p:txBody>
      </p:sp>
      <p:sp>
        <p:nvSpPr>
          <p:cNvPr id="3" name="rule-175"/>
          <p:cNvSpPr/>
          <p:nvPr/>
        </p:nvSpPr>
        <p:spPr>
          <a:xfrm>
            <a:off x="812800" y="1513780"/>
            <a:ext cx="1527671" cy="38100"/>
          </a:xfrm>
          <a:prstGeom prst="rect">
            <a:avLst/>
          </a:prstGeom>
          <a:solidFill>
            <a:srgbClr val="9A541A"/>
          </a:solidFill>
          <a:ln/>
        </p:spPr>
      </p:sp>
      <p:sp>
        <p:nvSpPr>
          <p:cNvPr id="4" name="text-176"/>
          <p:cNvSpPr txBox="1"/>
          <p:nvPr/>
        </p:nvSpPr>
        <p:spPr>
          <a:xfrm>
            <a:off x="812800" y="1704280"/>
            <a:ext cx="1459781" cy="274241"/>
          </a:xfrm>
          <a:prstGeom prst="rect">
            <a:avLst/>
          </a:prstGeom>
          <a:noFill/>
          <a:ln/>
        </p:spPr>
        <p:txBody>
          <a:bodyPr wrap="square" lIns="0" tIns="0" rIns="0" bIns="0" rtlCol="0" anchor="t"/>
          <a:lstStyle/>
          <a:p>
            <a:pPr algn="l" indent="0" marL="0">
              <a:lnSpc>
                <a:spcPts val="2160"/>
              </a:lnSpc>
              <a:buNone/>
            </a:pPr>
            <a:r>
              <a:rPr lang="en-US" sz="1800" dirty="0">
                <a:solidFill>
                  <a:srgbClr val="9A541A"/>
                </a:solidFill>
                <a:latin typeface="Libre Baskerville" pitchFamily="34" charset="0"/>
                <a:ea typeface="Libre Baskerville" pitchFamily="34" charset="-122"/>
                <a:cs typeface="Libre Baskerville" pitchFamily="34" charset="-120"/>
              </a:rPr>
              <a:t>Oct 27</a:t>
            </a:r>
            <a:endParaRPr lang="en-US" sz="1800" dirty="0"/>
          </a:p>
        </p:txBody>
      </p:sp>
      <p:sp>
        <p:nvSpPr>
          <p:cNvPr id="5" name="text-177"/>
          <p:cNvSpPr txBox="1"/>
          <p:nvPr/>
        </p:nvSpPr>
        <p:spPr>
          <a:xfrm>
            <a:off x="812800" y="2054721"/>
            <a:ext cx="1459781" cy="960041"/>
          </a:xfrm>
          <a:prstGeom prst="rect">
            <a:avLst/>
          </a:prstGeom>
          <a:noFill/>
          <a:ln/>
        </p:spPr>
        <p:txBody>
          <a:bodyPr wrap="square" lIns="0" tIns="0" rIns="0" bIns="0" rtlCol="0" anchor="t"/>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Election day. Diplomats abroad vote Oct 20.</a:t>
            </a:r>
            <a:endParaRPr lang="en-US" sz="1400" dirty="0"/>
          </a:p>
        </p:txBody>
      </p:sp>
      <p:sp>
        <p:nvSpPr>
          <p:cNvPr id="6" name="rule-179"/>
          <p:cNvSpPr/>
          <p:nvPr/>
        </p:nvSpPr>
        <p:spPr>
          <a:xfrm>
            <a:off x="2340471" y="1513780"/>
            <a:ext cx="1527671" cy="38100"/>
          </a:xfrm>
          <a:prstGeom prst="rect">
            <a:avLst/>
          </a:prstGeom>
          <a:solidFill>
            <a:srgbClr val="15253D"/>
          </a:solidFill>
          <a:ln/>
        </p:spPr>
      </p:sp>
      <p:sp>
        <p:nvSpPr>
          <p:cNvPr id="7" name="text-180"/>
          <p:cNvSpPr txBox="1"/>
          <p:nvPr/>
        </p:nvSpPr>
        <p:spPr>
          <a:xfrm>
            <a:off x="2340471" y="1704280"/>
            <a:ext cx="1459781" cy="274241"/>
          </a:xfrm>
          <a:prstGeom prst="rect">
            <a:avLst/>
          </a:prstGeom>
          <a:noFill/>
          <a:ln/>
        </p:spPr>
        <p:txBody>
          <a:bodyPr wrap="square" lIns="0" tIns="0" rIns="0" bIns="0" rtlCol="0" anchor="t"/>
          <a:lstStyle/>
          <a:p>
            <a:pPr algn="l" indent="0" marL="0">
              <a:lnSpc>
                <a:spcPts val="2160"/>
              </a:lnSpc>
              <a:buNone/>
            </a:pPr>
            <a:r>
              <a:rPr lang="en-US" sz="1800" dirty="0">
                <a:solidFill>
                  <a:srgbClr val="15253D"/>
                </a:solidFill>
                <a:latin typeface="Libre Baskerville" pitchFamily="34" charset="0"/>
                <a:ea typeface="Libre Baskerville" pitchFamily="34" charset="-122"/>
                <a:cs typeface="Libre Baskerville" pitchFamily="34" charset="-120"/>
              </a:rPr>
              <a:t>Nov 4</a:t>
            </a:r>
            <a:endParaRPr lang="en-US" sz="1800" dirty="0"/>
          </a:p>
        </p:txBody>
      </p:sp>
      <p:sp>
        <p:nvSpPr>
          <p:cNvPr id="8" name="text-181"/>
          <p:cNvSpPr txBox="1"/>
          <p:nvPr/>
        </p:nvSpPr>
        <p:spPr>
          <a:xfrm>
            <a:off x="2340471" y="2054721"/>
            <a:ext cx="1459781" cy="240010"/>
          </a:xfrm>
          <a:prstGeom prst="rect">
            <a:avLst/>
          </a:prstGeom>
          <a:noFill/>
          <a:ln/>
        </p:spPr>
        <p:txBody>
          <a:bodyPr wrap="square" lIns="0" tIns="0" rIns="0" bIns="0" rtlCol="0" anchor="t"/>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Results certified.</a:t>
            </a:r>
            <a:endParaRPr lang="en-US" sz="1400" dirty="0"/>
          </a:p>
        </p:txBody>
      </p:sp>
      <p:sp>
        <p:nvSpPr>
          <p:cNvPr id="9" name="rule-183"/>
          <p:cNvSpPr/>
          <p:nvPr/>
        </p:nvSpPr>
        <p:spPr>
          <a:xfrm>
            <a:off x="3868142" y="1513780"/>
            <a:ext cx="1527671" cy="38100"/>
          </a:xfrm>
          <a:prstGeom prst="rect">
            <a:avLst/>
          </a:prstGeom>
          <a:solidFill>
            <a:srgbClr val="15253D"/>
          </a:solidFill>
          <a:ln/>
        </p:spPr>
      </p:sp>
      <p:sp>
        <p:nvSpPr>
          <p:cNvPr id="10" name="text-184"/>
          <p:cNvSpPr txBox="1"/>
          <p:nvPr/>
        </p:nvSpPr>
        <p:spPr>
          <a:xfrm>
            <a:off x="3868142" y="1704280"/>
            <a:ext cx="1459781" cy="274241"/>
          </a:xfrm>
          <a:prstGeom prst="rect">
            <a:avLst/>
          </a:prstGeom>
          <a:noFill/>
          <a:ln/>
        </p:spPr>
        <p:txBody>
          <a:bodyPr wrap="square" lIns="0" tIns="0" rIns="0" bIns="0" rtlCol="0" anchor="t"/>
          <a:lstStyle/>
          <a:p>
            <a:pPr algn="l" indent="0" marL="0">
              <a:lnSpc>
                <a:spcPts val="2160"/>
              </a:lnSpc>
              <a:buNone/>
            </a:pPr>
            <a:r>
              <a:rPr lang="en-US" sz="1800" dirty="0">
                <a:solidFill>
                  <a:srgbClr val="15253D"/>
                </a:solidFill>
                <a:latin typeface="Libre Baskerville" pitchFamily="34" charset="0"/>
                <a:ea typeface="Libre Baskerville" pitchFamily="34" charset="-122"/>
                <a:cs typeface="Libre Baskerville" pitchFamily="34" charset="-120"/>
              </a:rPr>
              <a:t>By Nov 11</a:t>
            </a:r>
            <a:endParaRPr lang="en-US" sz="1800" dirty="0"/>
          </a:p>
        </p:txBody>
      </p:sp>
      <p:sp>
        <p:nvSpPr>
          <p:cNvPr id="11" name="text-185"/>
          <p:cNvSpPr txBox="1"/>
          <p:nvPr/>
        </p:nvSpPr>
        <p:spPr>
          <a:xfrm>
            <a:off x="3868142" y="2054721"/>
            <a:ext cx="1459781" cy="1200051"/>
          </a:xfrm>
          <a:prstGeom prst="rect">
            <a:avLst/>
          </a:prstGeom>
          <a:noFill/>
          <a:ln/>
        </p:spPr>
        <p:txBody>
          <a:bodyPr wrap="square" lIns="0" tIns="0" rIns="0" bIns="0" rtlCol="0" anchor="t"/>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The President consults the factions and assigns the mandate.</a:t>
            </a:r>
            <a:endParaRPr lang="en-US" sz="1400" dirty="0"/>
          </a:p>
        </p:txBody>
      </p:sp>
      <p:sp>
        <p:nvSpPr>
          <p:cNvPr id="12" name="rule-187"/>
          <p:cNvSpPr/>
          <p:nvPr/>
        </p:nvSpPr>
        <p:spPr>
          <a:xfrm>
            <a:off x="5395813" y="1513780"/>
            <a:ext cx="1527671" cy="38100"/>
          </a:xfrm>
          <a:prstGeom prst="rect">
            <a:avLst/>
          </a:prstGeom>
          <a:solidFill>
            <a:srgbClr val="15253D"/>
          </a:solidFill>
          <a:ln/>
        </p:spPr>
      </p:sp>
      <p:sp>
        <p:nvSpPr>
          <p:cNvPr id="13" name="text-188"/>
          <p:cNvSpPr txBox="1"/>
          <p:nvPr/>
        </p:nvSpPr>
        <p:spPr>
          <a:xfrm>
            <a:off x="5395813" y="1704280"/>
            <a:ext cx="1459781" cy="274241"/>
          </a:xfrm>
          <a:prstGeom prst="rect">
            <a:avLst/>
          </a:prstGeom>
          <a:noFill/>
          <a:ln/>
        </p:spPr>
        <p:txBody>
          <a:bodyPr wrap="square" lIns="0" tIns="0" rIns="0" bIns="0" rtlCol="0" anchor="t"/>
          <a:lstStyle/>
          <a:p>
            <a:pPr algn="l" indent="0" marL="0">
              <a:lnSpc>
                <a:spcPts val="2160"/>
              </a:lnSpc>
              <a:buNone/>
            </a:pPr>
            <a:r>
              <a:rPr lang="en-US" sz="1800" dirty="0">
                <a:solidFill>
                  <a:srgbClr val="15253D"/>
                </a:solidFill>
                <a:latin typeface="Libre Baskerville" pitchFamily="34" charset="0"/>
                <a:ea typeface="Libre Baskerville" pitchFamily="34" charset="-122"/>
                <a:cs typeface="Libre Baskerville" pitchFamily="34" charset="-120"/>
              </a:rPr>
              <a:t>28 days</a:t>
            </a:r>
            <a:endParaRPr lang="en-US" sz="1800" dirty="0"/>
          </a:p>
        </p:txBody>
      </p:sp>
      <p:sp>
        <p:nvSpPr>
          <p:cNvPr id="14" name="text-189"/>
          <p:cNvSpPr txBox="1"/>
          <p:nvPr/>
        </p:nvSpPr>
        <p:spPr>
          <a:xfrm>
            <a:off x="5395813" y="2054721"/>
            <a:ext cx="1459781" cy="960041"/>
          </a:xfrm>
          <a:prstGeom prst="rect">
            <a:avLst/>
          </a:prstGeom>
          <a:noFill/>
          <a:ln/>
        </p:spPr>
        <p:txBody>
          <a:bodyPr wrap="square" lIns="0" tIns="0" rIns="0" bIns="0" rtlCol="0" anchor="t"/>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First candidate tries to form a government. Up to 14 more days.</a:t>
            </a:r>
            <a:endParaRPr lang="en-US" sz="1400" dirty="0"/>
          </a:p>
        </p:txBody>
      </p:sp>
      <p:sp>
        <p:nvSpPr>
          <p:cNvPr id="15" name="rule-191"/>
          <p:cNvSpPr/>
          <p:nvPr/>
        </p:nvSpPr>
        <p:spPr>
          <a:xfrm>
            <a:off x="6923484" y="1513780"/>
            <a:ext cx="1527671" cy="38100"/>
          </a:xfrm>
          <a:prstGeom prst="rect">
            <a:avLst/>
          </a:prstGeom>
          <a:solidFill>
            <a:srgbClr val="15253D"/>
          </a:solidFill>
          <a:ln/>
        </p:spPr>
      </p:sp>
      <p:sp>
        <p:nvSpPr>
          <p:cNvPr id="16" name="text-192"/>
          <p:cNvSpPr txBox="1"/>
          <p:nvPr/>
        </p:nvSpPr>
        <p:spPr>
          <a:xfrm>
            <a:off x="6923484" y="1704280"/>
            <a:ext cx="1459781" cy="274241"/>
          </a:xfrm>
          <a:prstGeom prst="rect">
            <a:avLst/>
          </a:prstGeom>
          <a:noFill/>
          <a:ln/>
        </p:spPr>
        <p:txBody>
          <a:bodyPr wrap="square" lIns="0" tIns="0" rIns="0" bIns="0" rtlCol="0" anchor="t"/>
          <a:lstStyle/>
          <a:p>
            <a:pPr algn="l" indent="0" marL="0">
              <a:lnSpc>
                <a:spcPts val="2160"/>
              </a:lnSpc>
              <a:buNone/>
            </a:pPr>
            <a:r>
              <a:rPr lang="en-US" sz="1800" dirty="0">
                <a:solidFill>
                  <a:srgbClr val="15253D"/>
                </a:solidFill>
                <a:latin typeface="Libre Baskerville" pitchFamily="34" charset="0"/>
                <a:ea typeface="Libre Baskerville" pitchFamily="34" charset="-122"/>
                <a:cs typeface="Libre Baskerville" pitchFamily="34" charset="-120"/>
              </a:rPr>
              <a:t>28 days</a:t>
            </a:r>
            <a:endParaRPr lang="en-US" sz="1800" dirty="0"/>
          </a:p>
        </p:txBody>
      </p:sp>
      <p:sp>
        <p:nvSpPr>
          <p:cNvPr id="17" name="text-193"/>
          <p:cNvSpPr txBox="1"/>
          <p:nvPr/>
        </p:nvSpPr>
        <p:spPr>
          <a:xfrm>
            <a:off x="6923484" y="2054721"/>
            <a:ext cx="1459781" cy="720030"/>
          </a:xfrm>
          <a:prstGeom prst="rect">
            <a:avLst/>
          </a:prstGeom>
          <a:noFill/>
          <a:ln/>
        </p:spPr>
        <p:txBody>
          <a:bodyPr wrap="square" lIns="0" tIns="0" rIns="0" bIns="0" rtlCol="0" anchor="t"/>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If that fails, a second candidate tries.</a:t>
            </a:r>
            <a:endParaRPr lang="en-US" sz="1400" dirty="0"/>
          </a:p>
        </p:txBody>
      </p:sp>
      <p:sp>
        <p:nvSpPr>
          <p:cNvPr id="18" name="rule-195"/>
          <p:cNvSpPr/>
          <p:nvPr/>
        </p:nvSpPr>
        <p:spPr>
          <a:xfrm>
            <a:off x="8451155" y="1513780"/>
            <a:ext cx="1527671" cy="38100"/>
          </a:xfrm>
          <a:prstGeom prst="rect">
            <a:avLst/>
          </a:prstGeom>
          <a:solidFill>
            <a:srgbClr val="15253D"/>
          </a:solidFill>
          <a:ln/>
        </p:spPr>
      </p:sp>
      <p:sp>
        <p:nvSpPr>
          <p:cNvPr id="19" name="text-196"/>
          <p:cNvSpPr txBox="1"/>
          <p:nvPr/>
        </p:nvSpPr>
        <p:spPr>
          <a:xfrm>
            <a:off x="8451155" y="1704280"/>
            <a:ext cx="1459781" cy="274241"/>
          </a:xfrm>
          <a:prstGeom prst="rect">
            <a:avLst/>
          </a:prstGeom>
          <a:noFill/>
          <a:ln/>
        </p:spPr>
        <p:txBody>
          <a:bodyPr wrap="square" lIns="0" tIns="0" rIns="0" bIns="0" rtlCol="0" anchor="t"/>
          <a:lstStyle/>
          <a:p>
            <a:pPr algn="l" indent="0" marL="0">
              <a:lnSpc>
                <a:spcPts val="2160"/>
              </a:lnSpc>
              <a:buNone/>
            </a:pPr>
            <a:r>
              <a:rPr lang="en-US" sz="1800" dirty="0">
                <a:solidFill>
                  <a:srgbClr val="15253D"/>
                </a:solidFill>
                <a:latin typeface="Libre Baskerville" pitchFamily="34" charset="0"/>
                <a:ea typeface="Libre Baskerville" pitchFamily="34" charset="-122"/>
                <a:cs typeface="Libre Baskerville" pitchFamily="34" charset="-120"/>
              </a:rPr>
              <a:t>21 days</a:t>
            </a:r>
            <a:endParaRPr lang="en-US" sz="1800" dirty="0"/>
          </a:p>
        </p:txBody>
      </p:sp>
      <p:sp>
        <p:nvSpPr>
          <p:cNvPr id="20" name="text-197"/>
          <p:cNvSpPr txBox="1"/>
          <p:nvPr/>
        </p:nvSpPr>
        <p:spPr>
          <a:xfrm>
            <a:off x="8451155" y="2054721"/>
            <a:ext cx="1459781" cy="960041"/>
          </a:xfrm>
          <a:prstGeom prst="rect">
            <a:avLst/>
          </a:prstGeom>
          <a:noFill/>
          <a:ln/>
        </p:spPr>
        <p:txBody>
          <a:bodyPr wrap="square" lIns="0" tIns="0" rIns="0" bIns="0" rtlCol="0" anchor="t"/>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Any 61 MKs may name someone, who then gets 14 days.</a:t>
            </a:r>
            <a:endParaRPr lang="en-US" sz="1400" dirty="0"/>
          </a:p>
        </p:txBody>
      </p:sp>
      <p:sp>
        <p:nvSpPr>
          <p:cNvPr id="21" name="rule-199"/>
          <p:cNvSpPr/>
          <p:nvPr/>
        </p:nvSpPr>
        <p:spPr>
          <a:xfrm>
            <a:off x="9978827" y="1513780"/>
            <a:ext cx="1400671" cy="38100"/>
          </a:xfrm>
          <a:prstGeom prst="rect">
            <a:avLst/>
          </a:prstGeom>
          <a:solidFill>
            <a:srgbClr val="15253D"/>
          </a:solidFill>
          <a:ln/>
        </p:spPr>
      </p:sp>
      <p:sp>
        <p:nvSpPr>
          <p:cNvPr id="22" name="text-200"/>
          <p:cNvSpPr txBox="1"/>
          <p:nvPr/>
        </p:nvSpPr>
        <p:spPr>
          <a:xfrm>
            <a:off x="9978827" y="1704280"/>
            <a:ext cx="1459781" cy="274241"/>
          </a:xfrm>
          <a:prstGeom prst="rect">
            <a:avLst/>
          </a:prstGeom>
          <a:noFill/>
          <a:ln/>
        </p:spPr>
        <p:txBody>
          <a:bodyPr wrap="square" lIns="0" tIns="0" rIns="0" bIns="0" rtlCol="0" anchor="t"/>
          <a:lstStyle/>
          <a:p>
            <a:pPr algn="l" indent="0" marL="0">
              <a:lnSpc>
                <a:spcPts val="2160"/>
              </a:lnSpc>
              <a:buNone/>
            </a:pPr>
            <a:r>
              <a:rPr lang="en-US" sz="1800" dirty="0">
                <a:solidFill>
                  <a:srgbClr val="15253D"/>
                </a:solidFill>
                <a:latin typeface="Libre Baskerville" pitchFamily="34" charset="0"/>
                <a:ea typeface="Libre Baskerville" pitchFamily="34" charset="-122"/>
                <a:cs typeface="Libre Baskerville" pitchFamily="34" charset="-120"/>
              </a:rPr>
              <a:t>90 days</a:t>
            </a:r>
            <a:endParaRPr lang="en-US" sz="1800" dirty="0"/>
          </a:p>
        </p:txBody>
      </p:sp>
      <p:sp>
        <p:nvSpPr>
          <p:cNvPr id="23" name="text-201"/>
          <p:cNvSpPr txBox="1"/>
          <p:nvPr/>
        </p:nvSpPr>
        <p:spPr>
          <a:xfrm>
            <a:off x="9978827" y="2054721"/>
            <a:ext cx="1459781" cy="1200051"/>
          </a:xfrm>
          <a:prstGeom prst="rect">
            <a:avLst/>
          </a:prstGeom>
          <a:noFill/>
          <a:ln/>
        </p:spPr>
        <p:txBody>
          <a:bodyPr wrap="square" lIns="0" tIns="0" rIns="0" bIns="0" rtlCol="0" anchor="t"/>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Otherwise the Knesset dissolves; new election within 90 days.</a:t>
            </a:r>
            <a:endParaRPr lang="en-US" sz="1400" dirty="0"/>
          </a:p>
        </p:txBody>
      </p:sp>
      <p:sp>
        <p:nvSpPr>
          <p:cNvPr id="24" name="shape-202"/>
          <p:cNvSpPr/>
          <p:nvPr/>
        </p:nvSpPr>
        <p:spPr>
          <a:xfrm>
            <a:off x="812800" y="3508772"/>
            <a:ext cx="5175250" cy="1573411"/>
          </a:xfrm>
          <a:prstGeom prst="roundRect">
            <a:avLst>
              <a:gd name="adj" fmla="val 4843"/>
            </a:avLst>
          </a:prstGeom>
          <a:solidFill>
            <a:srgbClr val="15253D"/>
          </a:solidFill>
          <a:ln/>
        </p:spPr>
      </p:sp>
      <p:sp>
        <p:nvSpPr>
          <p:cNvPr id="25" name="text-203"/>
          <p:cNvSpPr txBox="1"/>
          <p:nvPr/>
        </p:nvSpPr>
        <p:spPr>
          <a:xfrm>
            <a:off x="1066800" y="3686572"/>
            <a:ext cx="4775359" cy="446980"/>
          </a:xfrm>
          <a:prstGeom prst="rect">
            <a:avLst/>
          </a:prstGeom>
          <a:noFill/>
          <a:ln/>
        </p:spPr>
        <p:txBody>
          <a:bodyPr wrap="square" lIns="0" tIns="0" rIns="0" bIns="0" rtlCol="0" anchor="t"/>
          <a:lstStyle/>
          <a:p>
            <a:pPr algn="l" indent="0" marL="0">
              <a:lnSpc>
                <a:spcPts val="3520"/>
              </a:lnSpc>
              <a:buNone/>
            </a:pPr>
            <a:r>
              <a:rPr lang="en-US" sz="3200" dirty="0">
                <a:solidFill>
                  <a:srgbClr val="E2AD6E"/>
                </a:solidFill>
                <a:latin typeface="Libre Baskerville" pitchFamily="34" charset="0"/>
                <a:ea typeface="Libre Baskerville" pitchFamily="34" charset="-122"/>
                <a:cs typeface="Libre Baskerville" pitchFamily="34" charset="-120"/>
              </a:rPr>
              <a:t>50+ days</a:t>
            </a:r>
            <a:endParaRPr lang="en-US" sz="3200" dirty="0"/>
          </a:p>
        </p:txBody>
      </p:sp>
      <p:sp>
        <p:nvSpPr>
          <p:cNvPr id="26" name="text-204"/>
          <p:cNvSpPr txBox="1"/>
          <p:nvPr/>
        </p:nvSpPr>
        <p:spPr>
          <a:xfrm>
            <a:off x="1066800" y="4184352"/>
            <a:ext cx="4775359" cy="720030"/>
          </a:xfrm>
          <a:prstGeom prst="rect">
            <a:avLst/>
          </a:prstGeom>
          <a:noFill/>
          <a:ln/>
        </p:spPr>
        <p:txBody>
          <a:bodyPr wrap="square" lIns="0" tIns="0" rIns="0" bIns="0" rtlCol="0" anchor="t"/>
          <a:lstStyle/>
          <a:p>
            <a:pPr algn="l" indent="0" marL="0">
              <a:lnSpc>
                <a:spcPts val="1890"/>
              </a:lnSpc>
              <a:buNone/>
            </a:pPr>
            <a:r>
              <a:rPr lang="en-US" sz="1400" dirty="0">
                <a:solidFill>
                  <a:srgbClr val="F4EFE4"/>
                </a:solidFill>
                <a:latin typeface="Public Sans" pitchFamily="34" charset="0"/>
                <a:ea typeface="Public Sans" pitchFamily="34" charset="-122"/>
                <a:cs typeface="Public Sans" pitchFamily="34" charset="-120"/>
              </a:rPr>
              <a:t>No government has been sworn in less than 50 days after an election in two decades. Historically, 20 to 100 days.</a:t>
            </a:r>
            <a:endParaRPr lang="en-US" sz="1400" dirty="0"/>
          </a:p>
        </p:txBody>
      </p:sp>
      <p:sp>
        <p:nvSpPr>
          <p:cNvPr id="27" name="shape-205"/>
          <p:cNvSpPr/>
          <p:nvPr/>
        </p:nvSpPr>
        <p:spPr>
          <a:xfrm>
            <a:off x="6191250" y="3508772"/>
            <a:ext cx="5187950" cy="1573411"/>
          </a:xfrm>
          <a:prstGeom prst="roundRect">
            <a:avLst>
              <a:gd name="adj" fmla="val 4843"/>
            </a:avLst>
          </a:prstGeom>
          <a:solidFill>
            <a:srgbClr val="FBF8F1"/>
          </a:solidFill>
          <a:ln w="6350">
            <a:solidFill>
              <a:srgbClr val="D9D1C1"/>
            </a:solidFill>
            <a:prstDash val="solid"/>
          </a:ln>
        </p:spPr>
      </p:sp>
      <p:sp>
        <p:nvSpPr>
          <p:cNvPr id="28" name="text-206"/>
          <p:cNvSpPr txBox="1"/>
          <p:nvPr/>
        </p:nvSpPr>
        <p:spPr>
          <a:xfrm>
            <a:off x="6451600" y="3692922"/>
            <a:ext cx="4775359"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61</a:t>
            </a:r>
            <a:endParaRPr lang="en-US" sz="3200" dirty="0"/>
          </a:p>
        </p:txBody>
      </p:sp>
      <p:sp>
        <p:nvSpPr>
          <p:cNvPr id="29" name="text-207"/>
          <p:cNvSpPr txBox="1"/>
          <p:nvPr/>
        </p:nvSpPr>
        <p:spPr>
          <a:xfrm>
            <a:off x="6451600" y="4190702"/>
            <a:ext cx="4775359" cy="480020"/>
          </a:xfrm>
          <a:prstGeom prst="rect">
            <a:avLst/>
          </a:prstGeom>
          <a:noFill/>
          <a:ln/>
        </p:spPr>
        <p:txBody>
          <a:bodyPr wrap="square" lIns="0" tIns="0" rIns="0" bIns="0" rtlCol="0" anchor="t"/>
          <a:lstStyle/>
          <a:p>
            <a:pPr algn="l" indent="0" marL="0">
              <a:lnSpc>
                <a:spcPts val="1890"/>
              </a:lnSpc>
              <a:buNone/>
            </a:pPr>
            <a:r>
              <a:rPr lang="en-US" sz="1400" dirty="0">
                <a:solidFill>
                  <a:srgbClr val="4F5B69"/>
                </a:solidFill>
                <a:latin typeface="Public Sans" pitchFamily="34" charset="0"/>
                <a:ea typeface="Public Sans" pitchFamily="34" charset="-122"/>
                <a:cs typeface="Public Sans" pitchFamily="34" charset="-120"/>
              </a:rPr>
              <a:t>A new government takes office by winning a confidence vote in the Knesset, which in practice means 61.</a:t>
            </a:r>
            <a:endParaRPr lang="en-US" sz="1400" dirty="0"/>
          </a:p>
        </p:txBody>
      </p:sp>
      <p:sp>
        <p:nvSpPr>
          <p:cNvPr id="30" name="text-208"/>
          <p:cNvSpPr txBox="1"/>
          <p:nvPr/>
        </p:nvSpPr>
        <p:spPr>
          <a:xfrm>
            <a:off x="812800" y="6253559"/>
            <a:ext cx="10762996" cy="19804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Basic Law: The Government (2001), ss. 7–11; IDI, Apr 15, 2026; Wikipedia; IsraelEd, Sep 28, 2026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FE4"/>
        </a:solidFill>
      </p:bgPr>
    </p:bg>
    <p:spTree>
      <p:nvGrpSpPr>
        <p:cNvPr id="1" name=""/>
        <p:cNvGrpSpPr/>
        <p:nvPr/>
      </p:nvGrpSpPr>
      <p:grpSpPr>
        <a:xfrm>
          <a:off x="0" y="0"/>
          <a:ext cx="0" cy="0"/>
          <a:chOff x="0" y="0"/>
          <a:chExt cx="0" cy="0"/>
        </a:xfrm>
      </p:grpSpPr>
      <p:sp>
        <p:nvSpPr>
          <p:cNvPr id="2" name="text-209"/>
          <p:cNvSpPr txBox="1"/>
          <p:nvPr/>
        </p:nvSpPr>
        <p:spPr>
          <a:xfrm>
            <a:off x="812800" y="812800"/>
            <a:ext cx="10762996"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Why five elections in under four years</a:t>
            </a:r>
            <a:endParaRPr lang="en-US" sz="3200" dirty="0"/>
          </a:p>
        </p:txBody>
      </p:sp>
      <p:sp>
        <p:nvSpPr>
          <p:cNvPr id="3" name="rule-211"/>
          <p:cNvSpPr/>
          <p:nvPr/>
        </p:nvSpPr>
        <p:spPr>
          <a:xfrm>
            <a:off x="812800" y="4645323"/>
            <a:ext cx="10566400" cy="6350"/>
          </a:xfrm>
          <a:prstGeom prst="rect">
            <a:avLst/>
          </a:prstGeom>
          <a:solidFill>
            <a:srgbClr val="D9D1C1"/>
          </a:solidFill>
          <a:ln/>
        </p:spPr>
      </p:sp>
      <p:sp>
        <p:nvSpPr>
          <p:cNvPr id="4" name="rule-213"/>
          <p:cNvSpPr/>
          <p:nvPr/>
        </p:nvSpPr>
        <p:spPr>
          <a:xfrm>
            <a:off x="812800" y="1513780"/>
            <a:ext cx="10566400" cy="6350"/>
          </a:xfrm>
          <a:prstGeom prst="rect">
            <a:avLst/>
          </a:prstGeom>
          <a:solidFill>
            <a:srgbClr val="D9D1C1"/>
          </a:solidFill>
          <a:ln/>
        </p:spPr>
      </p:sp>
      <p:sp>
        <p:nvSpPr>
          <p:cNvPr id="5" name="text-214"/>
          <p:cNvSpPr txBox="1"/>
          <p:nvPr/>
        </p:nvSpPr>
        <p:spPr>
          <a:xfrm>
            <a:off x="812800" y="1621730"/>
            <a:ext cx="2100580" cy="274241"/>
          </a:xfrm>
          <a:prstGeom prst="rect">
            <a:avLst/>
          </a:prstGeom>
          <a:noFill/>
          <a:ln/>
        </p:spPr>
        <p:txBody>
          <a:bodyPr wrap="square" lIns="0" tIns="0" rIns="0" bIns="0" rtlCol="0" anchor="t"/>
          <a:lstStyle/>
          <a:p>
            <a:pPr algn="l" indent="0" marL="0">
              <a:lnSpc>
                <a:spcPts val="2160"/>
              </a:lnSpc>
              <a:buNone/>
            </a:pPr>
            <a:r>
              <a:rPr lang="en-US" sz="1800" dirty="0">
                <a:solidFill>
                  <a:srgbClr val="15253D"/>
                </a:solidFill>
                <a:latin typeface="Libre Baskerville" pitchFamily="34" charset="0"/>
                <a:ea typeface="Libre Baskerville" pitchFamily="34" charset="-122"/>
                <a:cs typeface="Libre Baskerville" pitchFamily="34" charset="-120"/>
              </a:rPr>
              <a:t>Apr 9, 2019</a:t>
            </a:r>
            <a:endParaRPr lang="en-US" sz="1800" dirty="0"/>
          </a:p>
        </p:txBody>
      </p:sp>
      <p:sp>
        <p:nvSpPr>
          <p:cNvPr id="6" name="text-215"/>
          <p:cNvSpPr txBox="1"/>
          <p:nvPr/>
        </p:nvSpPr>
        <p:spPr>
          <a:xfrm>
            <a:off x="3098800" y="1653480"/>
            <a:ext cx="8442706" cy="480020"/>
          </a:xfrm>
          <a:prstGeom prst="rect">
            <a:avLst/>
          </a:prstGeom>
          <a:noFill/>
          <a:ln/>
        </p:spPr>
        <p:txBody>
          <a:bodyPr wrap="square" lIns="0" tIns="0" rIns="0" bIns="0" rtlCol="0" anchor="t"/>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Lieberman refuses to join over the Haredi draft law. On May 30 the Knesset dissolves itself, the first time before any government was formed.</a:t>
            </a:r>
            <a:endParaRPr lang="en-US" sz="1400" dirty="0"/>
          </a:p>
        </p:txBody>
      </p:sp>
      <p:sp>
        <p:nvSpPr>
          <p:cNvPr id="7" name="rule-217"/>
          <p:cNvSpPr/>
          <p:nvPr/>
        </p:nvSpPr>
        <p:spPr>
          <a:xfrm>
            <a:off x="812800" y="2235101"/>
            <a:ext cx="10566400" cy="6350"/>
          </a:xfrm>
          <a:prstGeom prst="rect">
            <a:avLst/>
          </a:prstGeom>
          <a:solidFill>
            <a:srgbClr val="D9D1C1"/>
          </a:solidFill>
          <a:ln/>
        </p:spPr>
      </p:sp>
      <p:sp>
        <p:nvSpPr>
          <p:cNvPr id="8" name="text-218"/>
          <p:cNvSpPr txBox="1"/>
          <p:nvPr/>
        </p:nvSpPr>
        <p:spPr>
          <a:xfrm>
            <a:off x="812800" y="2343051"/>
            <a:ext cx="2100580" cy="274241"/>
          </a:xfrm>
          <a:prstGeom prst="rect">
            <a:avLst/>
          </a:prstGeom>
          <a:noFill/>
          <a:ln/>
        </p:spPr>
        <p:txBody>
          <a:bodyPr wrap="square" lIns="0" tIns="0" rIns="0" bIns="0" rtlCol="0" anchor="t"/>
          <a:lstStyle/>
          <a:p>
            <a:pPr algn="l" indent="0" marL="0">
              <a:lnSpc>
                <a:spcPts val="2160"/>
              </a:lnSpc>
              <a:buNone/>
            </a:pPr>
            <a:r>
              <a:rPr lang="en-US" sz="1800" dirty="0">
                <a:solidFill>
                  <a:srgbClr val="15253D"/>
                </a:solidFill>
                <a:latin typeface="Libre Baskerville" pitchFamily="34" charset="0"/>
                <a:ea typeface="Libre Baskerville" pitchFamily="34" charset="-122"/>
                <a:cs typeface="Libre Baskerville" pitchFamily="34" charset="-120"/>
              </a:rPr>
              <a:t>Sep 17, 2019</a:t>
            </a:r>
            <a:endParaRPr lang="en-US" sz="1800" dirty="0"/>
          </a:p>
        </p:txBody>
      </p:sp>
      <p:sp>
        <p:nvSpPr>
          <p:cNvPr id="9" name="text-219"/>
          <p:cNvSpPr txBox="1"/>
          <p:nvPr/>
        </p:nvSpPr>
        <p:spPr>
          <a:xfrm>
            <a:off x="3098800" y="2374801"/>
            <a:ext cx="8442706" cy="240010"/>
          </a:xfrm>
          <a:prstGeom prst="rect">
            <a:avLst/>
          </a:prstGeom>
          <a:noFill/>
          <a:ln/>
        </p:spPr>
        <p:txBody>
          <a:bodyPr wrap="square" lIns="0" tIns="0" rIns="0" bIns="0" rtlCol="0" anchor="t"/>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Deadlock. No one can form a government; the last 21-day window closes December 11.</a:t>
            </a:r>
            <a:endParaRPr lang="en-US" sz="1400" dirty="0"/>
          </a:p>
        </p:txBody>
      </p:sp>
      <p:sp>
        <p:nvSpPr>
          <p:cNvPr id="10" name="rule-221"/>
          <p:cNvSpPr/>
          <p:nvPr/>
        </p:nvSpPr>
        <p:spPr>
          <a:xfrm>
            <a:off x="812800" y="2718891"/>
            <a:ext cx="10566400" cy="6350"/>
          </a:xfrm>
          <a:prstGeom prst="rect">
            <a:avLst/>
          </a:prstGeom>
          <a:solidFill>
            <a:srgbClr val="D9D1C1"/>
          </a:solidFill>
          <a:ln/>
        </p:spPr>
      </p:sp>
      <p:sp>
        <p:nvSpPr>
          <p:cNvPr id="11" name="text-222"/>
          <p:cNvSpPr txBox="1"/>
          <p:nvPr/>
        </p:nvSpPr>
        <p:spPr>
          <a:xfrm>
            <a:off x="812800" y="2826841"/>
            <a:ext cx="2100580" cy="274241"/>
          </a:xfrm>
          <a:prstGeom prst="rect">
            <a:avLst/>
          </a:prstGeom>
          <a:noFill/>
          <a:ln/>
        </p:spPr>
        <p:txBody>
          <a:bodyPr wrap="square" lIns="0" tIns="0" rIns="0" bIns="0" rtlCol="0" anchor="t"/>
          <a:lstStyle/>
          <a:p>
            <a:pPr algn="l" indent="0" marL="0">
              <a:lnSpc>
                <a:spcPts val="2160"/>
              </a:lnSpc>
              <a:buNone/>
            </a:pPr>
            <a:r>
              <a:rPr lang="en-US" sz="1800" dirty="0">
                <a:solidFill>
                  <a:srgbClr val="15253D"/>
                </a:solidFill>
                <a:latin typeface="Libre Baskerville" pitchFamily="34" charset="0"/>
                <a:ea typeface="Libre Baskerville" pitchFamily="34" charset="-122"/>
                <a:cs typeface="Libre Baskerville" pitchFamily="34" charset="-120"/>
              </a:rPr>
              <a:t>Mar 2, 2020</a:t>
            </a:r>
            <a:endParaRPr lang="en-US" sz="1800" dirty="0"/>
          </a:p>
        </p:txBody>
      </p:sp>
      <p:sp>
        <p:nvSpPr>
          <p:cNvPr id="12" name="text-223"/>
          <p:cNvSpPr txBox="1"/>
          <p:nvPr/>
        </p:nvSpPr>
        <p:spPr>
          <a:xfrm>
            <a:off x="3098800" y="2858591"/>
            <a:ext cx="8442706" cy="480020"/>
          </a:xfrm>
          <a:prstGeom prst="rect">
            <a:avLst/>
          </a:prstGeom>
          <a:noFill/>
          <a:ln/>
        </p:spPr>
        <p:txBody>
          <a:bodyPr wrap="square" lIns="0" tIns="0" rIns="0" bIns="0" rtlCol="0" anchor="t"/>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Netanyahu and Gantz agree to rotate (April 20), sworn in May 17. The Knesset dissolves over the budget, December 23, 2020.</a:t>
            </a:r>
            <a:endParaRPr lang="en-US" sz="1400" dirty="0"/>
          </a:p>
        </p:txBody>
      </p:sp>
      <p:sp>
        <p:nvSpPr>
          <p:cNvPr id="13" name="rule-225"/>
          <p:cNvSpPr/>
          <p:nvPr/>
        </p:nvSpPr>
        <p:spPr>
          <a:xfrm>
            <a:off x="812800" y="3440212"/>
            <a:ext cx="10566400" cy="6350"/>
          </a:xfrm>
          <a:prstGeom prst="rect">
            <a:avLst/>
          </a:prstGeom>
          <a:solidFill>
            <a:srgbClr val="D9D1C1"/>
          </a:solidFill>
          <a:ln/>
        </p:spPr>
      </p:sp>
      <p:sp>
        <p:nvSpPr>
          <p:cNvPr id="14" name="text-226"/>
          <p:cNvSpPr txBox="1"/>
          <p:nvPr/>
        </p:nvSpPr>
        <p:spPr>
          <a:xfrm>
            <a:off x="812800" y="3548162"/>
            <a:ext cx="2100580" cy="274241"/>
          </a:xfrm>
          <a:prstGeom prst="rect">
            <a:avLst/>
          </a:prstGeom>
          <a:noFill/>
          <a:ln/>
        </p:spPr>
        <p:txBody>
          <a:bodyPr wrap="square" lIns="0" tIns="0" rIns="0" bIns="0" rtlCol="0" anchor="t"/>
          <a:lstStyle/>
          <a:p>
            <a:pPr algn="l" indent="0" marL="0">
              <a:lnSpc>
                <a:spcPts val="2160"/>
              </a:lnSpc>
              <a:buNone/>
            </a:pPr>
            <a:r>
              <a:rPr lang="en-US" sz="1800" dirty="0">
                <a:solidFill>
                  <a:srgbClr val="15253D"/>
                </a:solidFill>
                <a:latin typeface="Libre Baskerville" pitchFamily="34" charset="0"/>
                <a:ea typeface="Libre Baskerville" pitchFamily="34" charset="-122"/>
                <a:cs typeface="Libre Baskerville" pitchFamily="34" charset="-120"/>
              </a:rPr>
              <a:t>Mar 23, 2021</a:t>
            </a:r>
            <a:endParaRPr lang="en-US" sz="1800" dirty="0"/>
          </a:p>
        </p:txBody>
      </p:sp>
      <p:sp>
        <p:nvSpPr>
          <p:cNvPr id="15" name="text-227"/>
          <p:cNvSpPr txBox="1"/>
          <p:nvPr/>
        </p:nvSpPr>
        <p:spPr>
          <a:xfrm>
            <a:off x="3098800" y="3579912"/>
            <a:ext cx="8442706" cy="480020"/>
          </a:xfrm>
          <a:prstGeom prst="rect">
            <a:avLst/>
          </a:prstGeom>
          <a:noFill/>
          <a:ln/>
        </p:spPr>
        <p:txBody>
          <a:bodyPr wrap="square" lIns="0" tIns="0" rIns="0" bIns="0" rtlCol="0" anchor="t"/>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Bennett and Lapid are sworn in June 13, with Ra'am the first independent Arab party in a coalition. Dissolved June 30, 2022.</a:t>
            </a:r>
            <a:endParaRPr lang="en-US" sz="1400" dirty="0"/>
          </a:p>
        </p:txBody>
      </p:sp>
      <p:sp>
        <p:nvSpPr>
          <p:cNvPr id="16" name="rule-229"/>
          <p:cNvSpPr/>
          <p:nvPr/>
        </p:nvSpPr>
        <p:spPr>
          <a:xfrm>
            <a:off x="812800" y="4161532"/>
            <a:ext cx="10566400" cy="6350"/>
          </a:xfrm>
          <a:prstGeom prst="rect">
            <a:avLst/>
          </a:prstGeom>
          <a:solidFill>
            <a:srgbClr val="D9D1C1"/>
          </a:solidFill>
          <a:ln/>
        </p:spPr>
      </p:sp>
      <p:sp>
        <p:nvSpPr>
          <p:cNvPr id="17" name="text-230"/>
          <p:cNvSpPr txBox="1"/>
          <p:nvPr/>
        </p:nvSpPr>
        <p:spPr>
          <a:xfrm>
            <a:off x="812800" y="4269482"/>
            <a:ext cx="2100580" cy="274241"/>
          </a:xfrm>
          <a:prstGeom prst="rect">
            <a:avLst/>
          </a:prstGeom>
          <a:noFill/>
          <a:ln/>
        </p:spPr>
        <p:txBody>
          <a:bodyPr wrap="square" lIns="0" tIns="0" rIns="0" bIns="0" rtlCol="0" anchor="t"/>
          <a:lstStyle/>
          <a:p>
            <a:pPr algn="l" indent="0" marL="0">
              <a:lnSpc>
                <a:spcPts val="2160"/>
              </a:lnSpc>
              <a:buNone/>
            </a:pPr>
            <a:r>
              <a:rPr lang="en-US" sz="1800" dirty="0">
                <a:solidFill>
                  <a:srgbClr val="9A541A"/>
                </a:solidFill>
                <a:latin typeface="Libre Baskerville" pitchFamily="34" charset="0"/>
                <a:ea typeface="Libre Baskerville" pitchFamily="34" charset="-122"/>
                <a:cs typeface="Libre Baskerville" pitchFamily="34" charset="-120"/>
              </a:rPr>
              <a:t>Nov 1, 2022</a:t>
            </a:r>
            <a:endParaRPr lang="en-US" sz="1800" dirty="0"/>
          </a:p>
        </p:txBody>
      </p:sp>
      <p:sp>
        <p:nvSpPr>
          <p:cNvPr id="18" name="text-231"/>
          <p:cNvSpPr txBox="1"/>
          <p:nvPr/>
        </p:nvSpPr>
        <p:spPr>
          <a:xfrm>
            <a:off x="3098800" y="4301232"/>
            <a:ext cx="8442706" cy="240010"/>
          </a:xfrm>
          <a:prstGeom prst="rect">
            <a:avLst/>
          </a:prstGeom>
          <a:noFill/>
          <a:ln/>
        </p:spPr>
        <p:txBody>
          <a:bodyPr wrap="square" lIns="0" tIns="0" rIns="0" bIns="0" rtlCol="0" anchor="t"/>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The Netanyahu bloc wins 64 seats.</a:t>
            </a:r>
            <a:endParaRPr lang="en-US" sz="1400" dirty="0"/>
          </a:p>
        </p:txBody>
      </p:sp>
      <p:sp>
        <p:nvSpPr>
          <p:cNvPr id="19" name="shape-232"/>
          <p:cNvSpPr/>
          <p:nvPr/>
        </p:nvSpPr>
        <p:spPr>
          <a:xfrm>
            <a:off x="812800" y="4905673"/>
            <a:ext cx="10566400" cy="544810"/>
          </a:xfrm>
          <a:prstGeom prst="roundRect">
            <a:avLst>
              <a:gd name="adj" fmla="val 13987"/>
            </a:avLst>
          </a:prstGeom>
          <a:solidFill>
            <a:srgbClr val="15253D"/>
          </a:solidFill>
          <a:ln/>
        </p:spPr>
      </p:sp>
      <p:sp>
        <p:nvSpPr>
          <p:cNvPr id="20" name="text-233"/>
          <p:cNvSpPr txBox="1"/>
          <p:nvPr/>
        </p:nvSpPr>
        <p:spPr>
          <a:xfrm>
            <a:off x="1066800" y="5058073"/>
            <a:ext cx="10247376" cy="240010"/>
          </a:xfrm>
          <a:prstGeom prst="rect">
            <a:avLst/>
          </a:prstGeom>
          <a:noFill/>
          <a:ln/>
        </p:spPr>
        <p:txBody>
          <a:bodyPr wrap="square" lIns="0" tIns="0" rIns="0" bIns="0" rtlCol="0" anchor="t"/>
          <a:lstStyle/>
          <a:p>
            <a:pPr algn="l" indent="0" marL="0">
              <a:lnSpc>
                <a:spcPts val="1890"/>
              </a:lnSpc>
              <a:buNone/>
            </a:pPr>
            <a:r>
              <a:rPr lang="en-US" sz="1400" dirty="0">
                <a:solidFill>
                  <a:srgbClr val="F4EFE4"/>
                </a:solidFill>
                <a:latin typeface="Public Sans" pitchFamily="34" charset="0"/>
                <a:ea typeface="Public Sans" pitchFamily="34" charset="-122"/>
                <a:cs typeface="Public Sans" pitchFamily="34" charset="-120"/>
              </a:rPr>
              <a:t>Then the 25th Knesset served its full term, the first to do so since 1988. It dissolved on July 17, 2026.</a:t>
            </a:r>
            <a:endParaRPr lang="en-US" sz="1400" dirty="0"/>
          </a:p>
        </p:txBody>
      </p:sp>
      <p:sp>
        <p:nvSpPr>
          <p:cNvPr id="21" name="text-234"/>
          <p:cNvSpPr txBox="1"/>
          <p:nvPr/>
        </p:nvSpPr>
        <p:spPr>
          <a:xfrm>
            <a:off x="812800" y="6253559"/>
            <a:ext cx="10762996" cy="19804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Wikipedia; RTÉ, Dec 22, 2020; Axios, Jun 30, 2022; Times of Israel, Nov 7, 2022; Jerusalem Post, Jul 13, 2026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FE4"/>
        </a:solidFill>
      </p:bgPr>
    </p:bg>
    <p:spTree>
      <p:nvGrpSpPr>
        <p:cNvPr id="1" name=""/>
        <p:cNvGrpSpPr/>
        <p:nvPr/>
      </p:nvGrpSpPr>
      <p:grpSpPr>
        <a:xfrm>
          <a:off x="0" y="0"/>
          <a:ext cx="0" cy="0"/>
          <a:chOff x="0" y="0"/>
          <a:chExt cx="0" cy="0"/>
        </a:xfrm>
      </p:grpSpPr>
      <p:sp>
        <p:nvSpPr>
          <p:cNvPr id="2" name="text-235"/>
          <p:cNvSpPr txBox="1"/>
          <p:nvPr/>
        </p:nvSpPr>
        <p:spPr>
          <a:xfrm>
            <a:off x="812800" y="812800"/>
            <a:ext cx="10762996"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The first-grade classroom, 2000 → 2025–26</a:t>
            </a:r>
            <a:endParaRPr lang="en-US" sz="3200" dirty="0"/>
          </a:p>
        </p:txBody>
      </p:sp>
      <p:sp>
        <p:nvSpPr>
          <p:cNvPr id="3" name="text-236"/>
          <p:cNvSpPr txBox="1"/>
          <p:nvPr/>
        </p:nvSpPr>
        <p:spPr>
          <a:xfrm>
            <a:off x="812800" y="1513780"/>
            <a:ext cx="3636262" cy="274241"/>
          </a:xfrm>
          <a:prstGeom prst="rect">
            <a:avLst/>
          </a:prstGeom>
          <a:noFill/>
          <a:ln/>
        </p:spPr>
        <p:txBody>
          <a:bodyPr wrap="square" lIns="0" tIns="0" rIns="0" bIns="0" rtlCol="0" anchor="t"/>
          <a:lstStyle/>
          <a:p>
            <a:pPr algn="l" indent="0" marL="0">
              <a:lnSpc>
                <a:spcPts val="2160"/>
              </a:lnSpc>
              <a:buNone/>
            </a:pPr>
            <a:r>
              <a:rPr lang="en-US" sz="1800" dirty="0">
                <a:solidFill>
                  <a:srgbClr val="15253D"/>
                </a:solidFill>
                <a:latin typeface="Libre Baskerville" pitchFamily="34" charset="0"/>
                <a:ea typeface="Libre Baskerville" pitchFamily="34" charset="-122"/>
                <a:cs typeface="Libre Baskerville" pitchFamily="34" charset="-120"/>
              </a:rPr>
              <a:t>First-graders by school stream</a:t>
            </a:r>
            <a:endParaRPr lang="en-US" sz="1800" dirty="0"/>
          </a:p>
        </p:txBody>
      </p:sp>
      <p:sp>
        <p:nvSpPr>
          <p:cNvPr id="4" name="shape-237"/>
          <p:cNvSpPr/>
          <p:nvPr/>
        </p:nvSpPr>
        <p:spPr>
          <a:xfrm>
            <a:off x="6100465" y="1574602"/>
            <a:ext cx="152400" cy="152400"/>
          </a:xfrm>
          <a:prstGeom prst="rect">
            <a:avLst/>
          </a:prstGeom>
          <a:solidFill>
            <a:srgbClr val="7F95AD"/>
          </a:solidFill>
          <a:ln/>
        </p:spPr>
      </p:sp>
      <p:sp>
        <p:nvSpPr>
          <p:cNvPr id="5" name="text-238"/>
          <p:cNvSpPr txBox="1"/>
          <p:nvPr/>
        </p:nvSpPr>
        <p:spPr>
          <a:xfrm>
            <a:off x="6303665" y="1548011"/>
            <a:ext cx="412327" cy="205680"/>
          </a:xfrm>
          <a:prstGeom prst="rect">
            <a:avLst/>
          </a:prstGeom>
          <a:noFill/>
          <a:ln/>
        </p:spPr>
        <p:txBody>
          <a:bodyPr wrap="squar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2000</a:t>
            </a:r>
            <a:endParaRPr lang="en-US" sz="1200" dirty="0"/>
          </a:p>
        </p:txBody>
      </p:sp>
      <p:sp>
        <p:nvSpPr>
          <p:cNvPr id="6" name="shape-239"/>
          <p:cNvSpPr/>
          <p:nvPr/>
        </p:nvSpPr>
        <p:spPr>
          <a:xfrm>
            <a:off x="6824762" y="1574602"/>
            <a:ext cx="152400" cy="152400"/>
          </a:xfrm>
          <a:prstGeom prst="rect">
            <a:avLst/>
          </a:prstGeom>
          <a:solidFill>
            <a:srgbClr val="15253D"/>
          </a:solidFill>
          <a:ln/>
        </p:spPr>
      </p:sp>
      <p:sp>
        <p:nvSpPr>
          <p:cNvPr id="7" name="text-240"/>
          <p:cNvSpPr txBox="1"/>
          <p:nvPr/>
        </p:nvSpPr>
        <p:spPr>
          <a:xfrm>
            <a:off x="7027962" y="1548011"/>
            <a:ext cx="690581" cy="205680"/>
          </a:xfrm>
          <a:prstGeom prst="rect">
            <a:avLst/>
          </a:prstGeom>
          <a:noFill/>
          <a:ln/>
        </p:spPr>
        <p:txBody>
          <a:bodyPr wrap="squar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2025–26</a:t>
            </a:r>
            <a:endParaRPr lang="en-US" sz="1200" dirty="0"/>
          </a:p>
        </p:txBody>
      </p:sp>
      <p:sp>
        <p:nvSpPr>
          <p:cNvPr id="8" name="rule-242"/>
          <p:cNvSpPr/>
          <p:nvPr/>
        </p:nvSpPr>
        <p:spPr>
          <a:xfrm>
            <a:off x="812800" y="4416921"/>
            <a:ext cx="6858000" cy="12700"/>
          </a:xfrm>
          <a:prstGeom prst="rect">
            <a:avLst/>
          </a:prstGeom>
          <a:solidFill>
            <a:srgbClr val="15253D"/>
          </a:solidFill>
          <a:ln/>
        </p:spPr>
      </p:sp>
      <p:sp>
        <p:nvSpPr>
          <p:cNvPr id="9" name="text-243"/>
          <p:cNvSpPr txBox="1"/>
          <p:nvPr/>
        </p:nvSpPr>
        <p:spPr>
          <a:xfrm>
            <a:off x="997545" y="2490391"/>
            <a:ext cx="526630" cy="205680"/>
          </a:xfrm>
          <a:prstGeom prst="rect">
            <a:avLst/>
          </a:prstGeom>
          <a:noFill/>
          <a:ln/>
        </p:spPr>
        <p:txBody>
          <a:bodyPr wrap="non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51,680</a:t>
            </a:r>
            <a:endParaRPr lang="en-US" sz="1200" dirty="0"/>
          </a:p>
        </p:txBody>
      </p:sp>
      <p:sp>
        <p:nvSpPr>
          <p:cNvPr id="10" name="shape-244"/>
          <p:cNvSpPr/>
          <p:nvPr/>
        </p:nvSpPr>
        <p:spPr>
          <a:xfrm>
            <a:off x="958850" y="2734171"/>
            <a:ext cx="558800" cy="1682750"/>
          </a:xfrm>
          <a:prstGeom prst="rect">
            <a:avLst/>
          </a:prstGeom>
          <a:solidFill>
            <a:srgbClr val="7F95AD"/>
          </a:solidFill>
          <a:ln/>
        </p:spPr>
      </p:sp>
      <p:sp>
        <p:nvSpPr>
          <p:cNvPr id="11" name="text-245"/>
          <p:cNvSpPr txBox="1"/>
          <p:nvPr/>
        </p:nvSpPr>
        <p:spPr>
          <a:xfrm>
            <a:off x="1745555" y="2014141"/>
            <a:ext cx="529248" cy="205680"/>
          </a:xfrm>
          <a:prstGeom prst="rect">
            <a:avLst/>
          </a:prstGeom>
          <a:noFill/>
          <a:ln/>
        </p:spPr>
        <p:txBody>
          <a:bodyPr wrap="non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66,185</a:t>
            </a:r>
            <a:endParaRPr lang="en-US" sz="1200" dirty="0"/>
          </a:p>
        </p:txBody>
      </p:sp>
      <p:sp>
        <p:nvSpPr>
          <p:cNvPr id="12" name="shape-246"/>
          <p:cNvSpPr/>
          <p:nvPr/>
        </p:nvSpPr>
        <p:spPr>
          <a:xfrm>
            <a:off x="1708150" y="2257921"/>
            <a:ext cx="558800" cy="2159000"/>
          </a:xfrm>
          <a:prstGeom prst="rect">
            <a:avLst/>
          </a:prstGeom>
          <a:solidFill>
            <a:srgbClr val="15253D"/>
          </a:solidFill>
          <a:ln/>
        </p:spPr>
      </p:sp>
      <p:sp>
        <p:nvSpPr>
          <p:cNvPr id="13" name="text-247"/>
          <p:cNvSpPr txBox="1"/>
          <p:nvPr/>
        </p:nvSpPr>
        <p:spPr>
          <a:xfrm>
            <a:off x="2751931" y="3633391"/>
            <a:ext cx="523105" cy="205680"/>
          </a:xfrm>
          <a:prstGeom prst="rect">
            <a:avLst/>
          </a:prstGeom>
          <a:noFill/>
          <a:ln/>
        </p:spPr>
        <p:txBody>
          <a:bodyPr wrap="non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16,639</a:t>
            </a:r>
            <a:endParaRPr lang="en-US" sz="1200" dirty="0"/>
          </a:p>
        </p:txBody>
      </p:sp>
      <p:sp>
        <p:nvSpPr>
          <p:cNvPr id="14" name="shape-248"/>
          <p:cNvSpPr/>
          <p:nvPr/>
        </p:nvSpPr>
        <p:spPr>
          <a:xfrm>
            <a:off x="2711450" y="3877171"/>
            <a:ext cx="558800" cy="539750"/>
          </a:xfrm>
          <a:prstGeom prst="rect">
            <a:avLst/>
          </a:prstGeom>
          <a:solidFill>
            <a:srgbClr val="7F95AD"/>
          </a:solidFill>
          <a:ln/>
        </p:spPr>
      </p:sp>
      <p:sp>
        <p:nvSpPr>
          <p:cNvPr id="15" name="text-249"/>
          <p:cNvSpPr txBox="1"/>
          <p:nvPr/>
        </p:nvSpPr>
        <p:spPr>
          <a:xfrm>
            <a:off x="3490416" y="3214291"/>
            <a:ext cx="545059" cy="205680"/>
          </a:xfrm>
          <a:prstGeom prst="rect">
            <a:avLst/>
          </a:prstGeom>
          <a:noFill/>
          <a:ln/>
        </p:spPr>
        <p:txBody>
          <a:bodyPr wrap="non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29,470</a:t>
            </a:r>
            <a:endParaRPr lang="en-US" sz="1200" dirty="0"/>
          </a:p>
        </p:txBody>
      </p:sp>
      <p:sp>
        <p:nvSpPr>
          <p:cNvPr id="16" name="shape-250"/>
          <p:cNvSpPr/>
          <p:nvPr/>
        </p:nvSpPr>
        <p:spPr>
          <a:xfrm>
            <a:off x="3460750" y="3458071"/>
            <a:ext cx="558800" cy="958850"/>
          </a:xfrm>
          <a:prstGeom prst="rect">
            <a:avLst/>
          </a:prstGeom>
          <a:solidFill>
            <a:srgbClr val="15253D"/>
          </a:solidFill>
          <a:ln/>
        </p:spPr>
      </p:sp>
      <p:sp>
        <p:nvSpPr>
          <p:cNvPr id="17" name="text-251"/>
          <p:cNvSpPr txBox="1"/>
          <p:nvPr/>
        </p:nvSpPr>
        <p:spPr>
          <a:xfrm>
            <a:off x="4503539" y="3633391"/>
            <a:ext cx="525119" cy="205680"/>
          </a:xfrm>
          <a:prstGeom prst="rect">
            <a:avLst/>
          </a:prstGeom>
          <a:noFill/>
          <a:ln/>
        </p:spPr>
        <p:txBody>
          <a:bodyPr wrap="non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16,525</a:t>
            </a:r>
            <a:endParaRPr lang="en-US" sz="1200" dirty="0"/>
          </a:p>
        </p:txBody>
      </p:sp>
      <p:sp>
        <p:nvSpPr>
          <p:cNvPr id="18" name="shape-252"/>
          <p:cNvSpPr/>
          <p:nvPr/>
        </p:nvSpPr>
        <p:spPr>
          <a:xfrm>
            <a:off x="4464050" y="3877171"/>
            <a:ext cx="558800" cy="539750"/>
          </a:xfrm>
          <a:prstGeom prst="rect">
            <a:avLst/>
          </a:prstGeom>
          <a:solidFill>
            <a:srgbClr val="7F95AD"/>
          </a:solidFill>
          <a:ln/>
        </p:spPr>
      </p:sp>
      <p:sp>
        <p:nvSpPr>
          <p:cNvPr id="19" name="text-253"/>
          <p:cNvSpPr txBox="1"/>
          <p:nvPr/>
        </p:nvSpPr>
        <p:spPr>
          <a:xfrm>
            <a:off x="5259288" y="2776141"/>
            <a:ext cx="511927" cy="205680"/>
          </a:xfrm>
          <a:prstGeom prst="rect">
            <a:avLst/>
          </a:prstGeom>
          <a:noFill/>
          <a:ln/>
        </p:spPr>
        <p:txBody>
          <a:bodyPr wrap="non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42,751</a:t>
            </a:r>
            <a:endParaRPr lang="en-US" sz="1200" dirty="0"/>
          </a:p>
        </p:txBody>
      </p:sp>
      <p:sp>
        <p:nvSpPr>
          <p:cNvPr id="20" name="shape-254"/>
          <p:cNvSpPr/>
          <p:nvPr/>
        </p:nvSpPr>
        <p:spPr>
          <a:xfrm>
            <a:off x="5213350" y="3019921"/>
            <a:ext cx="558800" cy="1397000"/>
          </a:xfrm>
          <a:prstGeom prst="rect">
            <a:avLst/>
          </a:prstGeom>
          <a:solidFill>
            <a:srgbClr val="15253D"/>
          </a:solidFill>
          <a:ln/>
        </p:spPr>
      </p:sp>
      <p:sp>
        <p:nvSpPr>
          <p:cNvPr id="21" name="text-255"/>
          <p:cNvSpPr txBox="1"/>
          <p:nvPr/>
        </p:nvSpPr>
        <p:spPr>
          <a:xfrm>
            <a:off x="6630789" y="2833291"/>
            <a:ext cx="525018" cy="205680"/>
          </a:xfrm>
          <a:prstGeom prst="rect">
            <a:avLst/>
          </a:prstGeom>
          <a:noFill/>
          <a:ln/>
        </p:spPr>
        <p:txBody>
          <a:bodyPr wrap="non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41,095</a:t>
            </a:r>
            <a:endParaRPr lang="en-US" sz="1200" dirty="0"/>
          </a:p>
        </p:txBody>
      </p:sp>
      <p:sp>
        <p:nvSpPr>
          <p:cNvPr id="22" name="shape-256"/>
          <p:cNvSpPr/>
          <p:nvPr/>
        </p:nvSpPr>
        <p:spPr>
          <a:xfrm>
            <a:off x="6591300" y="3077071"/>
            <a:ext cx="558800" cy="1339850"/>
          </a:xfrm>
          <a:prstGeom prst="rect">
            <a:avLst/>
          </a:prstGeom>
          <a:solidFill>
            <a:srgbClr val="15253D"/>
          </a:solidFill>
          <a:ln/>
        </p:spPr>
      </p:sp>
      <p:sp>
        <p:nvSpPr>
          <p:cNvPr id="23" name="text-257"/>
          <p:cNvSpPr txBox="1"/>
          <p:nvPr/>
        </p:nvSpPr>
        <p:spPr>
          <a:xfrm>
            <a:off x="781749" y="4531221"/>
            <a:ext cx="1662303" cy="594122"/>
          </a:xfrm>
          <a:prstGeom prst="rect">
            <a:avLst/>
          </a:prstGeom>
          <a:noFill/>
          <a:ln/>
        </p:spPr>
        <p:txBody>
          <a:bodyPr wrap="square" lIns="0" tIns="0" rIns="0" bIns="0" rtlCol="0" anchor="t"/>
          <a:lstStyle/>
          <a:p>
            <a:pPr algn="ctr"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Secular state schools</a:t>
            </a:r>
            <a:endParaRPr lang="en-US" sz="1200" dirty="0"/>
          </a:p>
        </p:txBody>
      </p:sp>
      <p:sp>
        <p:nvSpPr>
          <p:cNvPr id="24" name="text-258"/>
          <p:cNvSpPr txBox="1"/>
          <p:nvPr/>
        </p:nvSpPr>
        <p:spPr>
          <a:xfrm>
            <a:off x="2534349" y="4531221"/>
            <a:ext cx="1662303" cy="594122"/>
          </a:xfrm>
          <a:prstGeom prst="rect">
            <a:avLst/>
          </a:prstGeom>
          <a:noFill/>
          <a:ln/>
        </p:spPr>
        <p:txBody>
          <a:bodyPr wrap="square" lIns="0" tIns="0" rIns="0" bIns="0" rtlCol="0" anchor="t"/>
          <a:lstStyle/>
          <a:p>
            <a:pPr algn="ctr"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State religious</a:t>
            </a:r>
            <a:endParaRPr lang="en-US" sz="1200" dirty="0"/>
          </a:p>
        </p:txBody>
      </p:sp>
      <p:sp>
        <p:nvSpPr>
          <p:cNvPr id="25" name="text-259"/>
          <p:cNvSpPr txBox="1"/>
          <p:nvPr/>
        </p:nvSpPr>
        <p:spPr>
          <a:xfrm>
            <a:off x="4286949" y="4531221"/>
            <a:ext cx="1662303" cy="594122"/>
          </a:xfrm>
          <a:prstGeom prst="rect">
            <a:avLst/>
          </a:prstGeom>
          <a:noFill/>
          <a:ln/>
        </p:spPr>
        <p:txBody>
          <a:bodyPr wrap="square" lIns="0" tIns="0" rIns="0" bIns="0" rtlCol="0" anchor="t"/>
          <a:lstStyle/>
          <a:p>
            <a:pPr algn="ctr"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Haredi</a:t>
            </a:r>
            <a:endParaRPr lang="en-US" sz="1200" dirty="0"/>
          </a:p>
        </p:txBody>
      </p:sp>
      <p:sp>
        <p:nvSpPr>
          <p:cNvPr id="26" name="text-260"/>
          <p:cNvSpPr txBox="1"/>
          <p:nvPr/>
        </p:nvSpPr>
        <p:spPr>
          <a:xfrm>
            <a:off x="6039549" y="4531221"/>
            <a:ext cx="1662303" cy="594122"/>
          </a:xfrm>
          <a:prstGeom prst="rect">
            <a:avLst/>
          </a:prstGeom>
          <a:noFill/>
          <a:ln/>
        </p:spPr>
        <p:txBody>
          <a:bodyPr wrap="square" lIns="0" tIns="0" rIns="0" bIns="0" rtlCol="0" anchor="t"/>
          <a:lstStyle/>
          <a:p>
            <a:pPr algn="ctr"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Arab, Bedouin, Druze (2025–26 only; our sum)</a:t>
            </a:r>
            <a:endParaRPr lang="en-US" sz="1200" dirty="0"/>
          </a:p>
        </p:txBody>
      </p:sp>
      <p:sp>
        <p:nvSpPr>
          <p:cNvPr id="27" name="shape-261"/>
          <p:cNvSpPr/>
          <p:nvPr/>
        </p:nvSpPr>
        <p:spPr>
          <a:xfrm>
            <a:off x="8077200" y="1513780"/>
            <a:ext cx="3302000" cy="1573411"/>
          </a:xfrm>
          <a:prstGeom prst="roundRect">
            <a:avLst>
              <a:gd name="adj" fmla="val 4843"/>
            </a:avLst>
          </a:prstGeom>
          <a:solidFill>
            <a:srgbClr val="15253D"/>
          </a:solidFill>
          <a:ln/>
        </p:spPr>
      </p:sp>
      <p:sp>
        <p:nvSpPr>
          <p:cNvPr id="28" name="text-262"/>
          <p:cNvSpPr txBox="1"/>
          <p:nvPr/>
        </p:nvSpPr>
        <p:spPr>
          <a:xfrm>
            <a:off x="8280400" y="1691580"/>
            <a:ext cx="2977134" cy="446980"/>
          </a:xfrm>
          <a:prstGeom prst="rect">
            <a:avLst/>
          </a:prstGeom>
          <a:noFill/>
          <a:ln/>
        </p:spPr>
        <p:txBody>
          <a:bodyPr wrap="square" lIns="0" tIns="0" rIns="0" bIns="0" rtlCol="0" anchor="t"/>
          <a:lstStyle/>
          <a:p>
            <a:pPr algn="l" indent="0" marL="0">
              <a:lnSpc>
                <a:spcPts val="3520"/>
              </a:lnSpc>
              <a:buNone/>
            </a:pPr>
            <a:r>
              <a:rPr lang="en-US" sz="3200" dirty="0">
                <a:solidFill>
                  <a:srgbClr val="E2AD6E"/>
                </a:solidFill>
                <a:latin typeface="Libre Baskerville" pitchFamily="34" charset="0"/>
                <a:ea typeface="Libre Baskerville" pitchFamily="34" charset="-122"/>
                <a:cs typeface="Libre Baskerville" pitchFamily="34" charset="-120"/>
              </a:rPr>
              <a:t>72,221</a:t>
            </a:r>
            <a:endParaRPr lang="en-US" sz="3200" dirty="0"/>
          </a:p>
        </p:txBody>
      </p:sp>
      <p:sp>
        <p:nvSpPr>
          <p:cNvPr id="29" name="text-263"/>
          <p:cNvSpPr txBox="1"/>
          <p:nvPr/>
        </p:nvSpPr>
        <p:spPr>
          <a:xfrm>
            <a:off x="8280400" y="2189361"/>
            <a:ext cx="2977134" cy="720030"/>
          </a:xfrm>
          <a:prstGeom prst="rect">
            <a:avLst/>
          </a:prstGeom>
          <a:noFill/>
          <a:ln/>
        </p:spPr>
        <p:txBody>
          <a:bodyPr wrap="square" lIns="0" tIns="0" rIns="0" bIns="0" rtlCol="0" anchor="t"/>
          <a:lstStyle/>
          <a:p>
            <a:pPr algn="l" indent="0" marL="0">
              <a:lnSpc>
                <a:spcPts val="1890"/>
              </a:lnSpc>
              <a:buNone/>
            </a:pPr>
            <a:r>
              <a:rPr lang="en-US" sz="1400" dirty="0">
                <a:solidFill>
                  <a:srgbClr val="F4EFE4"/>
                </a:solidFill>
                <a:latin typeface="Public Sans" pitchFamily="34" charset="0"/>
                <a:ea typeface="Public Sans" pitchFamily="34" charset="-122"/>
                <a:cs typeface="Public Sans" pitchFamily="34" charset="-120"/>
              </a:rPr>
              <a:t>religious first-graders, 2025–26: state religious plus Haredi (our sum)</a:t>
            </a:r>
            <a:endParaRPr lang="en-US" sz="1400" dirty="0"/>
          </a:p>
        </p:txBody>
      </p:sp>
      <p:sp>
        <p:nvSpPr>
          <p:cNvPr id="30" name="shape-264"/>
          <p:cNvSpPr/>
          <p:nvPr/>
        </p:nvSpPr>
        <p:spPr>
          <a:xfrm>
            <a:off x="8077200" y="3239591"/>
            <a:ext cx="3302000" cy="1106091"/>
          </a:xfrm>
          <a:prstGeom prst="roundRect">
            <a:avLst>
              <a:gd name="adj" fmla="val 6889"/>
            </a:avLst>
          </a:prstGeom>
          <a:solidFill>
            <a:srgbClr val="FBF8F1"/>
          </a:solidFill>
          <a:ln w="6350">
            <a:solidFill>
              <a:srgbClr val="D9D1C1"/>
            </a:solidFill>
            <a:prstDash val="solid"/>
          </a:ln>
        </p:spPr>
      </p:sp>
      <p:sp>
        <p:nvSpPr>
          <p:cNvPr id="31" name="text-265"/>
          <p:cNvSpPr txBox="1"/>
          <p:nvPr/>
        </p:nvSpPr>
        <p:spPr>
          <a:xfrm>
            <a:off x="8286750" y="3423741"/>
            <a:ext cx="2964244"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66,185</a:t>
            </a:r>
            <a:endParaRPr lang="en-US" sz="3200" dirty="0"/>
          </a:p>
        </p:txBody>
      </p:sp>
      <p:sp>
        <p:nvSpPr>
          <p:cNvPr id="32" name="text-266"/>
          <p:cNvSpPr txBox="1"/>
          <p:nvPr/>
        </p:nvSpPr>
        <p:spPr>
          <a:xfrm>
            <a:off x="8286750" y="3921522"/>
            <a:ext cx="2964244" cy="240010"/>
          </a:xfrm>
          <a:prstGeom prst="rect">
            <a:avLst/>
          </a:prstGeom>
          <a:noFill/>
          <a:ln/>
        </p:spPr>
        <p:txBody>
          <a:bodyPr wrap="square" lIns="0" tIns="0" rIns="0" bIns="0" rtlCol="0" anchor="t"/>
          <a:lstStyle/>
          <a:p>
            <a:pPr algn="l" indent="0" marL="0">
              <a:lnSpc>
                <a:spcPts val="1890"/>
              </a:lnSpc>
              <a:buNone/>
            </a:pPr>
            <a:r>
              <a:rPr lang="en-US" sz="1400" dirty="0">
                <a:solidFill>
                  <a:srgbClr val="4F5B69"/>
                </a:solidFill>
                <a:latin typeface="Public Sans" pitchFamily="34" charset="0"/>
                <a:ea typeface="Public Sans" pitchFamily="34" charset="-122"/>
                <a:cs typeface="Public Sans" pitchFamily="34" charset="-120"/>
              </a:rPr>
              <a:t>secular first-graders, 2025–26</a:t>
            </a:r>
            <a:endParaRPr lang="en-US" sz="1400" dirty="0"/>
          </a:p>
        </p:txBody>
      </p:sp>
      <p:sp>
        <p:nvSpPr>
          <p:cNvPr id="33" name="text-267"/>
          <p:cNvSpPr txBox="1"/>
          <p:nvPr/>
        </p:nvSpPr>
        <p:spPr>
          <a:xfrm>
            <a:off x="8077200" y="4498082"/>
            <a:ext cx="3389630" cy="411361"/>
          </a:xfrm>
          <a:prstGeom prst="rect">
            <a:avLst/>
          </a:prstGeom>
          <a:noFill/>
          <a:ln/>
        </p:spPr>
        <p:txBody>
          <a:bodyPr wrap="square" lIns="0" tIns="0" rIns="0" bIns="0" rtlCol="0" anchor="t"/>
          <a:lstStyle/>
          <a:p>
            <a:pPr algn="l" indent="0" marL="0">
              <a:lnSpc>
                <a:spcPts val="1620"/>
              </a:lnSpc>
              <a:buNone/>
            </a:pPr>
            <a:r>
              <a:rPr lang="en-US" sz="1200" dirty="0">
                <a:solidFill>
                  <a:srgbClr val="4F5B69"/>
                </a:solidFill>
                <a:latin typeface="Public Sans" pitchFamily="34" charset="0"/>
                <a:ea typeface="Public Sans" pitchFamily="34" charset="-122"/>
                <a:cs typeface="Public Sans" pitchFamily="34" charset="-120"/>
              </a:rPr>
              <a:t>For the first time, religious first-graders outnumber secular ones.</a:t>
            </a:r>
            <a:endParaRPr lang="en-US" sz="1200" dirty="0"/>
          </a:p>
        </p:txBody>
      </p:sp>
      <p:sp>
        <p:nvSpPr>
          <p:cNvPr id="34" name="text-268"/>
          <p:cNvSpPr txBox="1"/>
          <p:nvPr/>
        </p:nvSpPr>
        <p:spPr>
          <a:xfrm>
            <a:off x="812800" y="5379343"/>
            <a:ext cx="10762996" cy="480020"/>
          </a:xfrm>
          <a:prstGeom prst="rect">
            <a:avLst/>
          </a:prstGeom>
          <a:noFill/>
          <a:ln/>
        </p:spPr>
        <p:txBody>
          <a:bodyPr wrap="square" lIns="0" tIns="0" rIns="0" bIns="0" rtlCol="0" anchor="t"/>
          <a:lstStyle/>
          <a:p>
            <a:pPr algn="l" indent="0" marL="0">
              <a:lnSpc>
                <a:spcPts val="1890"/>
              </a:lnSpc>
              <a:buNone/>
            </a:pPr>
            <a:r>
              <a:rPr lang="en-US" sz="1400" dirty="0">
                <a:solidFill>
                  <a:srgbClr val="15253D"/>
                </a:solidFill>
                <a:latin typeface="Public Sans" pitchFamily="34" charset="0"/>
                <a:ea typeface="Public Sans" pitchFamily="34" charset="-122"/>
                <a:cs typeface="Public Sans" pitchFamily="34" charset="-120"/>
              </a:rPr>
              <a:t>President Rivlin called these four school streams Israel's “four tribes” in 2015; today's numbers are from the Education Ministry, Aug 2025.</a:t>
            </a:r>
            <a:endParaRPr lang="en-US" sz="1400" dirty="0"/>
          </a:p>
        </p:txBody>
      </p:sp>
      <p:sp>
        <p:nvSpPr>
          <p:cNvPr id="35" name="text-269"/>
          <p:cNvSpPr txBox="1"/>
          <p:nvPr/>
        </p:nvSpPr>
        <p:spPr>
          <a:xfrm>
            <a:off x="812800" y="6253559"/>
            <a:ext cx="10762996" cy="19804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Education Ministry data via Times of Israel, Aug 31, 2025; Rivlin speech, Jun 7, 2015 (Reichman University text)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EFE4"/>
        </a:solidFill>
      </p:bgPr>
    </p:bg>
    <p:spTree>
      <p:nvGrpSpPr>
        <p:cNvPr id="1" name=""/>
        <p:cNvGrpSpPr/>
        <p:nvPr/>
      </p:nvGrpSpPr>
      <p:grpSpPr>
        <a:xfrm>
          <a:off x="0" y="0"/>
          <a:ext cx="0" cy="0"/>
          <a:chOff x="0" y="0"/>
          <a:chExt cx="0" cy="0"/>
        </a:xfrm>
      </p:grpSpPr>
      <p:sp>
        <p:nvSpPr>
          <p:cNvPr id="2" name="text-270"/>
          <p:cNvSpPr txBox="1"/>
          <p:nvPr/>
        </p:nvSpPr>
        <p:spPr>
          <a:xfrm>
            <a:off x="812800" y="812800"/>
            <a:ext cx="10762996"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More than four tribes: Israel in 2026</a:t>
            </a:r>
            <a:endParaRPr lang="en-US" sz="3200" dirty="0"/>
          </a:p>
        </p:txBody>
      </p:sp>
      <p:graphicFrame>
        <p:nvGraphicFramePr>
          <p:cNvPr id="14" name="table-271"/>
          <p:cNvGraphicFramePr>
            <a:graphicFrameLocks noGrp="1"/>
          </p:cNvGraphicFramePr>
          <p:nvPr>
            <p:extLst>
              <p:ext uri="{D42A27DB-BD31-4B8C-83A1-F6EECF244321}">
                <p14:modId xmlns:p14="http://schemas.microsoft.com/office/powerpoint/2010/main" val="1579011935"/>
              </p:ext>
            </p:extLst>
          </p:nvPr>
        </p:nvGraphicFramePr>
        <p:xfrm>
          <a:off x="812800" y="1462980"/>
          <a:ext cx="10566400" cy="914400"/>
        </p:xfrm>
        <a:graphic>
          <a:graphicData uri="http://schemas.openxmlformats.org/drawingml/2006/table">
            <a:tbl>
              <a:tblPr/>
              <a:tblGrid>
                <a:gridCol w="2006402"/>
                <a:gridCol w="1583928"/>
                <a:gridCol w="3379192"/>
                <a:gridCol w="3590528"/>
              </a:tblGrid>
              <a:tr h="310952">
                <a:tc>
                  <a:txBody>
                    <a:bodyPr/>
                    <a:lstStyle/>
                    <a:p>
                      <a:pPr algn="l" indent="0" marL="0">
                        <a:lnSpc>
                          <a:spcPts val="1560"/>
                        </a:lnSpc>
                        <a:buNone/>
                      </a:pPr>
                      <a:r>
                        <a:rPr lang="en-US" sz="1200" b="1" dirty="0">
                          <a:solidFill>
                            <a:srgbClr val="F4EFE4"/>
                          </a:solidFill>
                          <a:latin typeface="Public Sans" pitchFamily="34" charset="0"/>
                          <a:ea typeface="Public Sans" pitchFamily="34" charset="-122"/>
                          <a:cs typeface="Public Sans" pitchFamily="34" charset="-120"/>
                        </a:rPr>
                        <a:t>Group</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c>
                  <a:txBody>
                    <a:bodyPr/>
                    <a:lstStyle/>
                    <a:p>
                      <a:pPr algn="l" indent="0" marL="0">
                        <a:lnSpc>
                          <a:spcPts val="1560"/>
                        </a:lnSpc>
                        <a:buNone/>
                      </a:pPr>
                      <a:r>
                        <a:rPr lang="en-US" sz="1200" b="1" dirty="0">
                          <a:solidFill>
                            <a:srgbClr val="F4EFE4"/>
                          </a:solidFill>
                          <a:latin typeface="Public Sans" pitchFamily="34" charset="0"/>
                          <a:ea typeface="Public Sans" pitchFamily="34" charset="-122"/>
                          <a:cs typeface="Public Sans" pitchFamily="34" charset="-120"/>
                        </a:rPr>
                        <a:t>Best estimate</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c>
                  <a:txBody>
                    <a:bodyPr/>
                    <a:lstStyle/>
                    <a:p>
                      <a:pPr algn="l" indent="0" marL="0">
                        <a:lnSpc>
                          <a:spcPts val="1560"/>
                        </a:lnSpc>
                        <a:buNone/>
                      </a:pPr>
                      <a:r>
                        <a:rPr lang="en-US" sz="1200" b="1" dirty="0">
                          <a:solidFill>
                            <a:srgbClr val="F4EFE4"/>
                          </a:solidFill>
                          <a:latin typeface="Public Sans" pitchFamily="34" charset="0"/>
                          <a:ea typeface="Public Sans" pitchFamily="34" charset="-122"/>
                          <a:cs typeface="Public Sans" pitchFamily="34" charset="-120"/>
                        </a:rPr>
                        <a:t>The number behind it</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c>
                  <a:txBody>
                    <a:bodyPr/>
                    <a:lstStyle/>
                    <a:p>
                      <a:pPr algn="l" indent="0" marL="0">
                        <a:lnSpc>
                          <a:spcPts val="1560"/>
                        </a:lnSpc>
                        <a:buNone/>
                      </a:pPr>
                      <a:r>
                        <a:rPr lang="en-US" sz="1200" b="1" dirty="0">
                          <a:solidFill>
                            <a:srgbClr val="F4EFE4"/>
                          </a:solidFill>
                          <a:latin typeface="Public Sans" pitchFamily="34" charset="0"/>
                          <a:ea typeface="Public Sans" pitchFamily="34" charset="-122"/>
                          <a:cs typeface="Public Sans" pitchFamily="34" charset="-120"/>
                        </a:rPr>
                        <a:t>How it voted in 2022, or key fact</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r>
              <a:tr h="310952">
                <a:tc>
                  <a:txBody>
                    <a:bodyPr/>
                    <a:lstStyle/>
                    <a:p>
                      <a:pPr algn="l" indent="0" marL="0">
                        <a:lnSpc>
                          <a:spcPts val="1560"/>
                        </a:lnSpc>
                        <a:buNone/>
                      </a:pPr>
                      <a:r>
                        <a:rPr lang="en-US" sz="1200" b="1" dirty="0">
                          <a:solidFill>
                            <a:srgbClr val="1B2634"/>
                          </a:solidFill>
                          <a:latin typeface="Public Sans" pitchFamily="34" charset="0"/>
                          <a:ea typeface="Public Sans" pitchFamily="34" charset="-122"/>
                          <a:cs typeface="Public Sans" pitchFamily="34" charset="-120"/>
                        </a:rPr>
                        <a:t>Secular (hiloni)</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~29% [arith]</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39.6% of Jewish adults (CBS, Sep 2026)</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Yesh Atid 39, Likud 20</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r>
              <a:tr h="310952">
                <a:tc>
                  <a:txBody>
                    <a:bodyPr/>
                    <a:lstStyle/>
                    <a:p>
                      <a:pPr algn="l" indent="0" marL="0">
                        <a:lnSpc>
                          <a:spcPts val="1560"/>
                        </a:lnSpc>
                        <a:buNone/>
                      </a:pPr>
                      <a:r>
                        <a:rPr lang="en-US" sz="1200" b="1" dirty="0">
                          <a:solidFill>
                            <a:srgbClr val="1B2634"/>
                          </a:solidFill>
                          <a:latin typeface="Public Sans" pitchFamily="34" charset="0"/>
                          <a:ea typeface="Public Sans" pitchFamily="34" charset="-122"/>
                          <a:cs typeface="Public Sans" pitchFamily="34" charset="-120"/>
                        </a:rPr>
                        <a:t>Masortim</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~26% [arith]</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35.8% of Jewish adults [arith]</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Likud 46.5, RZ–Otzma 14</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10952">
                <a:tc>
                  <a:txBody>
                    <a:bodyPr/>
                    <a:lstStyle/>
                    <a:p>
                      <a:pPr algn="l" indent="0" marL="0">
                        <a:lnSpc>
                          <a:spcPts val="1560"/>
                        </a:lnSpc>
                        <a:buNone/>
                      </a:pPr>
                      <a:r>
                        <a:rPr lang="en-US" sz="1200" b="1" dirty="0">
                          <a:solidFill>
                            <a:srgbClr val="1B2634"/>
                          </a:solidFill>
                          <a:latin typeface="Public Sans" pitchFamily="34" charset="0"/>
                          <a:ea typeface="Public Sans" pitchFamily="34" charset="-122"/>
                          <a:cs typeface="Public Sans" pitchFamily="34" charset="-120"/>
                        </a:rPr>
                        <a:t>National-religious</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~9% [arith]</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12.4% of Jewish adults; JPPI: 16–17%</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RZ–Otzma 45, Likud 22.5</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r>
              <a:tr h="508992">
                <a:tc>
                  <a:txBody>
                    <a:bodyPr/>
                    <a:lstStyle/>
                    <a:p>
                      <a:pPr algn="l" indent="0" marL="0">
                        <a:lnSpc>
                          <a:spcPts val="1560"/>
                        </a:lnSpc>
                        <a:buNone/>
                      </a:pPr>
                      <a:r>
                        <a:rPr lang="en-US" sz="1200" b="1" dirty="0">
                          <a:solidFill>
                            <a:srgbClr val="1B2634"/>
                          </a:solidFill>
                          <a:latin typeface="Public Sans" pitchFamily="34" charset="0"/>
                          <a:ea typeface="Public Sans" pitchFamily="34" charset="-122"/>
                          <a:cs typeface="Public Sans" pitchFamily="34" charset="-120"/>
                        </a:rPr>
                        <a:t>Haredim</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14.3%</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Lithuanian 34%, Sephardi 32%, Hasidic 29%, Chabad 4% (Machon, Dec 2024)</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UTJ 58, Shas 28</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508992">
                <a:tc>
                  <a:txBody>
                    <a:bodyPr/>
                    <a:lstStyle/>
                    <a:p>
                      <a:pPr algn="l" indent="0" marL="0">
                        <a:lnSpc>
                          <a:spcPts val="1560"/>
                        </a:lnSpc>
                        <a:buNone/>
                      </a:pPr>
                      <a:r>
                        <a:rPr lang="en-US" sz="1200" b="1" dirty="0">
                          <a:solidFill>
                            <a:srgbClr val="1B2634"/>
                          </a:solidFill>
                          <a:latin typeface="Public Sans" pitchFamily="34" charset="0"/>
                          <a:ea typeface="Public Sans" pitchFamily="34" charset="-122"/>
                          <a:cs typeface="Public Sans" pitchFamily="34" charset="-120"/>
                        </a:rPr>
                        <a:t>Arab citizens</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21.7%</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Muslims 1.849M; Christians 184,200; Druze ~152k; Negev Bedouin ~325k</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Turnout 53.2%: Ra'am 35, Hadash–Ta'al 29, Balad 22</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r>
              <a:tr h="310952">
                <a:tc>
                  <a:txBody>
                    <a:bodyPr/>
                    <a:lstStyle/>
                    <a:p>
                      <a:pPr algn="l" indent="0" marL="0">
                        <a:lnSpc>
                          <a:spcPts val="1560"/>
                        </a:lnSpc>
                        <a:buNone/>
                      </a:pPr>
                      <a:r>
                        <a:rPr lang="en-US" sz="1200" b="1" dirty="0">
                          <a:solidFill>
                            <a:srgbClr val="1B2634"/>
                          </a:solidFill>
                          <a:latin typeface="Public Sans" pitchFamily="34" charset="0"/>
                          <a:ea typeface="Public Sans" pitchFamily="34" charset="-122"/>
                          <a:cs typeface="Public Sans" pitchFamily="34" charset="-120"/>
                        </a:rPr>
                        <a:t>Russian-speakers*</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~15% of voters</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~1M eligible voters</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2025 poll: YB 23%, Bennett 17%</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508992">
                <a:tc>
                  <a:txBody>
                    <a:bodyPr/>
                    <a:lstStyle/>
                    <a:p>
                      <a:pPr algn="l" indent="0" marL="0">
                        <a:lnSpc>
                          <a:spcPts val="1560"/>
                        </a:lnSpc>
                        <a:buNone/>
                      </a:pPr>
                      <a:r>
                        <a:rPr lang="en-US" sz="1200" b="1" dirty="0">
                          <a:solidFill>
                            <a:srgbClr val="1B2634"/>
                          </a:solidFill>
                          <a:latin typeface="Public Sans" pitchFamily="34" charset="0"/>
                          <a:ea typeface="Public Sans" pitchFamily="34" charset="-122"/>
                          <a:cs typeface="Public Sans" pitchFamily="34" charset="-120"/>
                        </a:rPr>
                        <a:t>Settlers*</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~5.25% (West Bank)</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540k West Bank + ~234k East Jerusalem</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36% Haredi / 36% RZ / 28% secular; RZ 22% in settlements vs 11% nationally (2022)</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8D5CF"/>
                      </a:solidFill>
                      <a:prstDash val="solid"/>
                      <a:round/>
                      <a:headEnd type="none" w="med" len="med"/>
                      <a:tailEnd type="none" w="med" len="med"/>
                    </a:lnT>
                    <a:lnB w="6350" cap="flat" cmpd="sng" algn="ctr">
                      <a:solidFill>
                        <a:srgbClr val="D8D5CF"/>
                      </a:solidFill>
                      <a:prstDash val="solid"/>
                      <a:round/>
                      <a:headEnd type="none" w="med" len="med"/>
                      <a:tailEnd type="none" w="med" len="med"/>
                    </a:lnB>
                    <a:solidFill>
                      <a:srgbClr val="FBF8F1"/>
                    </a:solidFill>
                  </a:tcPr>
                </a:tc>
              </a:tr>
              <a:tr h="310952">
                <a:tc>
                  <a:txBody>
                    <a:bodyPr/>
                    <a:lstStyle/>
                    <a:p>
                      <a:pPr algn="l" indent="0" marL="0">
                        <a:lnSpc>
                          <a:spcPts val="1560"/>
                        </a:lnSpc>
                        <a:buNone/>
                      </a:pPr>
                      <a:r>
                        <a:rPr lang="en-US" sz="1200" b="1" dirty="0">
                          <a:solidFill>
                            <a:srgbClr val="1B2634"/>
                          </a:solidFill>
                          <a:latin typeface="Public Sans" pitchFamily="34" charset="0"/>
                          <a:ea typeface="Public Sans" pitchFamily="34" charset="-122"/>
                          <a:cs typeface="Public Sans" pitchFamily="34" charset="-120"/>
                        </a:rPr>
                        <a:t>Ethiopian Israelis</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~1.8% [arith]</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177,600 (CBS, 2024)</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c>
                  <a:txBody>
                    <a:bodyPr/>
                    <a:lstStyle/>
                    <a:p>
                      <a:pPr algn="l" indent="0" marL="0">
                        <a:lnSpc>
                          <a:spcPts val="1560"/>
                        </a:lnSpc>
                        <a:buNone/>
                      </a:pPr>
                      <a:r>
                        <a:rPr lang="en-US" sz="1200" dirty="0">
                          <a:solidFill>
                            <a:srgbClr val="1B2634"/>
                          </a:solidFill>
                          <a:latin typeface="Public Sans" pitchFamily="34" charset="0"/>
                          <a:ea typeface="Public Sans" pitchFamily="34" charset="-122"/>
                          <a:cs typeface="Public Sans" pitchFamily="34" charset="-120"/>
                        </a:rPr>
                        <a:t>No voting study found</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r>
            </a:tbl>
          </a:graphicData>
        </a:graphic>
      </p:graphicFrame>
      <p:sp>
        <p:nvSpPr>
          <p:cNvPr id="4" name="text-272"/>
          <p:cNvSpPr txBox="1"/>
          <p:nvPr/>
        </p:nvSpPr>
        <p:spPr>
          <a:xfrm>
            <a:off x="812800" y="5065216"/>
            <a:ext cx="10762996" cy="411361"/>
          </a:xfrm>
          <a:prstGeom prst="rect">
            <a:avLst/>
          </a:prstGeom>
          <a:noFill/>
          <a:ln/>
        </p:spPr>
        <p:txBody>
          <a:bodyPr wrap="square" lIns="0" tIns="0" rIns="0" bIns="0" rtlCol="0" anchor="t"/>
          <a:lstStyle/>
          <a:p>
            <a:pPr algn="l" indent="0" marL="0">
              <a:lnSpc>
                <a:spcPts val="1620"/>
              </a:lnSpc>
              <a:buNone/>
            </a:pPr>
            <a:r>
              <a:rPr lang="en-US" sz="1200" dirty="0">
                <a:solidFill>
                  <a:srgbClr val="4F5B69"/>
                </a:solidFill>
                <a:latin typeface="Public Sans" pitchFamily="34" charset="0"/>
                <a:ea typeface="Public Sans" pitchFamily="34" charset="-122"/>
                <a:cs typeface="Public Sans" pitchFamily="34" charset="-120"/>
              </a:rPr>
              <a:t>Shares are of all residents. * Cuts across the other groups. [arith] = our arithmetic: Jewish-adult share × Jews’ ~73.6% of the population; undercounts young Haredim. 2022 vote = % of each group’s vote (IDI, Jun 28, 2026; Arab: IDI, Dec 25, 2022).</a:t>
            </a:r>
            <a:endParaRPr lang="en-US" sz="1200" dirty="0"/>
          </a:p>
        </p:txBody>
      </p:sp>
      <p:sp>
        <p:nvSpPr>
          <p:cNvPr id="5" name="text-273"/>
          <p:cNvSpPr txBox="1"/>
          <p:nvPr/>
        </p:nvSpPr>
        <p:spPr>
          <a:xfrm>
            <a:off x="812800" y="6055519"/>
            <a:ext cx="10762996" cy="39608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CBS via Ynet/VIN, Sep 9, 2026; IDI, Dec 14, 2025 &amp; Jun 28, 2026; Machon, Dec 2024; JPPI, Sep 2025; CBS via TPS, May 2026; Lazar/JPost, Dec 2025; Yesha, Feb 2026; EU, Aug 2025; Yesha via ToI, May 2023; Washington Institute, Nov 2022; CBS via JNS, Nov 2025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EFE4"/>
        </a:solidFill>
      </p:bgPr>
    </p:bg>
    <p:spTree>
      <p:nvGrpSpPr>
        <p:cNvPr id="1" name=""/>
        <p:cNvGrpSpPr/>
        <p:nvPr/>
      </p:nvGrpSpPr>
      <p:grpSpPr>
        <a:xfrm>
          <a:off x="0" y="0"/>
          <a:ext cx="0" cy="0"/>
          <a:chOff x="0" y="0"/>
          <a:chExt cx="0" cy="0"/>
        </a:xfrm>
      </p:grpSpPr>
      <p:sp>
        <p:nvSpPr>
          <p:cNvPr id="2" name="text-274"/>
          <p:cNvSpPr txBox="1"/>
          <p:nvPr/>
        </p:nvSpPr>
        <p:spPr>
          <a:xfrm>
            <a:off x="812800" y="812800"/>
            <a:ext cx="10762996"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Who Israelis are, by the newest numbers</a:t>
            </a:r>
            <a:endParaRPr lang="en-US" sz="3200" dirty="0"/>
          </a:p>
        </p:txBody>
      </p:sp>
      <p:sp>
        <p:nvSpPr>
          <p:cNvPr id="3" name="shape-275"/>
          <p:cNvSpPr/>
          <p:nvPr/>
        </p:nvSpPr>
        <p:spPr>
          <a:xfrm>
            <a:off x="812800" y="1462980"/>
            <a:ext cx="5207000" cy="1760041"/>
          </a:xfrm>
          <a:prstGeom prst="roundRect">
            <a:avLst>
              <a:gd name="adj" fmla="val 4329"/>
            </a:avLst>
          </a:prstGeom>
          <a:solidFill>
            <a:srgbClr val="FBF8F1"/>
          </a:solidFill>
          <a:ln w="6350">
            <a:solidFill>
              <a:srgbClr val="D9D1C1"/>
            </a:solidFill>
            <a:prstDash val="solid"/>
          </a:ln>
        </p:spPr>
      </p:sp>
      <p:sp>
        <p:nvSpPr>
          <p:cNvPr id="4" name="text-276"/>
          <p:cNvSpPr txBox="1"/>
          <p:nvPr/>
        </p:nvSpPr>
        <p:spPr>
          <a:xfrm>
            <a:off x="1022350" y="1621730"/>
            <a:ext cx="4897819" cy="205680"/>
          </a:xfrm>
          <a:prstGeom prst="rect">
            <a:avLst/>
          </a:prstGeom>
          <a:noFill/>
          <a:ln/>
        </p:spPr>
        <p:txBody>
          <a:bodyPr wrap="square" lIns="0" tIns="0" rIns="0" bIns="0" rtlCol="0" anchor="t"/>
          <a:lstStyle/>
          <a:p>
            <a:pPr algn="l" indent="0" marL="0">
              <a:lnSpc>
                <a:spcPts val="1620"/>
              </a:lnSpc>
              <a:buNone/>
            </a:pPr>
            <a:r>
              <a:rPr lang="en-US" sz="1200" b="1" spc="100" kern="0" dirty="0">
                <a:solidFill>
                  <a:srgbClr val="9A541A"/>
                </a:solidFill>
                <a:latin typeface="Public Sans" pitchFamily="34" charset="0"/>
                <a:ea typeface="Public Sans" pitchFamily="34" charset="-122"/>
                <a:cs typeface="Public Sans" pitchFamily="34" charset="-120"/>
              </a:rPr>
              <a:t>POPULATION, SEPTEMBER 2026</a:t>
            </a:r>
            <a:endParaRPr lang="en-US" sz="1200" dirty="0"/>
          </a:p>
        </p:txBody>
      </p:sp>
      <p:sp>
        <p:nvSpPr>
          <p:cNvPr id="5" name="text-277"/>
          <p:cNvSpPr txBox="1"/>
          <p:nvPr/>
        </p:nvSpPr>
        <p:spPr>
          <a:xfrm>
            <a:off x="1022350" y="1903611"/>
            <a:ext cx="4897819"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10,305,000</a:t>
            </a:r>
            <a:endParaRPr lang="en-US" sz="3200" dirty="0"/>
          </a:p>
        </p:txBody>
      </p:sp>
      <p:sp>
        <p:nvSpPr>
          <p:cNvPr id="6" name="shape-278"/>
          <p:cNvSpPr/>
          <p:nvPr/>
        </p:nvSpPr>
        <p:spPr>
          <a:xfrm>
            <a:off x="1022350" y="2426791"/>
            <a:ext cx="3748881" cy="355600"/>
          </a:xfrm>
          <a:prstGeom prst="rect">
            <a:avLst/>
          </a:prstGeom>
          <a:solidFill>
            <a:srgbClr val="15253D"/>
          </a:solidFill>
          <a:ln/>
        </p:spPr>
      </p:sp>
      <p:sp>
        <p:nvSpPr>
          <p:cNvPr id="7" name="text-279"/>
          <p:cNvSpPr txBox="1"/>
          <p:nvPr/>
        </p:nvSpPr>
        <p:spPr>
          <a:xfrm>
            <a:off x="1123950" y="2501702"/>
            <a:ext cx="1729273" cy="205680"/>
          </a:xfrm>
          <a:prstGeom prst="rect">
            <a:avLst/>
          </a:prstGeom>
          <a:noFill/>
          <a:ln/>
        </p:spPr>
        <p:txBody>
          <a:bodyPr wrap="none" lIns="0" tIns="0" rIns="0" bIns="0" rtlCol="0" anchor="t"/>
          <a:lstStyle/>
          <a:p>
            <a:pPr algn="l" indent="0" marL="0">
              <a:lnSpc>
                <a:spcPts val="1620"/>
              </a:lnSpc>
              <a:buNone/>
            </a:pPr>
            <a:r>
              <a:rPr lang="en-US" sz="1200" b="1" dirty="0">
                <a:solidFill>
                  <a:srgbClr val="F4EFE4"/>
                </a:solidFill>
                <a:latin typeface="Public Sans" pitchFamily="34" charset="0"/>
                <a:ea typeface="Public Sans" pitchFamily="34" charset="-122"/>
                <a:cs typeface="Public Sans" pitchFamily="34" charset="-120"/>
              </a:rPr>
              <a:t>Jews and others 78.3%</a:t>
            </a:r>
            <a:endParaRPr lang="en-US" sz="1200" dirty="0"/>
          </a:p>
        </p:txBody>
      </p:sp>
      <p:sp>
        <p:nvSpPr>
          <p:cNvPr id="8" name="shape-280"/>
          <p:cNvSpPr/>
          <p:nvPr/>
        </p:nvSpPr>
        <p:spPr>
          <a:xfrm>
            <a:off x="4771231" y="2426791"/>
            <a:ext cx="1038920" cy="355600"/>
          </a:xfrm>
          <a:prstGeom prst="rect">
            <a:avLst/>
          </a:prstGeom>
          <a:solidFill>
            <a:srgbClr val="D0904A"/>
          </a:solidFill>
          <a:ln/>
        </p:spPr>
      </p:sp>
      <p:sp>
        <p:nvSpPr>
          <p:cNvPr id="9" name="text-281"/>
          <p:cNvSpPr txBox="1"/>
          <p:nvPr/>
        </p:nvSpPr>
        <p:spPr>
          <a:xfrm>
            <a:off x="4847431" y="2501702"/>
            <a:ext cx="944967" cy="205680"/>
          </a:xfrm>
          <a:prstGeom prst="rect">
            <a:avLst/>
          </a:prstGeom>
          <a:noFill/>
          <a:ln/>
        </p:spPr>
        <p:txBody>
          <a:bodyPr wrap="none" lIns="0" tIns="0" rIns="0" bIns="0" rtlCol="0" anchor="t"/>
          <a:lstStyle/>
          <a:p>
            <a:pPr algn="l" indent="0" marL="0">
              <a:lnSpc>
                <a:spcPts val="1620"/>
              </a:lnSpc>
              <a:buNone/>
            </a:pPr>
            <a:r>
              <a:rPr lang="en-US" sz="1200" b="1" dirty="0">
                <a:solidFill>
                  <a:srgbClr val="15253D"/>
                </a:solidFill>
                <a:latin typeface="Public Sans" pitchFamily="34" charset="0"/>
                <a:ea typeface="Public Sans" pitchFamily="34" charset="-122"/>
                <a:cs typeface="Public Sans" pitchFamily="34" charset="-120"/>
              </a:rPr>
              <a:t>Arabs 21.7%</a:t>
            </a:r>
            <a:endParaRPr lang="en-US" sz="1200" dirty="0"/>
          </a:p>
        </p:txBody>
      </p:sp>
      <p:sp>
        <p:nvSpPr>
          <p:cNvPr id="10" name="text-282"/>
          <p:cNvSpPr txBox="1"/>
          <p:nvPr/>
        </p:nvSpPr>
        <p:spPr>
          <a:xfrm>
            <a:off x="1022350" y="2858591"/>
            <a:ext cx="4897819" cy="205680"/>
          </a:xfrm>
          <a:prstGeom prst="rect">
            <a:avLst/>
          </a:prstGeom>
          <a:noFill/>
          <a:ln/>
        </p:spPr>
        <p:txBody>
          <a:bodyPr wrap="square" lIns="0" tIns="0" rIns="0" bIns="0" rtlCol="0" anchor="t"/>
          <a:lstStyle/>
          <a:p>
            <a:pPr algn="l" indent="0" marL="0">
              <a:lnSpc>
                <a:spcPts val="1620"/>
              </a:lnSpc>
              <a:buNone/>
            </a:pPr>
            <a:r>
              <a:rPr lang="en-US" sz="1200" dirty="0">
                <a:solidFill>
                  <a:srgbClr val="4F5B69"/>
                </a:solidFill>
                <a:latin typeface="Public Sans" pitchFamily="34" charset="0"/>
                <a:ea typeface="Public Sans" pitchFamily="34" charset="-122"/>
                <a:cs typeface="Public Sans" pitchFamily="34" charset="-120"/>
              </a:rPr>
              <a:t>CBS, Sep 9, 2026. Shares exclude 304,000 foreign nationals.</a:t>
            </a:r>
            <a:endParaRPr lang="en-US" sz="1200" dirty="0"/>
          </a:p>
        </p:txBody>
      </p:sp>
      <p:sp>
        <p:nvSpPr>
          <p:cNvPr id="11" name="shape-283"/>
          <p:cNvSpPr/>
          <p:nvPr/>
        </p:nvSpPr>
        <p:spPr>
          <a:xfrm>
            <a:off x="6172200" y="1462980"/>
            <a:ext cx="5207000" cy="1760041"/>
          </a:xfrm>
          <a:prstGeom prst="roundRect">
            <a:avLst>
              <a:gd name="adj" fmla="val 4329"/>
            </a:avLst>
          </a:prstGeom>
          <a:solidFill>
            <a:srgbClr val="FBF8F1"/>
          </a:solidFill>
          <a:ln w="6350">
            <a:solidFill>
              <a:srgbClr val="D9D1C1"/>
            </a:solidFill>
            <a:prstDash val="solid"/>
          </a:ln>
        </p:spPr>
      </p:sp>
      <p:sp>
        <p:nvSpPr>
          <p:cNvPr id="12" name="text-284"/>
          <p:cNvSpPr txBox="1"/>
          <p:nvPr/>
        </p:nvSpPr>
        <p:spPr>
          <a:xfrm>
            <a:off x="6381750" y="1621730"/>
            <a:ext cx="4897819" cy="205680"/>
          </a:xfrm>
          <a:prstGeom prst="rect">
            <a:avLst/>
          </a:prstGeom>
          <a:noFill/>
          <a:ln/>
        </p:spPr>
        <p:txBody>
          <a:bodyPr wrap="square" lIns="0" tIns="0" rIns="0" bIns="0" rtlCol="0" anchor="t"/>
          <a:lstStyle/>
          <a:p>
            <a:pPr algn="l" indent="0" marL="0">
              <a:lnSpc>
                <a:spcPts val="1620"/>
              </a:lnSpc>
              <a:buNone/>
            </a:pPr>
            <a:r>
              <a:rPr lang="en-US" sz="1200" b="1" spc="100" kern="0" dirty="0">
                <a:solidFill>
                  <a:srgbClr val="9A541A"/>
                </a:solidFill>
                <a:latin typeface="Public Sans" pitchFamily="34" charset="0"/>
                <a:ea typeface="Public Sans" pitchFamily="34" charset="-122"/>
                <a:cs typeface="Public Sans" pitchFamily="34" charset="-120"/>
              </a:rPr>
              <a:t>JEWS 20+ BY RELIGIOSITY, %</a:t>
            </a:r>
            <a:endParaRPr lang="en-US" sz="1200" dirty="0"/>
          </a:p>
        </p:txBody>
      </p:sp>
      <p:sp>
        <p:nvSpPr>
          <p:cNvPr id="13" name="text-285"/>
          <p:cNvSpPr txBox="1"/>
          <p:nvPr/>
        </p:nvSpPr>
        <p:spPr>
          <a:xfrm>
            <a:off x="6381750" y="1940421"/>
            <a:ext cx="502158" cy="205680"/>
          </a:xfrm>
          <a:prstGeom prst="rect">
            <a:avLst/>
          </a:prstGeom>
          <a:noFill/>
          <a:ln/>
        </p:spPr>
        <p:txBody>
          <a:bodyPr wrap="square" lIns="0" tIns="0" rIns="0" bIns="0" rtlCol="0" anchor="t"/>
          <a:lstStyle/>
          <a:p>
            <a:pPr algn="l" indent="0" marL="0">
              <a:lnSpc>
                <a:spcPts val="1620"/>
              </a:lnSpc>
              <a:buNone/>
            </a:pPr>
            <a:r>
              <a:rPr lang="en-US" sz="1200" b="1" dirty="0">
                <a:solidFill>
                  <a:srgbClr val="1B2634"/>
                </a:solidFill>
                <a:latin typeface="Public Sans" pitchFamily="34" charset="0"/>
                <a:ea typeface="Public Sans" pitchFamily="34" charset="-122"/>
                <a:cs typeface="Public Sans" pitchFamily="34" charset="-120"/>
              </a:rPr>
              <a:t>2026</a:t>
            </a:r>
            <a:endParaRPr lang="en-US" sz="1200" dirty="0"/>
          </a:p>
        </p:txBody>
      </p:sp>
      <p:sp>
        <p:nvSpPr>
          <p:cNvPr id="14" name="shape-286"/>
          <p:cNvSpPr/>
          <p:nvPr/>
        </p:nvSpPr>
        <p:spPr>
          <a:xfrm>
            <a:off x="6915150" y="1890911"/>
            <a:ext cx="1696641" cy="304800"/>
          </a:xfrm>
          <a:prstGeom prst="rect">
            <a:avLst/>
          </a:prstGeom>
          <a:solidFill>
            <a:srgbClr val="15253D"/>
          </a:solidFill>
          <a:ln/>
        </p:spPr>
      </p:sp>
      <p:sp>
        <p:nvSpPr>
          <p:cNvPr id="15" name="text-287"/>
          <p:cNvSpPr txBox="1"/>
          <p:nvPr/>
        </p:nvSpPr>
        <p:spPr>
          <a:xfrm>
            <a:off x="7591921" y="1940421"/>
            <a:ext cx="386345" cy="205680"/>
          </a:xfrm>
          <a:prstGeom prst="rect">
            <a:avLst/>
          </a:prstGeom>
          <a:noFill/>
          <a:ln/>
        </p:spPr>
        <p:txBody>
          <a:bodyPr wrap="square" lIns="0" tIns="0" rIns="0" bIns="0" rtlCol="0" anchor="t"/>
          <a:lstStyle/>
          <a:p>
            <a:pPr algn="l" indent="0" marL="0">
              <a:lnSpc>
                <a:spcPts val="1620"/>
              </a:lnSpc>
              <a:buNone/>
            </a:pPr>
            <a:r>
              <a:rPr lang="en-US" sz="1200" b="1" dirty="0">
                <a:solidFill>
                  <a:srgbClr val="F4EFE4"/>
                </a:solidFill>
                <a:latin typeface="Public Sans" pitchFamily="34" charset="0"/>
                <a:ea typeface="Public Sans" pitchFamily="34" charset="-122"/>
                <a:cs typeface="Public Sans" pitchFamily="34" charset="-120"/>
              </a:rPr>
              <a:t>39.6</a:t>
            </a:r>
            <a:endParaRPr lang="en-US" sz="1200" dirty="0"/>
          </a:p>
        </p:txBody>
      </p:sp>
      <p:sp>
        <p:nvSpPr>
          <p:cNvPr id="16" name="shape-288"/>
          <p:cNvSpPr/>
          <p:nvPr/>
        </p:nvSpPr>
        <p:spPr>
          <a:xfrm>
            <a:off x="8611791" y="1890911"/>
            <a:ext cx="934045" cy="304800"/>
          </a:xfrm>
          <a:prstGeom prst="rect">
            <a:avLst/>
          </a:prstGeom>
          <a:solidFill>
            <a:srgbClr val="46698E"/>
          </a:solidFill>
          <a:ln/>
        </p:spPr>
      </p:sp>
      <p:sp>
        <p:nvSpPr>
          <p:cNvPr id="17" name="text-289"/>
          <p:cNvSpPr txBox="1"/>
          <p:nvPr/>
        </p:nvSpPr>
        <p:spPr>
          <a:xfrm>
            <a:off x="8926116" y="1940421"/>
            <a:ext cx="348076" cy="205680"/>
          </a:xfrm>
          <a:prstGeom prst="rect">
            <a:avLst/>
          </a:prstGeom>
          <a:noFill/>
          <a:ln/>
        </p:spPr>
        <p:txBody>
          <a:bodyPr wrap="square" lIns="0" tIns="0" rIns="0" bIns="0" rtlCol="0" anchor="t"/>
          <a:lstStyle/>
          <a:p>
            <a:pPr algn="l" indent="0" marL="0">
              <a:lnSpc>
                <a:spcPts val="1620"/>
              </a:lnSpc>
              <a:buNone/>
            </a:pPr>
            <a:r>
              <a:rPr lang="en-US" sz="1200" b="1" dirty="0">
                <a:solidFill>
                  <a:srgbClr val="F4EFE4"/>
                </a:solidFill>
                <a:latin typeface="Public Sans" pitchFamily="34" charset="0"/>
                <a:ea typeface="Public Sans" pitchFamily="34" charset="-122"/>
                <a:cs typeface="Public Sans" pitchFamily="34" charset="-120"/>
              </a:rPr>
              <a:t>21.8</a:t>
            </a:r>
            <a:endParaRPr lang="en-US" sz="1200" dirty="0"/>
          </a:p>
        </p:txBody>
      </p:sp>
      <p:sp>
        <p:nvSpPr>
          <p:cNvPr id="18" name="shape-290"/>
          <p:cNvSpPr/>
          <p:nvPr/>
        </p:nvSpPr>
        <p:spPr>
          <a:xfrm>
            <a:off x="9545836" y="1890911"/>
            <a:ext cx="599877" cy="304800"/>
          </a:xfrm>
          <a:prstGeom prst="rect">
            <a:avLst/>
          </a:prstGeom>
          <a:solidFill>
            <a:srgbClr val="7F95AD"/>
          </a:solidFill>
          <a:ln/>
        </p:spPr>
      </p:sp>
      <p:sp>
        <p:nvSpPr>
          <p:cNvPr id="19" name="text-291"/>
          <p:cNvSpPr txBox="1"/>
          <p:nvPr/>
        </p:nvSpPr>
        <p:spPr>
          <a:xfrm>
            <a:off x="9693473" y="1940421"/>
            <a:ext cx="347170" cy="205680"/>
          </a:xfrm>
          <a:prstGeom prst="rect">
            <a:avLst/>
          </a:prstGeom>
          <a:noFill/>
          <a:ln/>
        </p:spPr>
        <p:txBody>
          <a:bodyPr wrap="square" lIns="0" tIns="0" rIns="0" bIns="0" rtlCol="0" anchor="t"/>
          <a:lstStyle/>
          <a:p>
            <a:pPr algn="l" indent="0" marL="0">
              <a:lnSpc>
                <a:spcPts val="1620"/>
              </a:lnSpc>
              <a:buNone/>
            </a:pPr>
            <a:r>
              <a:rPr lang="en-US" sz="1200" b="1" dirty="0">
                <a:solidFill>
                  <a:srgbClr val="15253D"/>
                </a:solidFill>
                <a:latin typeface="Public Sans" pitchFamily="34" charset="0"/>
                <a:ea typeface="Public Sans" pitchFamily="34" charset="-122"/>
                <a:cs typeface="Public Sans" pitchFamily="34" charset="-120"/>
              </a:rPr>
              <a:t>14.0</a:t>
            </a:r>
            <a:endParaRPr lang="en-US" sz="1200" dirty="0"/>
          </a:p>
        </p:txBody>
      </p:sp>
      <p:sp>
        <p:nvSpPr>
          <p:cNvPr id="20" name="shape-292"/>
          <p:cNvSpPr/>
          <p:nvPr/>
        </p:nvSpPr>
        <p:spPr>
          <a:xfrm>
            <a:off x="10145713" y="1890911"/>
            <a:ext cx="531316" cy="304800"/>
          </a:xfrm>
          <a:prstGeom prst="rect">
            <a:avLst/>
          </a:prstGeom>
          <a:solidFill>
            <a:srgbClr val="D0904A"/>
          </a:solidFill>
          <a:ln/>
        </p:spPr>
      </p:sp>
      <p:sp>
        <p:nvSpPr>
          <p:cNvPr id="21" name="text-293"/>
          <p:cNvSpPr txBox="1"/>
          <p:nvPr/>
        </p:nvSpPr>
        <p:spPr>
          <a:xfrm>
            <a:off x="10260013" y="1940421"/>
            <a:ext cx="345256" cy="205680"/>
          </a:xfrm>
          <a:prstGeom prst="rect">
            <a:avLst/>
          </a:prstGeom>
          <a:noFill/>
          <a:ln/>
        </p:spPr>
        <p:txBody>
          <a:bodyPr wrap="square" lIns="0" tIns="0" rIns="0" bIns="0" rtlCol="0" anchor="t"/>
          <a:lstStyle/>
          <a:p>
            <a:pPr algn="l" indent="0" marL="0">
              <a:lnSpc>
                <a:spcPts val="1620"/>
              </a:lnSpc>
              <a:buNone/>
            </a:pPr>
            <a:r>
              <a:rPr lang="en-US" sz="1200" b="1" dirty="0">
                <a:solidFill>
                  <a:srgbClr val="15253D"/>
                </a:solidFill>
                <a:latin typeface="Public Sans" pitchFamily="34" charset="0"/>
                <a:ea typeface="Public Sans" pitchFamily="34" charset="-122"/>
                <a:cs typeface="Public Sans" pitchFamily="34" charset="-120"/>
              </a:rPr>
              <a:t>12.4</a:t>
            </a:r>
            <a:endParaRPr lang="en-US" sz="1200" dirty="0"/>
          </a:p>
        </p:txBody>
      </p:sp>
      <p:sp>
        <p:nvSpPr>
          <p:cNvPr id="22" name="shape-294"/>
          <p:cNvSpPr/>
          <p:nvPr/>
        </p:nvSpPr>
        <p:spPr>
          <a:xfrm>
            <a:off x="10677029" y="1890911"/>
            <a:ext cx="492720" cy="304800"/>
          </a:xfrm>
          <a:prstGeom prst="rect">
            <a:avLst/>
          </a:prstGeom>
          <a:solidFill>
            <a:srgbClr val="9A541A"/>
          </a:solidFill>
          <a:ln/>
        </p:spPr>
      </p:sp>
      <p:sp>
        <p:nvSpPr>
          <p:cNvPr id="23" name="text-295"/>
          <p:cNvSpPr txBox="1"/>
          <p:nvPr/>
        </p:nvSpPr>
        <p:spPr>
          <a:xfrm>
            <a:off x="10786170" y="1940421"/>
            <a:ext cx="316656" cy="205680"/>
          </a:xfrm>
          <a:prstGeom prst="rect">
            <a:avLst/>
          </a:prstGeom>
          <a:noFill/>
          <a:ln/>
        </p:spPr>
        <p:txBody>
          <a:bodyPr wrap="square" lIns="0" tIns="0" rIns="0" bIns="0" rtlCol="0" anchor="t"/>
          <a:lstStyle/>
          <a:p>
            <a:pPr algn="l" indent="0" marL="0">
              <a:lnSpc>
                <a:spcPts val="1620"/>
              </a:lnSpc>
              <a:buNone/>
            </a:pPr>
            <a:r>
              <a:rPr lang="en-US" sz="1200" b="1" dirty="0">
                <a:solidFill>
                  <a:srgbClr val="F4EFE4"/>
                </a:solidFill>
                <a:latin typeface="Public Sans" pitchFamily="34" charset="0"/>
                <a:ea typeface="Public Sans" pitchFamily="34" charset="-122"/>
                <a:cs typeface="Public Sans" pitchFamily="34" charset="-120"/>
              </a:rPr>
              <a:t>11.5</a:t>
            </a:r>
            <a:endParaRPr lang="en-US" sz="1200" dirty="0"/>
          </a:p>
        </p:txBody>
      </p:sp>
      <p:sp>
        <p:nvSpPr>
          <p:cNvPr id="24" name="text-296"/>
          <p:cNvSpPr txBox="1"/>
          <p:nvPr/>
        </p:nvSpPr>
        <p:spPr>
          <a:xfrm>
            <a:off x="6381750" y="2264271"/>
            <a:ext cx="502158" cy="205680"/>
          </a:xfrm>
          <a:prstGeom prst="rect">
            <a:avLst/>
          </a:prstGeom>
          <a:noFill/>
          <a:ln/>
        </p:spPr>
        <p:txBody>
          <a:bodyPr wrap="square" lIns="0" tIns="0" rIns="0" bIns="0" rtlCol="0" anchor="t"/>
          <a:lstStyle/>
          <a:p>
            <a:pPr algn="l" indent="0" marL="0">
              <a:lnSpc>
                <a:spcPts val="1620"/>
              </a:lnSpc>
              <a:buNone/>
            </a:pPr>
            <a:r>
              <a:rPr lang="en-US" sz="1200" dirty="0">
                <a:solidFill>
                  <a:srgbClr val="4F5B69"/>
                </a:solidFill>
                <a:latin typeface="Public Sans" pitchFamily="34" charset="0"/>
                <a:ea typeface="Public Sans" pitchFamily="34" charset="-122"/>
                <a:cs typeface="Public Sans" pitchFamily="34" charset="-120"/>
              </a:rPr>
              <a:t>2009</a:t>
            </a:r>
            <a:endParaRPr lang="en-US" sz="1200" dirty="0"/>
          </a:p>
        </p:txBody>
      </p:sp>
      <p:sp>
        <p:nvSpPr>
          <p:cNvPr id="25" name="shape-297"/>
          <p:cNvSpPr/>
          <p:nvPr/>
        </p:nvSpPr>
        <p:spPr>
          <a:xfrm>
            <a:off x="6915150" y="2259211"/>
            <a:ext cx="1750814" cy="215900"/>
          </a:xfrm>
          <a:prstGeom prst="rect">
            <a:avLst/>
          </a:prstGeom>
          <a:solidFill>
            <a:srgbClr val="15253D"/>
          </a:solidFill>
          <a:ln/>
        </p:spPr>
      </p:sp>
      <p:sp>
        <p:nvSpPr>
          <p:cNvPr id="26" name="text-298"/>
          <p:cNvSpPr txBox="1"/>
          <p:nvPr/>
        </p:nvSpPr>
        <p:spPr>
          <a:xfrm>
            <a:off x="7647087" y="2275681"/>
            <a:ext cx="329345" cy="182860"/>
          </a:xfrm>
          <a:prstGeom prst="rect">
            <a:avLst/>
          </a:prstGeom>
          <a:noFill/>
          <a:ln/>
        </p:spPr>
        <p:txBody>
          <a:bodyPr wrap="square" lIns="0" tIns="0" rIns="0" bIns="0" rtlCol="0" anchor="t"/>
          <a:lstStyle/>
          <a:p>
            <a:pPr algn="l" indent="0" marL="0">
              <a:lnSpc>
                <a:spcPts val="1440"/>
              </a:lnSpc>
              <a:buNone/>
            </a:pPr>
            <a:r>
              <a:rPr lang="en-US" sz="1200" dirty="0">
                <a:solidFill>
                  <a:srgbClr val="F4EFE4"/>
                </a:solidFill>
                <a:latin typeface="Public Sans" pitchFamily="34" charset="0"/>
                <a:ea typeface="Public Sans" pitchFamily="34" charset="-122"/>
                <a:cs typeface="Public Sans" pitchFamily="34" charset="-120"/>
              </a:rPr>
              <a:t>41.4</a:t>
            </a:r>
            <a:endParaRPr lang="en-US" sz="1200" dirty="0"/>
          </a:p>
        </p:txBody>
      </p:sp>
      <p:sp>
        <p:nvSpPr>
          <p:cNvPr id="27" name="shape-299"/>
          <p:cNvSpPr/>
          <p:nvPr/>
        </p:nvSpPr>
        <p:spPr>
          <a:xfrm>
            <a:off x="8665964" y="2259211"/>
            <a:ext cx="1112242" cy="215900"/>
          </a:xfrm>
          <a:prstGeom prst="rect">
            <a:avLst/>
          </a:prstGeom>
          <a:solidFill>
            <a:srgbClr val="46698E"/>
          </a:solidFill>
          <a:ln/>
        </p:spPr>
      </p:sp>
      <p:sp>
        <p:nvSpPr>
          <p:cNvPr id="28" name="text-300"/>
          <p:cNvSpPr txBox="1"/>
          <p:nvPr/>
        </p:nvSpPr>
        <p:spPr>
          <a:xfrm>
            <a:off x="9064030" y="2275681"/>
            <a:ext cx="358852" cy="182860"/>
          </a:xfrm>
          <a:prstGeom prst="rect">
            <a:avLst/>
          </a:prstGeom>
          <a:noFill/>
          <a:ln/>
        </p:spPr>
        <p:txBody>
          <a:bodyPr wrap="square" lIns="0" tIns="0" rIns="0" bIns="0" rtlCol="0" anchor="t"/>
          <a:lstStyle/>
          <a:p>
            <a:pPr algn="l" indent="0" marL="0">
              <a:lnSpc>
                <a:spcPts val="1440"/>
              </a:lnSpc>
              <a:buNone/>
            </a:pPr>
            <a:r>
              <a:rPr lang="en-US" sz="1200" dirty="0">
                <a:solidFill>
                  <a:srgbClr val="F4EFE4"/>
                </a:solidFill>
                <a:latin typeface="Public Sans" pitchFamily="34" charset="0"/>
                <a:ea typeface="Public Sans" pitchFamily="34" charset="-122"/>
                <a:cs typeface="Public Sans" pitchFamily="34" charset="-120"/>
              </a:rPr>
              <a:t>26.3</a:t>
            </a:r>
            <a:endParaRPr lang="en-US" sz="1200" dirty="0"/>
          </a:p>
        </p:txBody>
      </p:sp>
      <p:sp>
        <p:nvSpPr>
          <p:cNvPr id="29" name="shape-301"/>
          <p:cNvSpPr/>
          <p:nvPr/>
        </p:nvSpPr>
        <p:spPr>
          <a:xfrm>
            <a:off x="9778206" y="2259211"/>
            <a:ext cx="549771" cy="215900"/>
          </a:xfrm>
          <a:prstGeom prst="rect">
            <a:avLst/>
          </a:prstGeom>
          <a:solidFill>
            <a:srgbClr val="7F95AD"/>
          </a:solidFill>
          <a:ln/>
        </p:spPr>
      </p:sp>
      <p:sp>
        <p:nvSpPr>
          <p:cNvPr id="30" name="text-302"/>
          <p:cNvSpPr txBox="1"/>
          <p:nvPr/>
        </p:nvSpPr>
        <p:spPr>
          <a:xfrm>
            <a:off x="9910266" y="2275681"/>
            <a:ext cx="328036" cy="182860"/>
          </a:xfrm>
          <a:prstGeom prst="rect">
            <a:avLst/>
          </a:prstGeom>
          <a:noFill/>
          <a:ln/>
        </p:spPr>
        <p:txBody>
          <a:bodyPr wrap="square" lIns="0" tIns="0" rIns="0" bIns="0" rtlCol="0" anchor="t"/>
          <a:lstStyle/>
          <a:p>
            <a:pPr algn="l" indent="0" marL="0">
              <a:lnSpc>
                <a:spcPts val="1440"/>
              </a:lnSpc>
              <a:buNone/>
            </a:pPr>
            <a:r>
              <a:rPr lang="en-US" sz="1200" dirty="0">
                <a:solidFill>
                  <a:srgbClr val="15253D"/>
                </a:solidFill>
                <a:latin typeface="Public Sans" pitchFamily="34" charset="0"/>
                <a:ea typeface="Public Sans" pitchFamily="34" charset="-122"/>
                <a:cs typeface="Public Sans" pitchFamily="34" charset="-120"/>
              </a:rPr>
              <a:t>13.0</a:t>
            </a:r>
            <a:endParaRPr lang="en-US" sz="1200" dirty="0"/>
          </a:p>
        </p:txBody>
      </p:sp>
      <p:sp>
        <p:nvSpPr>
          <p:cNvPr id="31" name="shape-303"/>
          <p:cNvSpPr/>
          <p:nvPr/>
        </p:nvSpPr>
        <p:spPr>
          <a:xfrm>
            <a:off x="10327977" y="2259211"/>
            <a:ext cx="494804" cy="215900"/>
          </a:xfrm>
          <a:prstGeom prst="rect">
            <a:avLst/>
          </a:prstGeom>
          <a:solidFill>
            <a:srgbClr val="D0904A"/>
          </a:solidFill>
          <a:ln/>
        </p:spPr>
      </p:sp>
      <p:sp>
        <p:nvSpPr>
          <p:cNvPr id="32" name="text-304"/>
          <p:cNvSpPr txBox="1"/>
          <p:nvPr/>
        </p:nvSpPr>
        <p:spPr>
          <a:xfrm>
            <a:off x="10454283" y="2275681"/>
            <a:ext cx="283926" cy="182860"/>
          </a:xfrm>
          <a:prstGeom prst="rect">
            <a:avLst/>
          </a:prstGeom>
          <a:noFill/>
          <a:ln/>
        </p:spPr>
        <p:txBody>
          <a:bodyPr wrap="square" lIns="0" tIns="0" rIns="0" bIns="0" rtlCol="0" anchor="t"/>
          <a:lstStyle/>
          <a:p>
            <a:pPr algn="l" indent="0" marL="0">
              <a:lnSpc>
                <a:spcPts val="1440"/>
              </a:lnSpc>
              <a:buNone/>
            </a:pPr>
            <a:r>
              <a:rPr lang="en-US" sz="1200" dirty="0">
                <a:solidFill>
                  <a:srgbClr val="15253D"/>
                </a:solidFill>
                <a:latin typeface="Public Sans" pitchFamily="34" charset="0"/>
                <a:ea typeface="Public Sans" pitchFamily="34" charset="-122"/>
                <a:cs typeface="Public Sans" pitchFamily="34" charset="-120"/>
              </a:rPr>
              <a:t>11.7</a:t>
            </a:r>
            <a:endParaRPr lang="en-US" sz="1200" dirty="0"/>
          </a:p>
        </p:txBody>
      </p:sp>
      <p:sp>
        <p:nvSpPr>
          <p:cNvPr id="33" name="shape-305"/>
          <p:cNvSpPr/>
          <p:nvPr/>
        </p:nvSpPr>
        <p:spPr>
          <a:xfrm>
            <a:off x="10822781" y="2259211"/>
            <a:ext cx="346770" cy="215900"/>
          </a:xfrm>
          <a:prstGeom prst="rect">
            <a:avLst/>
          </a:prstGeom>
          <a:solidFill>
            <a:srgbClr val="9A541A"/>
          </a:solidFill>
          <a:ln/>
        </p:spPr>
      </p:sp>
      <p:sp>
        <p:nvSpPr>
          <p:cNvPr id="34" name="text-306"/>
          <p:cNvSpPr txBox="1"/>
          <p:nvPr/>
        </p:nvSpPr>
        <p:spPr>
          <a:xfrm>
            <a:off x="10882709" y="2275681"/>
            <a:ext cx="268417" cy="182860"/>
          </a:xfrm>
          <a:prstGeom prst="rect">
            <a:avLst/>
          </a:prstGeom>
          <a:noFill/>
          <a:ln/>
        </p:spPr>
        <p:txBody>
          <a:bodyPr wrap="square" lIns="0" tIns="0" rIns="0" bIns="0" rtlCol="0" anchor="t"/>
          <a:lstStyle/>
          <a:p>
            <a:pPr algn="l" indent="0" marL="0">
              <a:lnSpc>
                <a:spcPts val="1440"/>
              </a:lnSpc>
              <a:buNone/>
            </a:pPr>
            <a:r>
              <a:rPr lang="en-US" sz="1200" dirty="0">
                <a:solidFill>
                  <a:srgbClr val="F4EFE4"/>
                </a:solidFill>
                <a:latin typeface="Public Sans" pitchFamily="34" charset="0"/>
                <a:ea typeface="Public Sans" pitchFamily="34" charset="-122"/>
                <a:cs typeface="Public Sans" pitchFamily="34" charset="-120"/>
              </a:rPr>
              <a:t>8.2</a:t>
            </a:r>
            <a:endParaRPr lang="en-US" sz="1200" dirty="0"/>
          </a:p>
        </p:txBody>
      </p:sp>
      <p:sp>
        <p:nvSpPr>
          <p:cNvPr id="35" name="shape-307"/>
          <p:cNvSpPr/>
          <p:nvPr/>
        </p:nvSpPr>
        <p:spPr>
          <a:xfrm>
            <a:off x="6381750" y="2577902"/>
            <a:ext cx="127000" cy="127000"/>
          </a:xfrm>
          <a:prstGeom prst="rect">
            <a:avLst/>
          </a:prstGeom>
          <a:solidFill>
            <a:srgbClr val="15253D"/>
          </a:solidFill>
          <a:ln/>
        </p:spPr>
      </p:sp>
      <p:sp>
        <p:nvSpPr>
          <p:cNvPr id="36" name="text-308"/>
          <p:cNvSpPr txBox="1"/>
          <p:nvPr/>
        </p:nvSpPr>
        <p:spPr>
          <a:xfrm>
            <a:off x="6559550" y="2538611"/>
            <a:ext cx="596118" cy="205680"/>
          </a:xfrm>
          <a:prstGeom prst="rect">
            <a:avLst/>
          </a:prstGeom>
          <a:noFill/>
          <a:ln/>
        </p:spPr>
        <p:txBody>
          <a:bodyPr wrap="squar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Secular</a:t>
            </a:r>
            <a:endParaRPr lang="en-US" sz="1200" dirty="0"/>
          </a:p>
        </p:txBody>
      </p:sp>
      <p:sp>
        <p:nvSpPr>
          <p:cNvPr id="37" name="shape-309"/>
          <p:cNvSpPr/>
          <p:nvPr/>
        </p:nvSpPr>
        <p:spPr>
          <a:xfrm>
            <a:off x="7236321" y="2577902"/>
            <a:ext cx="127000" cy="127000"/>
          </a:xfrm>
          <a:prstGeom prst="rect">
            <a:avLst/>
          </a:prstGeom>
          <a:solidFill>
            <a:srgbClr val="46698E"/>
          </a:solidFill>
          <a:ln/>
        </p:spPr>
      </p:sp>
      <p:sp>
        <p:nvSpPr>
          <p:cNvPr id="38" name="text-310"/>
          <p:cNvSpPr txBox="1"/>
          <p:nvPr/>
        </p:nvSpPr>
        <p:spPr>
          <a:xfrm>
            <a:off x="7414121" y="2538611"/>
            <a:ext cx="1975804" cy="205680"/>
          </a:xfrm>
          <a:prstGeom prst="rect">
            <a:avLst/>
          </a:prstGeom>
          <a:noFill/>
          <a:ln/>
        </p:spPr>
        <p:txBody>
          <a:bodyPr wrap="squar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Traditional, not so religious</a:t>
            </a:r>
            <a:endParaRPr lang="en-US" sz="1200" dirty="0"/>
          </a:p>
        </p:txBody>
      </p:sp>
      <p:sp>
        <p:nvSpPr>
          <p:cNvPr id="39" name="shape-311"/>
          <p:cNvSpPr/>
          <p:nvPr/>
        </p:nvSpPr>
        <p:spPr>
          <a:xfrm>
            <a:off x="6381750" y="2847082"/>
            <a:ext cx="127000" cy="127000"/>
          </a:xfrm>
          <a:prstGeom prst="rect">
            <a:avLst/>
          </a:prstGeom>
          <a:solidFill>
            <a:srgbClr val="7F95AD"/>
          </a:solidFill>
          <a:ln/>
        </p:spPr>
      </p:sp>
      <p:sp>
        <p:nvSpPr>
          <p:cNvPr id="40" name="text-312"/>
          <p:cNvSpPr txBox="1"/>
          <p:nvPr/>
        </p:nvSpPr>
        <p:spPr>
          <a:xfrm>
            <a:off x="6559550" y="2807791"/>
            <a:ext cx="1483447" cy="205680"/>
          </a:xfrm>
          <a:prstGeom prst="rect">
            <a:avLst/>
          </a:prstGeom>
          <a:noFill/>
          <a:ln/>
        </p:spPr>
        <p:txBody>
          <a:bodyPr wrap="squar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Traditional-religious</a:t>
            </a:r>
            <a:endParaRPr lang="en-US" sz="1200" dirty="0"/>
          </a:p>
        </p:txBody>
      </p:sp>
      <p:sp>
        <p:nvSpPr>
          <p:cNvPr id="41" name="shape-313"/>
          <p:cNvSpPr/>
          <p:nvPr/>
        </p:nvSpPr>
        <p:spPr>
          <a:xfrm>
            <a:off x="8110537" y="2847082"/>
            <a:ext cx="127000" cy="127000"/>
          </a:xfrm>
          <a:prstGeom prst="rect">
            <a:avLst/>
          </a:prstGeom>
          <a:solidFill>
            <a:srgbClr val="D0904A"/>
          </a:solidFill>
          <a:ln/>
        </p:spPr>
      </p:sp>
      <p:sp>
        <p:nvSpPr>
          <p:cNvPr id="42" name="text-314"/>
          <p:cNvSpPr txBox="1"/>
          <p:nvPr/>
        </p:nvSpPr>
        <p:spPr>
          <a:xfrm>
            <a:off x="8288338" y="2807791"/>
            <a:ext cx="701860" cy="205680"/>
          </a:xfrm>
          <a:prstGeom prst="rect">
            <a:avLst/>
          </a:prstGeom>
          <a:noFill/>
          <a:ln/>
        </p:spPr>
        <p:txBody>
          <a:bodyPr wrap="squar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Religious</a:t>
            </a:r>
            <a:endParaRPr lang="en-US" sz="1200" dirty="0"/>
          </a:p>
        </p:txBody>
      </p:sp>
      <p:sp>
        <p:nvSpPr>
          <p:cNvPr id="43" name="shape-315"/>
          <p:cNvSpPr/>
          <p:nvPr/>
        </p:nvSpPr>
        <p:spPr>
          <a:xfrm>
            <a:off x="9069288" y="2847082"/>
            <a:ext cx="127000" cy="127000"/>
          </a:xfrm>
          <a:prstGeom prst="rect">
            <a:avLst/>
          </a:prstGeom>
          <a:solidFill>
            <a:srgbClr val="9A541A"/>
          </a:solidFill>
          <a:ln/>
        </p:spPr>
      </p:sp>
      <p:sp>
        <p:nvSpPr>
          <p:cNvPr id="44" name="text-316"/>
          <p:cNvSpPr txBox="1"/>
          <p:nvPr/>
        </p:nvSpPr>
        <p:spPr>
          <a:xfrm>
            <a:off x="9247088" y="2807791"/>
            <a:ext cx="520084" cy="205680"/>
          </a:xfrm>
          <a:prstGeom prst="rect">
            <a:avLst/>
          </a:prstGeom>
          <a:noFill/>
          <a:ln/>
        </p:spPr>
        <p:txBody>
          <a:bodyPr wrap="squar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Haredi</a:t>
            </a:r>
            <a:endParaRPr lang="en-US" sz="1200" dirty="0"/>
          </a:p>
        </p:txBody>
      </p:sp>
      <p:sp>
        <p:nvSpPr>
          <p:cNvPr id="45" name="shape-317"/>
          <p:cNvSpPr/>
          <p:nvPr/>
        </p:nvSpPr>
        <p:spPr>
          <a:xfrm>
            <a:off x="812800" y="3375422"/>
            <a:ext cx="5207000" cy="2046883"/>
          </a:xfrm>
          <a:prstGeom prst="roundRect">
            <a:avLst>
              <a:gd name="adj" fmla="val 3723"/>
            </a:avLst>
          </a:prstGeom>
          <a:solidFill>
            <a:srgbClr val="FBF8F1"/>
          </a:solidFill>
          <a:ln w="6350">
            <a:solidFill>
              <a:srgbClr val="D9D1C1"/>
            </a:solidFill>
            <a:prstDash val="solid"/>
          </a:ln>
        </p:spPr>
      </p:sp>
      <p:sp>
        <p:nvSpPr>
          <p:cNvPr id="46" name="text-318"/>
          <p:cNvSpPr txBox="1"/>
          <p:nvPr/>
        </p:nvSpPr>
        <p:spPr>
          <a:xfrm>
            <a:off x="1022350" y="3534172"/>
            <a:ext cx="4897819" cy="205680"/>
          </a:xfrm>
          <a:prstGeom prst="rect">
            <a:avLst/>
          </a:prstGeom>
          <a:noFill/>
          <a:ln/>
        </p:spPr>
        <p:txBody>
          <a:bodyPr wrap="square" lIns="0" tIns="0" rIns="0" bIns="0" rtlCol="0" anchor="t"/>
          <a:lstStyle/>
          <a:p>
            <a:pPr algn="l" indent="0" marL="0">
              <a:lnSpc>
                <a:spcPts val="1620"/>
              </a:lnSpc>
              <a:buNone/>
            </a:pPr>
            <a:r>
              <a:rPr lang="en-US" sz="1200" b="1" spc="100" kern="0" dirty="0">
                <a:solidFill>
                  <a:srgbClr val="9A541A"/>
                </a:solidFill>
                <a:latin typeface="Public Sans" pitchFamily="34" charset="0"/>
                <a:ea typeface="Public Sans" pitchFamily="34" charset="-122"/>
                <a:cs typeface="Public Sans" pitchFamily="34" charset="-120"/>
              </a:rPr>
              <a:t>JEWS BY SELF-IDENTIFIED ORIGIN (IDI 2025)</a:t>
            </a:r>
            <a:endParaRPr lang="en-US" sz="1200" dirty="0"/>
          </a:p>
        </p:txBody>
      </p:sp>
      <p:sp>
        <p:nvSpPr>
          <p:cNvPr id="47" name="text-319"/>
          <p:cNvSpPr txBox="1"/>
          <p:nvPr/>
        </p:nvSpPr>
        <p:spPr>
          <a:xfrm>
            <a:off x="1022350" y="3816052"/>
            <a:ext cx="1182837"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39.8%</a:t>
            </a:r>
            <a:endParaRPr lang="en-US" sz="3200" dirty="0"/>
          </a:p>
        </p:txBody>
      </p:sp>
      <p:sp>
        <p:nvSpPr>
          <p:cNvPr id="48" name="text-320"/>
          <p:cNvSpPr txBox="1"/>
          <p:nvPr/>
        </p:nvSpPr>
        <p:spPr>
          <a:xfrm>
            <a:off x="1022350" y="4288433"/>
            <a:ext cx="1182837" cy="205680"/>
          </a:xfrm>
          <a:prstGeom prst="rect">
            <a:avLst/>
          </a:prstGeom>
          <a:noFill/>
          <a:ln/>
        </p:spPr>
        <p:txBody>
          <a:bodyPr wrap="square" lIns="0" tIns="0" rIns="0" bIns="0" rtlCol="0" anchor="t"/>
          <a:lstStyle/>
          <a:p>
            <a:pPr algn="l" indent="0" marL="0">
              <a:lnSpc>
                <a:spcPts val="1620"/>
              </a:lnSpc>
              <a:buNone/>
            </a:pPr>
            <a:r>
              <a:rPr lang="en-US" sz="1200" dirty="0">
                <a:solidFill>
                  <a:srgbClr val="4F5B69"/>
                </a:solidFill>
                <a:latin typeface="Public Sans" pitchFamily="34" charset="0"/>
                <a:ea typeface="Public Sans" pitchFamily="34" charset="-122"/>
                <a:cs typeface="Public Sans" pitchFamily="34" charset="-120"/>
              </a:rPr>
              <a:t>Ashkenazi</a:t>
            </a:r>
            <a:endParaRPr lang="en-US" sz="1200" dirty="0"/>
          </a:p>
        </p:txBody>
      </p:sp>
      <p:sp>
        <p:nvSpPr>
          <p:cNvPr id="49" name="text-321"/>
          <p:cNvSpPr txBox="1"/>
          <p:nvPr/>
        </p:nvSpPr>
        <p:spPr>
          <a:xfrm>
            <a:off x="2404170" y="3816052"/>
            <a:ext cx="1162595"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35.2%</a:t>
            </a:r>
            <a:endParaRPr lang="en-US" sz="3200" dirty="0"/>
          </a:p>
        </p:txBody>
      </p:sp>
      <p:sp>
        <p:nvSpPr>
          <p:cNvPr id="50" name="text-322"/>
          <p:cNvSpPr txBox="1"/>
          <p:nvPr/>
        </p:nvSpPr>
        <p:spPr>
          <a:xfrm>
            <a:off x="2404170" y="4288433"/>
            <a:ext cx="1162595" cy="205680"/>
          </a:xfrm>
          <a:prstGeom prst="rect">
            <a:avLst/>
          </a:prstGeom>
          <a:noFill/>
          <a:ln/>
        </p:spPr>
        <p:txBody>
          <a:bodyPr wrap="square" lIns="0" tIns="0" rIns="0" bIns="0" rtlCol="0" anchor="t"/>
          <a:lstStyle/>
          <a:p>
            <a:pPr algn="l" indent="0" marL="0">
              <a:lnSpc>
                <a:spcPts val="1620"/>
              </a:lnSpc>
              <a:buNone/>
            </a:pPr>
            <a:r>
              <a:rPr lang="en-US" sz="1200" dirty="0">
                <a:solidFill>
                  <a:srgbClr val="4F5B69"/>
                </a:solidFill>
                <a:latin typeface="Public Sans" pitchFamily="34" charset="0"/>
                <a:ea typeface="Public Sans" pitchFamily="34" charset="-122"/>
                <a:cs typeface="Public Sans" pitchFamily="34" charset="-120"/>
              </a:rPr>
              <a:t>Mizrahi</a:t>
            </a:r>
            <a:endParaRPr lang="en-US" sz="1200" dirty="0"/>
          </a:p>
        </p:txBody>
      </p:sp>
      <p:sp>
        <p:nvSpPr>
          <p:cNvPr id="51" name="text-323"/>
          <p:cNvSpPr txBox="1"/>
          <p:nvPr/>
        </p:nvSpPr>
        <p:spPr>
          <a:xfrm>
            <a:off x="3766046" y="3816052"/>
            <a:ext cx="1092503"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15.3%</a:t>
            </a:r>
            <a:endParaRPr lang="en-US" sz="3200" dirty="0"/>
          </a:p>
        </p:txBody>
      </p:sp>
      <p:sp>
        <p:nvSpPr>
          <p:cNvPr id="52" name="text-324"/>
          <p:cNvSpPr txBox="1"/>
          <p:nvPr/>
        </p:nvSpPr>
        <p:spPr>
          <a:xfrm>
            <a:off x="3766046" y="4288433"/>
            <a:ext cx="1092503" cy="205680"/>
          </a:xfrm>
          <a:prstGeom prst="rect">
            <a:avLst/>
          </a:prstGeom>
          <a:noFill/>
          <a:ln/>
        </p:spPr>
        <p:txBody>
          <a:bodyPr wrap="square" lIns="0" tIns="0" rIns="0" bIns="0" rtlCol="0" anchor="t"/>
          <a:lstStyle/>
          <a:p>
            <a:pPr algn="l" indent="0" marL="0">
              <a:lnSpc>
                <a:spcPts val="1620"/>
              </a:lnSpc>
              <a:buNone/>
            </a:pPr>
            <a:r>
              <a:rPr lang="en-US" sz="1200" dirty="0">
                <a:solidFill>
                  <a:srgbClr val="4F5B69"/>
                </a:solidFill>
                <a:latin typeface="Public Sans" pitchFamily="34" charset="0"/>
                <a:ea typeface="Public Sans" pitchFamily="34" charset="-122"/>
                <a:cs typeface="Public Sans" pitchFamily="34" charset="-120"/>
              </a:rPr>
              <a:t>Mixed</a:t>
            </a:r>
            <a:endParaRPr lang="en-US" sz="1200" dirty="0"/>
          </a:p>
        </p:txBody>
      </p:sp>
      <p:sp>
        <p:nvSpPr>
          <p:cNvPr id="53" name="text-325"/>
          <p:cNvSpPr txBox="1"/>
          <p:nvPr/>
        </p:nvSpPr>
        <p:spPr>
          <a:xfrm>
            <a:off x="1022350" y="4570313"/>
            <a:ext cx="4897819" cy="205680"/>
          </a:xfrm>
          <a:prstGeom prst="rect">
            <a:avLst/>
          </a:prstGeom>
          <a:noFill/>
          <a:ln/>
        </p:spPr>
        <p:txBody>
          <a:bodyPr wrap="squar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Former Soviet Union immigrants 5.3% · Ethiopian 0.6%</a:t>
            </a:r>
            <a:endParaRPr lang="en-US" sz="1200" dirty="0"/>
          </a:p>
        </p:txBody>
      </p:sp>
      <p:sp>
        <p:nvSpPr>
          <p:cNvPr id="54" name="text-326"/>
          <p:cNvSpPr txBox="1"/>
          <p:nvPr/>
        </p:nvSpPr>
        <p:spPr>
          <a:xfrm>
            <a:off x="1022350" y="4852194"/>
            <a:ext cx="4897819" cy="205680"/>
          </a:xfrm>
          <a:prstGeom prst="rect">
            <a:avLst/>
          </a:prstGeom>
          <a:noFill/>
          <a:ln/>
        </p:spPr>
        <p:txBody>
          <a:bodyPr wrap="squar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~81% of Jews are Israeli-born (CBS, Apr 2026).</a:t>
            </a:r>
            <a:endParaRPr lang="en-US" sz="1200" dirty="0"/>
          </a:p>
        </p:txBody>
      </p:sp>
      <p:sp>
        <p:nvSpPr>
          <p:cNvPr id="55" name="shape-327"/>
          <p:cNvSpPr/>
          <p:nvPr/>
        </p:nvSpPr>
        <p:spPr>
          <a:xfrm>
            <a:off x="6172200" y="3375422"/>
            <a:ext cx="5207000" cy="2046883"/>
          </a:xfrm>
          <a:prstGeom prst="roundRect">
            <a:avLst>
              <a:gd name="adj" fmla="val 3723"/>
            </a:avLst>
          </a:prstGeom>
          <a:solidFill>
            <a:srgbClr val="FBF8F1"/>
          </a:solidFill>
          <a:ln w="6350">
            <a:solidFill>
              <a:srgbClr val="D9D1C1"/>
            </a:solidFill>
            <a:prstDash val="solid"/>
          </a:ln>
        </p:spPr>
      </p:sp>
      <p:sp>
        <p:nvSpPr>
          <p:cNvPr id="56" name="text-328"/>
          <p:cNvSpPr txBox="1"/>
          <p:nvPr/>
        </p:nvSpPr>
        <p:spPr>
          <a:xfrm>
            <a:off x="6381750" y="3534172"/>
            <a:ext cx="4897819" cy="205680"/>
          </a:xfrm>
          <a:prstGeom prst="rect">
            <a:avLst/>
          </a:prstGeom>
          <a:noFill/>
          <a:ln/>
        </p:spPr>
        <p:txBody>
          <a:bodyPr wrap="square" lIns="0" tIns="0" rIns="0" bIns="0" rtlCol="0" anchor="t"/>
          <a:lstStyle/>
          <a:p>
            <a:pPr algn="l" indent="0" marL="0">
              <a:lnSpc>
                <a:spcPts val="1620"/>
              </a:lnSpc>
              <a:buNone/>
            </a:pPr>
            <a:r>
              <a:rPr lang="en-US" sz="1200" b="1" spc="100" kern="0" dirty="0">
                <a:solidFill>
                  <a:srgbClr val="9A541A"/>
                </a:solidFill>
                <a:latin typeface="Public Sans" pitchFamily="34" charset="0"/>
                <a:ea typeface="Public Sans" pitchFamily="34" charset="-122"/>
                <a:cs typeface="Public Sans" pitchFamily="34" charset="-120"/>
              </a:rPr>
              <a:t>HAREDIM</a:t>
            </a:r>
            <a:endParaRPr lang="en-US" sz="1200" dirty="0"/>
          </a:p>
        </p:txBody>
      </p:sp>
      <p:sp>
        <p:nvSpPr>
          <p:cNvPr id="57" name="text-329"/>
          <p:cNvSpPr txBox="1"/>
          <p:nvPr/>
        </p:nvSpPr>
        <p:spPr>
          <a:xfrm>
            <a:off x="6381750" y="3816052"/>
            <a:ext cx="1396839"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14.3%</a:t>
            </a:r>
            <a:endParaRPr lang="en-US" sz="3200" dirty="0"/>
          </a:p>
        </p:txBody>
      </p:sp>
      <p:sp>
        <p:nvSpPr>
          <p:cNvPr id="58" name="text-330"/>
          <p:cNvSpPr txBox="1"/>
          <p:nvPr/>
        </p:nvSpPr>
        <p:spPr>
          <a:xfrm>
            <a:off x="6381750" y="4288433"/>
            <a:ext cx="1396839" cy="205680"/>
          </a:xfrm>
          <a:prstGeom prst="rect">
            <a:avLst/>
          </a:prstGeom>
          <a:noFill/>
          <a:ln/>
        </p:spPr>
        <p:txBody>
          <a:bodyPr wrap="square" lIns="0" tIns="0" rIns="0" bIns="0" rtlCol="0" anchor="t"/>
          <a:lstStyle/>
          <a:p>
            <a:pPr algn="l" indent="0" marL="0">
              <a:lnSpc>
                <a:spcPts val="1620"/>
              </a:lnSpc>
              <a:buNone/>
            </a:pPr>
            <a:r>
              <a:rPr lang="en-US" sz="1200" dirty="0">
                <a:solidFill>
                  <a:srgbClr val="4F5B69"/>
                </a:solidFill>
                <a:latin typeface="Public Sans" pitchFamily="34" charset="0"/>
                <a:ea typeface="Public Sans" pitchFamily="34" charset="-122"/>
                <a:cs typeface="Public Sans" pitchFamily="34" charset="-120"/>
              </a:rPr>
              <a:t>of Israelis now (IDI)</a:t>
            </a:r>
            <a:endParaRPr lang="en-US" sz="1200" dirty="0"/>
          </a:p>
        </p:txBody>
      </p:sp>
      <p:sp>
        <p:nvSpPr>
          <p:cNvPr id="59" name="text-331"/>
          <p:cNvSpPr txBox="1"/>
          <p:nvPr/>
        </p:nvSpPr>
        <p:spPr>
          <a:xfrm>
            <a:off x="8025209" y="3816052"/>
            <a:ext cx="1712052" cy="446980"/>
          </a:xfrm>
          <a:prstGeom prst="rect">
            <a:avLst/>
          </a:prstGeom>
          <a:noFill/>
          <a:ln/>
        </p:spPr>
        <p:txBody>
          <a:bodyPr wrap="square" lIns="0" tIns="0" rIns="0" bIns="0" rtlCol="0" anchor="t"/>
          <a:lstStyle/>
          <a:p>
            <a:pPr algn="l" indent="0" marL="0">
              <a:lnSpc>
                <a:spcPts val="3520"/>
              </a:lnSpc>
              <a:buNone/>
            </a:pPr>
            <a:r>
              <a:rPr lang="en-US" sz="3200" dirty="0">
                <a:solidFill>
                  <a:srgbClr val="9A541A"/>
                </a:solidFill>
                <a:latin typeface="Libre Baskerville" pitchFamily="34" charset="0"/>
                <a:ea typeface="Libre Baskerville" pitchFamily="34" charset="-122"/>
                <a:cs typeface="Libre Baskerville" pitchFamily="34" charset="-120"/>
              </a:rPr>
              <a:t>~22%</a:t>
            </a:r>
            <a:endParaRPr lang="en-US" sz="3200" dirty="0"/>
          </a:p>
        </p:txBody>
      </p:sp>
      <p:sp>
        <p:nvSpPr>
          <p:cNvPr id="60" name="text-332"/>
          <p:cNvSpPr txBox="1"/>
          <p:nvPr/>
        </p:nvSpPr>
        <p:spPr>
          <a:xfrm>
            <a:off x="8025209" y="4288433"/>
            <a:ext cx="1712052" cy="205680"/>
          </a:xfrm>
          <a:prstGeom prst="rect">
            <a:avLst/>
          </a:prstGeom>
          <a:noFill/>
          <a:ln/>
        </p:spPr>
        <p:txBody>
          <a:bodyPr wrap="square" lIns="0" tIns="0" rIns="0" bIns="0" rtlCol="0" anchor="t"/>
          <a:lstStyle/>
          <a:p>
            <a:pPr algn="l" indent="0" marL="0">
              <a:lnSpc>
                <a:spcPts val="1620"/>
              </a:lnSpc>
              <a:buNone/>
            </a:pPr>
            <a:r>
              <a:rPr lang="en-US" sz="1200" dirty="0">
                <a:solidFill>
                  <a:srgbClr val="4F5B69"/>
                </a:solidFill>
                <a:latin typeface="Public Sans" pitchFamily="34" charset="0"/>
                <a:ea typeface="Public Sans" pitchFamily="34" charset="-122"/>
                <a:cs typeface="Public Sans" pitchFamily="34" charset="-120"/>
              </a:rPr>
              <a:t>by 2050 (IDI, Feb 2026)</a:t>
            </a:r>
            <a:endParaRPr lang="en-US" sz="1200" dirty="0"/>
          </a:p>
        </p:txBody>
      </p:sp>
      <p:sp>
        <p:nvSpPr>
          <p:cNvPr id="61" name="text-333"/>
          <p:cNvSpPr txBox="1"/>
          <p:nvPr/>
        </p:nvSpPr>
        <p:spPr>
          <a:xfrm>
            <a:off x="6381750" y="4570313"/>
            <a:ext cx="4897819" cy="205680"/>
          </a:xfrm>
          <a:prstGeom prst="rect">
            <a:avLst/>
          </a:prstGeom>
          <a:noFill/>
          <a:ln/>
        </p:spPr>
        <p:txBody>
          <a:bodyPr wrap="square" lIns="0" tIns="0" rIns="0" bIns="0" rtlCol="0" anchor="t"/>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CBS's own projection, still 2017-based, runs higher: 24.4% by 2050.</a:t>
            </a:r>
            <a:endParaRPr lang="en-US" sz="1200" dirty="0"/>
          </a:p>
        </p:txBody>
      </p:sp>
      <p:sp>
        <p:nvSpPr>
          <p:cNvPr id="62" name="text-334"/>
          <p:cNvSpPr txBox="1"/>
          <p:nvPr/>
        </p:nvSpPr>
        <p:spPr>
          <a:xfrm>
            <a:off x="6381750" y="4852194"/>
            <a:ext cx="4897819" cy="411361"/>
          </a:xfrm>
          <a:prstGeom prst="rect">
            <a:avLst/>
          </a:prstGeom>
          <a:noFill/>
          <a:ln/>
        </p:spPr>
        <p:txBody>
          <a:bodyPr wrap="square" lIns="0" tIns="0" rIns="0" bIns="0" rtlCol="0" anchor="t"/>
          <a:lstStyle/>
          <a:p>
            <a:pPr algn="l" indent="0" marL="0">
              <a:lnSpc>
                <a:spcPts val="1620"/>
              </a:lnSpc>
              <a:buNone/>
            </a:pPr>
            <a:r>
              <a:rPr lang="en-US" sz="1200" dirty="0">
                <a:solidFill>
                  <a:srgbClr val="4F5B69"/>
                </a:solidFill>
                <a:latin typeface="Public Sans" pitchFamily="34" charset="0"/>
                <a:ea typeface="Public Sans" pitchFamily="34" charset="-122"/>
                <a:cs typeface="Public Sans" pitchFamily="34" charset="-120"/>
              </a:rPr>
              <a:t>Emigration: 59,400 / 82,800 / 69,500 left in 2023 / 2024 / 2025 (CBS, revised). A TAU study runs higher.</a:t>
            </a:r>
            <a:endParaRPr lang="en-US" sz="1200" dirty="0"/>
          </a:p>
        </p:txBody>
      </p:sp>
      <p:sp>
        <p:nvSpPr>
          <p:cNvPr id="63" name="text-335"/>
          <p:cNvSpPr txBox="1"/>
          <p:nvPr/>
        </p:nvSpPr>
        <p:spPr>
          <a:xfrm>
            <a:off x="812800" y="6055519"/>
            <a:ext cx="10762996" cy="39608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CBS via ToI &amp; VIN, Sep 9, 2026; CBS 2009; IDI Democracy Index 2025; CBS via Ynet, Apr 19, 2026; IDI, Dec 14, 2025 &amp; Feb 10, 2026; CBS via VIN/ToI/Ynet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EFE4"/>
        </a:solidFill>
      </p:bgPr>
    </p:bg>
    <p:spTree>
      <p:nvGrpSpPr>
        <p:cNvPr id="1" name=""/>
        <p:cNvGrpSpPr/>
        <p:nvPr/>
      </p:nvGrpSpPr>
      <p:grpSpPr>
        <a:xfrm>
          <a:off x="0" y="0"/>
          <a:ext cx="0" cy="0"/>
          <a:chOff x="0" y="0"/>
          <a:chExt cx="0" cy="0"/>
        </a:xfrm>
      </p:grpSpPr>
      <p:sp>
        <p:nvSpPr>
          <p:cNvPr id="2" name="shape-336"/>
          <p:cNvSpPr/>
          <p:nvPr/>
        </p:nvSpPr>
        <p:spPr>
          <a:xfrm>
            <a:off x="812800" y="812800"/>
            <a:ext cx="6364288" cy="221555"/>
          </a:xfrm>
          <a:prstGeom prst="roundRect">
            <a:avLst>
              <a:gd name="adj" fmla="val 17197"/>
            </a:avLst>
          </a:prstGeom>
          <a:solidFill>
            <a:srgbClr val="15253D"/>
          </a:solidFill>
          <a:ln/>
        </p:spPr>
      </p:sp>
      <p:sp>
        <p:nvSpPr>
          <p:cNvPr id="3" name="text-337"/>
          <p:cNvSpPr txBox="1"/>
          <p:nvPr/>
        </p:nvSpPr>
        <p:spPr>
          <a:xfrm>
            <a:off x="812800" y="812800"/>
            <a:ext cx="6497852" cy="221555"/>
          </a:xfrm>
          <a:prstGeom prst="rect">
            <a:avLst/>
          </a:prstGeom>
          <a:noFill/>
          <a:ln/>
        </p:spPr>
        <p:txBody>
          <a:bodyPr wrap="square" lIns="88900" tIns="12700" rIns="88900" bIns="12700" rtlCol="0" anchor="t"/>
          <a:lstStyle/>
          <a:p>
            <a:pPr algn="l" indent="0" marL="0">
              <a:lnSpc>
                <a:spcPts val="1544"/>
              </a:lnSpc>
              <a:buNone/>
            </a:pPr>
            <a:r>
              <a:rPr lang="en-US" sz="1190" b="1" dirty="0">
                <a:solidFill>
                  <a:srgbClr val="F4EFE4"/>
                </a:solidFill>
                <a:latin typeface="Public Sans" pitchFamily="34" charset="0"/>
                <a:ea typeface="Public Sans" pitchFamily="34" charset="-122"/>
                <a:cs typeface="Public Sans" pitchFamily="34" charset="-120"/>
              </a:rPr>
              <a:t>Netanyahu bloc · Benjamin Netanyahu · Seats in latest polls: 19–21 (Channel 14: 31–32)</a:t>
            </a:r>
            <a:endParaRPr lang="en-US" sz="1190" dirty="0"/>
          </a:p>
        </p:txBody>
      </p:sp>
      <p:sp>
        <p:nvSpPr>
          <p:cNvPr id="4" name="text-338"/>
          <p:cNvSpPr txBox="1"/>
          <p:nvPr/>
        </p:nvSpPr>
        <p:spPr>
          <a:xfrm>
            <a:off x="812800" y="1123255"/>
            <a:ext cx="10762996" cy="414933"/>
          </a:xfrm>
          <a:prstGeom prst="rect">
            <a:avLst/>
          </a:prstGeom>
          <a:noFill/>
          <a:ln/>
        </p:spPr>
        <p:txBody>
          <a:bodyPr wrap="square" lIns="0" tIns="0" rIns="0" bIns="0" rtlCol="0" anchor="t"/>
          <a:lstStyle/>
          <a:p>
            <a:pPr algn="l" indent="0" marL="0">
              <a:lnSpc>
                <a:spcPts val="3267"/>
              </a:lnSpc>
              <a:buNone/>
            </a:pPr>
            <a:r>
              <a:rPr lang="en-US" sz="2970" dirty="0">
                <a:solidFill>
                  <a:srgbClr val="15253D"/>
                </a:solidFill>
                <a:latin typeface="Libre Baskerville" pitchFamily="34" charset="0"/>
                <a:ea typeface="Libre Baskerville" pitchFamily="34" charset="-122"/>
                <a:cs typeface="Libre Baskerville" pitchFamily="34" charset="-120"/>
              </a:rPr>
              <a:t>Likud</a:t>
            </a:r>
            <a:endParaRPr lang="en-US" sz="2970" dirty="0"/>
          </a:p>
        </p:txBody>
      </p:sp>
      <p:sp>
        <p:nvSpPr>
          <p:cNvPr id="5" name="text-339"/>
          <p:cNvSpPr txBox="1"/>
          <p:nvPr/>
        </p:nvSpPr>
        <p:spPr>
          <a:xfrm>
            <a:off x="812800" y="1627088"/>
            <a:ext cx="6483350" cy="211138"/>
          </a:xfrm>
          <a:prstGeom prst="rect">
            <a:avLst/>
          </a:prstGeom>
          <a:noFill/>
          <a:ln/>
        </p:spPr>
        <p:txBody>
          <a:bodyPr wrap="square" lIns="0" tIns="0" rIns="0" bIns="0" rtlCol="0" anchor="t"/>
          <a:lstStyle/>
          <a:p>
            <a:pPr algn="l" indent="0" marL="0">
              <a:lnSpc>
                <a:spcPts val="1663"/>
              </a:lnSpc>
              <a:buNone/>
            </a:pPr>
            <a:r>
              <a:rPr lang="en-US" sz="1390" b="1" dirty="0">
                <a:solidFill>
                  <a:srgbClr val="15253D"/>
                </a:solidFill>
                <a:latin typeface="Public Sans" pitchFamily="34" charset="0"/>
                <a:ea typeface="Public Sans" pitchFamily="34" charset="-122"/>
                <a:cs typeface="Public Sans" pitchFamily="34" charset="-120"/>
              </a:rPr>
              <a:t>Who they are</a:t>
            </a:r>
            <a:endParaRPr lang="en-US" sz="1390" dirty="0"/>
          </a:p>
        </p:txBody>
      </p:sp>
      <p:sp>
        <p:nvSpPr>
          <p:cNvPr id="6" name="text-340"/>
          <p:cNvSpPr txBox="1"/>
          <p:nvPr/>
        </p:nvSpPr>
        <p:spPr>
          <a:xfrm>
            <a:off x="812800" y="1850926"/>
            <a:ext cx="6483350" cy="565845"/>
          </a:xfrm>
          <a:prstGeom prst="rect">
            <a:avLst/>
          </a:prstGeom>
          <a:noFill/>
          <a:ln/>
        </p:spPr>
        <p:txBody>
          <a:bodyPr wrap="square" lIns="0" tIns="0" rIns="0" bIns="0" rtlCol="0" anchor="t"/>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Founded 1973 by Begin and Sharon; one party since 1988. Took power in 1977 with 43 seats. Netanyahu has led it since 2005. Aug 17, 2026 primary: Eli Cohen first; ToI called it a “win for Netanyahu bid to reshape sinking party.”</a:t>
            </a:r>
            <a:endParaRPr lang="en-US" sz="1190" dirty="0"/>
          </a:p>
        </p:txBody>
      </p:sp>
      <p:sp>
        <p:nvSpPr>
          <p:cNvPr id="7" name="text-341"/>
          <p:cNvSpPr txBox="1"/>
          <p:nvPr/>
        </p:nvSpPr>
        <p:spPr>
          <a:xfrm>
            <a:off x="812800" y="2492970"/>
            <a:ext cx="6483350" cy="211138"/>
          </a:xfrm>
          <a:prstGeom prst="rect">
            <a:avLst/>
          </a:prstGeom>
          <a:noFill/>
          <a:ln/>
        </p:spPr>
        <p:txBody>
          <a:bodyPr wrap="square" lIns="0" tIns="0" rIns="0" bIns="0" rtlCol="0" anchor="t"/>
          <a:lstStyle/>
          <a:p>
            <a:pPr algn="l" indent="0" marL="0">
              <a:lnSpc>
                <a:spcPts val="1663"/>
              </a:lnSpc>
              <a:buNone/>
            </a:pPr>
            <a:r>
              <a:rPr lang="en-US" sz="1390" b="1" dirty="0">
                <a:solidFill>
                  <a:srgbClr val="15253D"/>
                </a:solidFill>
                <a:latin typeface="Public Sans" pitchFamily="34" charset="0"/>
                <a:ea typeface="Public Sans" pitchFamily="34" charset="-122"/>
                <a:cs typeface="Public Sans" pitchFamily="34" charset="-120"/>
              </a:rPr>
              <a:t>Who votes for them</a:t>
            </a:r>
            <a:endParaRPr lang="en-US" sz="1390" dirty="0"/>
          </a:p>
        </p:txBody>
      </p:sp>
      <p:sp>
        <p:nvSpPr>
          <p:cNvPr id="8" name="text-342"/>
          <p:cNvSpPr txBox="1"/>
          <p:nvPr/>
        </p:nvSpPr>
        <p:spPr>
          <a:xfrm>
            <a:off x="812800" y="2716808"/>
            <a:ext cx="6483350" cy="565845"/>
          </a:xfrm>
          <a:prstGeom prst="rect">
            <a:avLst/>
          </a:prstGeom>
          <a:noFill/>
          <a:ln/>
        </p:spPr>
        <p:txBody>
          <a:bodyPr wrap="square" lIns="0" tIns="0" rIns="0" bIns="0" rtlCol="0" anchor="t"/>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2022: 1,115,336 votes, 23.4%, 32 seats (seats since 2019: 35 · 32 · 36 · 30 · 32). Its 2022 voters: 57% traditional, 32% secular, 10% national-religious (IDI). First-time voters 2026: Likud 14%, Yashar 16% (N12).</a:t>
            </a:r>
            <a:endParaRPr lang="en-US" sz="1190" dirty="0"/>
          </a:p>
        </p:txBody>
      </p:sp>
      <p:sp>
        <p:nvSpPr>
          <p:cNvPr id="9" name="text-343"/>
          <p:cNvSpPr txBox="1"/>
          <p:nvPr/>
        </p:nvSpPr>
        <p:spPr>
          <a:xfrm>
            <a:off x="812800" y="3358852"/>
            <a:ext cx="6483350" cy="211138"/>
          </a:xfrm>
          <a:prstGeom prst="rect">
            <a:avLst/>
          </a:prstGeom>
          <a:noFill/>
          <a:ln/>
        </p:spPr>
        <p:txBody>
          <a:bodyPr wrap="square" lIns="0" tIns="0" rIns="0" bIns="0" rtlCol="0" anchor="t"/>
          <a:lstStyle/>
          <a:p>
            <a:pPr algn="l" indent="0" marL="0">
              <a:lnSpc>
                <a:spcPts val="1663"/>
              </a:lnSpc>
              <a:buNone/>
            </a:pPr>
            <a:r>
              <a:rPr lang="en-US" sz="1390" b="1" dirty="0">
                <a:solidFill>
                  <a:srgbClr val="15253D"/>
                </a:solidFill>
                <a:latin typeface="Public Sans" pitchFamily="34" charset="0"/>
                <a:ea typeface="Public Sans" pitchFamily="34" charset="-122"/>
                <a:cs typeface="Public Sans" pitchFamily="34" charset="-120"/>
              </a:rPr>
              <a:t>What they’re running on</a:t>
            </a:r>
            <a:endParaRPr lang="en-US" sz="1390" dirty="0"/>
          </a:p>
        </p:txBody>
      </p:sp>
      <p:graphicFrame>
        <p:nvGraphicFramePr>
          <p:cNvPr id="16" name="table-344"/>
          <p:cNvGraphicFramePr>
            <a:graphicFrameLocks noGrp="1"/>
          </p:cNvGraphicFramePr>
          <p:nvPr>
            <p:extLst>
              <p:ext uri="{D42A27DB-BD31-4B8C-83A1-F6EECF244321}">
                <p14:modId xmlns:p14="http://schemas.microsoft.com/office/powerpoint/2010/main" val="1579011935"/>
              </p:ext>
            </p:extLst>
          </p:nvPr>
        </p:nvGraphicFramePr>
        <p:xfrm>
          <a:off x="812800" y="3595390"/>
          <a:ext cx="6350000" cy="914400"/>
        </p:xfrm>
        <a:graphic>
          <a:graphicData uri="http://schemas.openxmlformats.org/drawingml/2006/table">
            <a:tbl>
              <a:tblPr/>
              <a:tblGrid>
                <a:gridCol w="1460500"/>
                <a:gridCol w="4889500"/>
              </a:tblGrid>
              <a:tr h="297359">
                <a:tc>
                  <a:txBody>
                    <a:bodyPr/>
                    <a:lstStyle/>
                    <a:p>
                      <a:pPr algn="l" indent="0" marL="0">
                        <a:lnSpc>
                          <a:spcPts val="1485"/>
                        </a:lnSpc>
                        <a:buNone/>
                      </a:pPr>
                      <a:r>
                        <a:rPr lang="en-US" sz="1190" dirty="0">
                          <a:solidFill>
                            <a:srgbClr val="9A541A"/>
                          </a:solidFill>
                          <a:latin typeface="Public Sans" pitchFamily="34" charset="0"/>
                          <a:ea typeface="Public Sans" pitchFamily="34" charset="-122"/>
                          <a:cs typeface="Public Sans" pitchFamily="34" charset="-120"/>
                        </a:rPr>
                        <a:t>Haredi draft</a:t>
                      </a:r>
                      <a:endParaRPr lang="en-US" sz="1190" dirty="0">
                        <a:latin typeface="Public Sans" charset="0"/>
                        <a:ea typeface="Public Sans" charset="0"/>
                        <a:cs typeface="Public Sans" charset="0"/>
                      </a:endParaRPr>
                    </a:p>
                  </a:txBody>
                  <a:tcPr marL="76200" marR="76200" marT="38100" marB="38100" anchor="t">
                    <a:lnL w="0" cap="flat" cmpd="sng" algn="ctr">
                      <a:noFill/>
                    </a:lnL>
                    <a:lnR w="0" cap="flat" cmpd="sng" algn="ctr">
                      <a:noFill/>
                    </a:lnR>
                    <a:lnT w="0" cap="flat" cmpd="sng" algn="ctr">
                      <a:noFill/>
                    </a:lnT>
                    <a:lnB w="6350" cap="flat" cmpd="sng" algn="ctr">
                      <a:solidFill>
                        <a:srgbClr val="D2CEC4"/>
                      </a:solidFill>
                      <a:prstDash val="solid"/>
                      <a:round/>
                      <a:headEnd type="none" w="med" len="med"/>
                      <a:tailEnd type="none" w="med" len="med"/>
                    </a:lnB>
                  </a:tcPr>
                </a:tc>
                <a:tc>
                  <a:txBody>
                    <a:bodyPr/>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Netanyahu revived the exemption bill (ToI, May 2026)</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0" cap="flat" cmpd="sng" algn="ctr">
                      <a:noFill/>
                    </a:lnT>
                    <a:lnB w="6350" cap="flat" cmpd="sng" algn="ctr">
                      <a:solidFill>
                        <a:srgbClr val="D2CEC4"/>
                      </a:solidFill>
                      <a:prstDash val="solid"/>
                      <a:round/>
                      <a:headEnd type="none" w="med" len="med"/>
                      <a:tailEnd type="none" w="med" len="med"/>
                    </a:lnB>
                  </a:tcPr>
                </a:tc>
              </a:tr>
              <a:tr h="300534">
                <a:tc>
                  <a:txBody>
                    <a:bodyPr/>
                    <a:lstStyle/>
                    <a:p>
                      <a:pPr algn="l" indent="0" marL="0">
                        <a:lnSpc>
                          <a:spcPts val="1485"/>
                        </a:lnSpc>
                        <a:buNone/>
                      </a:pPr>
                      <a:r>
                        <a:rPr lang="en-US" sz="1190" dirty="0">
                          <a:solidFill>
                            <a:srgbClr val="9A541A"/>
                          </a:solidFill>
                          <a:latin typeface="Public Sans" pitchFamily="34" charset="0"/>
                          <a:ea typeface="Public Sans" pitchFamily="34" charset="-122"/>
                          <a:cs typeface="Public Sans" pitchFamily="34" charset="-120"/>
                        </a:rPr>
                        <a:t>Courts</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New judge-selection law: professionals lose veto next term</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0534">
                <a:tc>
                  <a:txBody>
                    <a:bodyPr/>
                    <a:lstStyle/>
                    <a:p>
                      <a:pPr algn="l" indent="0" marL="0">
                        <a:lnSpc>
                          <a:spcPts val="1485"/>
                        </a:lnSpc>
                        <a:buNone/>
                      </a:pPr>
                      <a:r>
                        <a:rPr lang="en-US" sz="1190" dirty="0">
                          <a:solidFill>
                            <a:srgbClr val="9A541A"/>
                          </a:solidFill>
                          <a:latin typeface="Public Sans" pitchFamily="34" charset="0"/>
                          <a:ea typeface="Public Sans" pitchFamily="34" charset="-122"/>
                          <a:cs typeface="Public Sans" pitchFamily="34" charset="-120"/>
                        </a:rPr>
                        <a:t>The war &amp; Gaza</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Rejected Trump’s 15-point plan; no Palestinian state</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0534">
                <a:tc>
                  <a:txBody>
                    <a:bodyPr/>
                    <a:lstStyle/>
                    <a:p>
                      <a:pPr algn="l" indent="0" marL="0">
                        <a:lnSpc>
                          <a:spcPts val="1485"/>
                        </a:lnSpc>
                        <a:buNone/>
                      </a:pPr>
                      <a:r>
                        <a:rPr lang="en-US" sz="1190" dirty="0">
                          <a:solidFill>
                            <a:srgbClr val="9A541A"/>
                          </a:solidFill>
                          <a:latin typeface="Public Sans" pitchFamily="34" charset="0"/>
                          <a:ea typeface="Public Sans" pitchFamily="34" charset="-122"/>
                          <a:cs typeface="Public Sans" pitchFamily="34" charset="-120"/>
                        </a:rPr>
                        <a:t>West Bank</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Likud ministers urged “apply sovereignty” (Jul 2025)</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0534">
                <a:tc>
                  <a:txBody>
                    <a:bodyPr/>
                    <a:lstStyle/>
                    <a:p>
                      <a:pPr algn="l" indent="0" marL="0">
                        <a:lnSpc>
                          <a:spcPts val="1485"/>
                        </a:lnSpc>
                        <a:buNone/>
                      </a:pPr>
                      <a:r>
                        <a:rPr lang="en-US" sz="1190" dirty="0">
                          <a:solidFill>
                            <a:srgbClr val="9A541A"/>
                          </a:solidFill>
                          <a:latin typeface="Public Sans" pitchFamily="34" charset="0"/>
                          <a:ea typeface="Public Sans" pitchFamily="34" charset="-122"/>
                          <a:cs typeface="Public Sans" pitchFamily="34" charset="-120"/>
                        </a:rPr>
                        <a:t>Religion &amp; state</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No 2026 position found</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0534">
                <a:tc>
                  <a:txBody>
                    <a:bodyPr/>
                    <a:lstStyle/>
                    <a:p>
                      <a:pPr algn="l" indent="0" marL="0">
                        <a:lnSpc>
                          <a:spcPts val="1485"/>
                        </a:lnSpc>
                        <a:buNone/>
                      </a:pPr>
                      <a:r>
                        <a:rPr lang="en-US" sz="1190" dirty="0">
                          <a:solidFill>
                            <a:srgbClr val="9A541A"/>
                          </a:solidFill>
                          <a:latin typeface="Public Sans" pitchFamily="34" charset="0"/>
                          <a:ea typeface="Public Sans" pitchFamily="34" charset="-122"/>
                          <a:cs typeface="Public Sans" pitchFamily="34" charset="-120"/>
                        </a:rPr>
                        <a:t>Economy</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No 2026 position found</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0534">
                <a:tc>
                  <a:txBody>
                    <a:bodyPr/>
                    <a:lstStyle/>
                    <a:p>
                      <a:pPr algn="l" indent="0" marL="0">
                        <a:lnSpc>
                          <a:spcPts val="1485"/>
                        </a:lnSpc>
                        <a:buNone/>
                      </a:pPr>
                      <a:r>
                        <a:rPr lang="en-US" sz="1190" dirty="0">
                          <a:solidFill>
                            <a:srgbClr val="9A541A"/>
                          </a:solidFill>
                          <a:latin typeface="Public Sans" pitchFamily="34" charset="0"/>
                          <a:ea typeface="Public Sans" pitchFamily="34" charset="-122"/>
                          <a:cs typeface="Public Sans" pitchFamily="34" charset="-120"/>
                        </a:rPr>
                        <a:t>Netanyahu’s trial</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Pardon asked Nov 2025; Herzog pushing a plea deal</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bl>
          </a:graphicData>
        </a:graphic>
      </p:graphicFrame>
      <p:sp>
        <p:nvSpPr>
          <p:cNvPr id="11" name="shape-345"/>
          <p:cNvSpPr/>
          <p:nvPr/>
        </p:nvSpPr>
        <p:spPr>
          <a:xfrm>
            <a:off x="7416800" y="1627088"/>
            <a:ext cx="3962400" cy="992882"/>
          </a:xfrm>
          <a:prstGeom prst="roundRect">
            <a:avLst>
              <a:gd name="adj" fmla="val 7675"/>
            </a:avLst>
          </a:prstGeom>
          <a:solidFill>
            <a:srgbClr val="FBF8F1"/>
          </a:solidFill>
          <a:ln w="6350">
            <a:solidFill>
              <a:srgbClr val="D9D1C1"/>
            </a:solidFill>
            <a:prstDash val="solid"/>
          </a:ln>
        </p:spPr>
      </p:sp>
      <p:sp>
        <p:nvSpPr>
          <p:cNvPr id="12" name="text-346"/>
          <p:cNvSpPr txBox="1"/>
          <p:nvPr/>
        </p:nvSpPr>
        <p:spPr>
          <a:xfrm>
            <a:off x="7550150" y="1722338"/>
            <a:ext cx="3789236" cy="211138"/>
          </a:xfrm>
          <a:prstGeom prst="rect">
            <a:avLst/>
          </a:prstGeom>
          <a:noFill/>
          <a:ln/>
        </p:spPr>
        <p:txBody>
          <a:bodyPr wrap="square" lIns="0" tIns="0" rIns="0" bIns="0" rtlCol="0" anchor="t"/>
          <a:lstStyle/>
          <a:p>
            <a:pPr algn="l" indent="0" marL="0">
              <a:lnSpc>
                <a:spcPts val="1663"/>
              </a:lnSpc>
              <a:buNone/>
            </a:pPr>
            <a:r>
              <a:rPr lang="en-US" sz="1390" b="1" dirty="0">
                <a:solidFill>
                  <a:srgbClr val="15253D"/>
                </a:solidFill>
                <a:latin typeface="Public Sans" pitchFamily="34" charset="0"/>
                <a:ea typeface="Public Sans" pitchFamily="34" charset="-122"/>
                <a:cs typeface="Public Sans" pitchFamily="34" charset="-120"/>
              </a:rPr>
              <a:t>Benjamin Netanyahu</a:t>
            </a:r>
            <a:endParaRPr lang="en-US" sz="1390" dirty="0"/>
          </a:p>
        </p:txBody>
      </p:sp>
      <p:sp>
        <p:nvSpPr>
          <p:cNvPr id="13" name="text-347"/>
          <p:cNvSpPr txBox="1"/>
          <p:nvPr/>
        </p:nvSpPr>
        <p:spPr>
          <a:xfrm>
            <a:off x="7550150" y="1958876"/>
            <a:ext cx="3789236" cy="565845"/>
          </a:xfrm>
          <a:prstGeom prst="rect">
            <a:avLst/>
          </a:prstGeom>
          <a:noFill/>
          <a:ln/>
        </p:spPr>
        <p:txBody>
          <a:bodyPr wrap="square" lIns="0" tIns="0" rIns="0" bIns="0" rtlCol="0" anchor="t"/>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Born Oct 21, 1949, Tel Aviv. Sayeret Matkal; UN ambassador 1984–88. PM 1996–99, 2009–21 and since Dec 2022. On trial since May 2020.</a:t>
            </a:r>
            <a:endParaRPr lang="en-US" sz="1190" dirty="0"/>
          </a:p>
        </p:txBody>
      </p:sp>
      <p:sp>
        <p:nvSpPr>
          <p:cNvPr id="14" name="shape-348"/>
          <p:cNvSpPr/>
          <p:nvPr/>
        </p:nvSpPr>
        <p:spPr>
          <a:xfrm>
            <a:off x="7416800" y="2696170"/>
            <a:ext cx="3962400" cy="1158974"/>
          </a:xfrm>
          <a:prstGeom prst="roundRect">
            <a:avLst>
              <a:gd name="adj" fmla="val 6575"/>
            </a:avLst>
          </a:prstGeom>
          <a:solidFill>
            <a:srgbClr val="FBF8F1"/>
          </a:solidFill>
          <a:ln w="6350">
            <a:solidFill>
              <a:srgbClr val="D9D1C1"/>
            </a:solidFill>
            <a:prstDash val="solid"/>
          </a:ln>
        </p:spPr>
      </p:sp>
      <p:sp>
        <p:nvSpPr>
          <p:cNvPr id="15" name="text-349"/>
          <p:cNvSpPr txBox="1"/>
          <p:nvPr/>
        </p:nvSpPr>
        <p:spPr>
          <a:xfrm>
            <a:off x="7550150" y="2791420"/>
            <a:ext cx="3789236" cy="188615"/>
          </a:xfrm>
          <a:prstGeom prst="rect">
            <a:avLst/>
          </a:prstGeom>
          <a:noFill/>
          <a:ln/>
        </p:spPr>
        <p:txBody>
          <a:bodyPr wrap="square" lIns="0" tIns="0" rIns="0" bIns="0" rtlCol="0" anchor="t"/>
          <a:lstStyle/>
          <a:p>
            <a:pPr algn="l" indent="0" marL="0">
              <a:lnSpc>
                <a:spcPts val="1485"/>
              </a:lnSpc>
              <a:buNone/>
            </a:pPr>
            <a:r>
              <a:rPr lang="en-US" sz="1190" b="1" spc="100" kern="0" dirty="0">
                <a:solidFill>
                  <a:srgbClr val="9A541A"/>
                </a:solidFill>
                <a:latin typeface="Public Sans" pitchFamily="34" charset="0"/>
                <a:ea typeface="Public Sans" pitchFamily="34" charset="-122"/>
                <a:cs typeface="Public Sans" pitchFamily="34" charset="-120"/>
              </a:rPr>
              <a:t>ON THE LIST</a:t>
            </a:r>
            <a:endParaRPr lang="en-US" sz="1190" dirty="0"/>
          </a:p>
        </p:txBody>
      </p:sp>
      <p:sp>
        <p:nvSpPr>
          <p:cNvPr id="16" name="text-350"/>
          <p:cNvSpPr txBox="1"/>
          <p:nvPr/>
        </p:nvSpPr>
        <p:spPr>
          <a:xfrm>
            <a:off x="7550150" y="3005435"/>
            <a:ext cx="3789236" cy="754459"/>
          </a:xfrm>
          <a:prstGeom prst="rect">
            <a:avLst/>
          </a:prstGeom>
          <a:noFill/>
          <a:ln/>
        </p:spPr>
        <p:txBody>
          <a:bodyPr wrap="square" lIns="0" tIns="0" rIns="0" bIns="0" rtlCol="0" anchor="t"/>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2 Eli Cohen</a:t>
            </a:r>
            <a:endParaRPr lang="en-US" sz="1190" dirty="0"/>
          </a:p>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5 Gideon Sa’ar · 7 Yariv Levin</a:t>
            </a:r>
            <a:endParaRPr lang="en-US" sz="1190" dirty="0"/>
          </a:p>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9 Talik Gvili, mother of Ran Gvili, the last hostage returned</a:t>
            </a:r>
            <a:endParaRPr lang="en-US" sz="1190" dirty="0"/>
          </a:p>
        </p:txBody>
      </p:sp>
      <p:sp>
        <p:nvSpPr>
          <p:cNvPr id="17" name="shape-351"/>
          <p:cNvSpPr/>
          <p:nvPr/>
        </p:nvSpPr>
        <p:spPr>
          <a:xfrm>
            <a:off x="7416800" y="3931345"/>
            <a:ext cx="3962400" cy="970359"/>
          </a:xfrm>
          <a:prstGeom prst="roundRect">
            <a:avLst>
              <a:gd name="adj" fmla="val 7853"/>
            </a:avLst>
          </a:prstGeom>
          <a:solidFill>
            <a:srgbClr val="FBF8F1"/>
          </a:solidFill>
          <a:ln w="6350">
            <a:solidFill>
              <a:srgbClr val="D9D1C1"/>
            </a:solidFill>
            <a:prstDash val="solid"/>
          </a:ln>
        </p:spPr>
      </p:sp>
      <p:sp>
        <p:nvSpPr>
          <p:cNvPr id="18" name="text-352"/>
          <p:cNvSpPr txBox="1"/>
          <p:nvPr/>
        </p:nvSpPr>
        <p:spPr>
          <a:xfrm>
            <a:off x="7550150" y="4026595"/>
            <a:ext cx="3789236" cy="188615"/>
          </a:xfrm>
          <a:prstGeom prst="rect">
            <a:avLst/>
          </a:prstGeom>
          <a:noFill/>
          <a:ln/>
        </p:spPr>
        <p:txBody>
          <a:bodyPr wrap="square" lIns="0" tIns="0" rIns="0" bIns="0" rtlCol="0" anchor="t"/>
          <a:lstStyle/>
          <a:p>
            <a:pPr algn="l" indent="0" marL="0">
              <a:lnSpc>
                <a:spcPts val="1485"/>
              </a:lnSpc>
              <a:buNone/>
            </a:pPr>
            <a:r>
              <a:rPr lang="en-US" sz="1190" b="1" spc="100" kern="0" dirty="0">
                <a:solidFill>
                  <a:srgbClr val="9A541A"/>
                </a:solidFill>
                <a:latin typeface="Public Sans" pitchFamily="34" charset="0"/>
                <a:ea typeface="Public Sans" pitchFamily="34" charset="-122"/>
                <a:cs typeface="Public Sans" pitchFamily="34" charset="-120"/>
              </a:rPr>
              <a:t>COALITION</a:t>
            </a:r>
            <a:endParaRPr lang="en-US" sz="1190" dirty="0"/>
          </a:p>
        </p:txBody>
      </p:sp>
      <p:sp>
        <p:nvSpPr>
          <p:cNvPr id="19" name="text-353"/>
          <p:cNvSpPr txBox="1"/>
          <p:nvPr/>
        </p:nvSpPr>
        <p:spPr>
          <a:xfrm>
            <a:off x="7550150" y="4240609"/>
            <a:ext cx="3789236" cy="565845"/>
          </a:xfrm>
          <a:prstGeom prst="rect">
            <a:avLst/>
          </a:prstGeom>
          <a:noFill/>
          <a:ln/>
        </p:spPr>
        <p:txBody>
          <a:bodyPr wrap="square" lIns="0" tIns="0" rIns="0" bIns="0" rtlCol="0" anchor="t"/>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Netanyahu: “a strong right-wing government led by me – or a weak l[eft]…” Surplus partner: Religious Zionism (agreed Sep 8; signing unconfirmed).</a:t>
            </a:r>
            <a:endParaRPr lang="en-US" sz="1190" dirty="0"/>
          </a:p>
        </p:txBody>
      </p:sp>
      <p:sp>
        <p:nvSpPr>
          <p:cNvPr id="20" name="shape-354"/>
          <p:cNvSpPr/>
          <p:nvPr/>
        </p:nvSpPr>
        <p:spPr>
          <a:xfrm>
            <a:off x="7416800" y="4977904"/>
            <a:ext cx="3962400" cy="992981"/>
          </a:xfrm>
          <a:prstGeom prst="roundRect">
            <a:avLst>
              <a:gd name="adj" fmla="val 7674"/>
            </a:avLst>
          </a:prstGeom>
          <a:solidFill>
            <a:srgbClr val="FBF8F1"/>
          </a:solidFill>
          <a:ln w="6350">
            <a:solidFill>
              <a:srgbClr val="D9D1C1"/>
            </a:solidFill>
            <a:prstDash val="solid"/>
          </a:ln>
        </p:spPr>
      </p:sp>
      <p:sp>
        <p:nvSpPr>
          <p:cNvPr id="21" name="rule-355"/>
          <p:cNvSpPr/>
          <p:nvPr/>
        </p:nvSpPr>
        <p:spPr>
          <a:xfrm>
            <a:off x="7416800" y="4977904"/>
            <a:ext cx="38100" cy="992981"/>
          </a:xfrm>
          <a:prstGeom prst="rect">
            <a:avLst/>
          </a:prstGeom>
          <a:solidFill>
            <a:srgbClr val="15253D"/>
          </a:solidFill>
          <a:ln/>
        </p:spPr>
      </p:sp>
      <p:sp>
        <p:nvSpPr>
          <p:cNvPr id="22" name="text-356"/>
          <p:cNvSpPr txBox="1"/>
          <p:nvPr/>
        </p:nvSpPr>
        <p:spPr>
          <a:xfrm>
            <a:off x="7581900" y="5073154"/>
            <a:ext cx="3757009" cy="588466"/>
          </a:xfrm>
          <a:prstGeom prst="rect">
            <a:avLst/>
          </a:prstGeom>
          <a:noFill/>
          <a:ln/>
        </p:spPr>
        <p:txBody>
          <a:bodyPr wrap="square" lIns="0" tIns="0" rIns="0" bIns="0" rtlCol="0" anchor="t"/>
          <a:lstStyle/>
          <a:p>
            <a:pPr algn="l" indent="0" marL="0">
              <a:lnSpc>
                <a:spcPts val="1544"/>
              </a:lnSpc>
              <a:buNone/>
            </a:pPr>
            <a:r>
              <a:rPr lang="en-US" sz="1190" i="1" dirty="0">
                <a:solidFill>
                  <a:srgbClr val="1B2634"/>
                </a:solidFill>
                <a:latin typeface="Public Sans" pitchFamily="34" charset="0"/>
                <a:ea typeface="Public Sans" pitchFamily="34" charset="-122"/>
                <a:cs typeface="Public Sans" pitchFamily="34" charset="-120"/>
              </a:rPr>
              <a:t>“We’ll wait for the next term, when two-thirds of the Supreme Court justices’ seats become vacant… You’ll simply go extinct.”</a:t>
            </a:r>
            <a:endParaRPr lang="en-US" sz="1190" dirty="0"/>
          </a:p>
        </p:txBody>
      </p:sp>
      <p:sp>
        <p:nvSpPr>
          <p:cNvPr id="23" name="text-357"/>
          <p:cNvSpPr txBox="1"/>
          <p:nvPr/>
        </p:nvSpPr>
        <p:spPr>
          <a:xfrm>
            <a:off x="7581900" y="5687020"/>
            <a:ext cx="3757009" cy="188615"/>
          </a:xfrm>
          <a:prstGeom prst="rect">
            <a:avLst/>
          </a:prstGeom>
          <a:noFill/>
          <a:ln/>
        </p:spPr>
        <p:txBody>
          <a:bodyPr wrap="square" lIns="0" tIns="0" rIns="0" bIns="0" rtlCol="0" anchor="t"/>
          <a:lstStyle/>
          <a:p>
            <a:pPr algn="l" indent="0" marL="0">
              <a:lnSpc>
                <a:spcPts val="1485"/>
              </a:lnSpc>
              <a:buNone/>
            </a:pPr>
            <a:r>
              <a:rPr lang="en-US" sz="1190" dirty="0">
                <a:solidFill>
                  <a:srgbClr val="4F5B69"/>
                </a:solidFill>
                <a:latin typeface="Public Sans" pitchFamily="34" charset="0"/>
                <a:ea typeface="Public Sans" pitchFamily="34" charset="-122"/>
                <a:cs typeface="Public Sans" pitchFamily="34" charset="-120"/>
              </a:rPr>
              <a:t>Yariv Levin, Kan recordings, via JTA, Sep 18, 2026</a:t>
            </a:r>
            <a:endParaRPr lang="en-US" sz="1190" dirty="0"/>
          </a:p>
        </p:txBody>
      </p:sp>
      <p:sp>
        <p:nvSpPr>
          <p:cNvPr id="24" name="text-358"/>
          <p:cNvSpPr txBox="1"/>
          <p:nvPr/>
        </p:nvSpPr>
        <p:spPr>
          <a:xfrm>
            <a:off x="812800" y="6055519"/>
            <a:ext cx="10762996" cy="39608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IDI/Finkelstein Jun 28 2026 · ToI Aug 18 2026 · JPost Sep 8, 19 &amp; 23 2026 · JTA Sep 18 2026 · Al Jazeera Aug 9 2026 · polls Sep 28–Oct 2 2026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EFE4"/>
        </a:solidFill>
      </p:bgPr>
    </p:bg>
    <p:spTree>
      <p:nvGrpSpPr>
        <p:cNvPr id="1" name=""/>
        <p:cNvGrpSpPr/>
        <p:nvPr/>
      </p:nvGrpSpPr>
      <p:grpSpPr>
        <a:xfrm>
          <a:off x="0" y="0"/>
          <a:ext cx="0" cy="0"/>
          <a:chOff x="0" y="0"/>
          <a:chExt cx="0" cy="0"/>
        </a:xfrm>
      </p:grpSpPr>
      <p:sp>
        <p:nvSpPr>
          <p:cNvPr id="2" name="shape-359"/>
          <p:cNvSpPr/>
          <p:nvPr/>
        </p:nvSpPr>
        <p:spPr>
          <a:xfrm>
            <a:off x="812800" y="812800"/>
            <a:ext cx="4146649" cy="223441"/>
          </a:xfrm>
          <a:prstGeom prst="roundRect">
            <a:avLst>
              <a:gd name="adj" fmla="val 17051"/>
            </a:avLst>
          </a:prstGeom>
          <a:solidFill>
            <a:srgbClr val="15253D"/>
          </a:solidFill>
          <a:ln/>
        </p:spPr>
      </p:sp>
      <p:sp>
        <p:nvSpPr>
          <p:cNvPr id="3" name="text-360"/>
          <p:cNvSpPr txBox="1"/>
          <p:nvPr/>
        </p:nvSpPr>
        <p:spPr>
          <a:xfrm>
            <a:off x="812800" y="812800"/>
            <a:ext cx="4246949" cy="223441"/>
          </a:xfrm>
          <a:prstGeom prst="rect">
            <a:avLst/>
          </a:prstGeom>
          <a:noFill/>
          <a:ln/>
        </p:spPr>
        <p:txBody>
          <a:bodyPr wrap="square" lIns="88900" tIns="12700" rIns="88900" bIns="12700" rtlCol="0" anchor="t"/>
          <a:lstStyle/>
          <a:p>
            <a:pPr algn="l" indent="0" marL="0">
              <a:lnSpc>
                <a:spcPts val="1560"/>
              </a:lnSpc>
              <a:buNone/>
            </a:pPr>
            <a:r>
              <a:rPr lang="en-US" sz="1200" b="1" dirty="0">
                <a:solidFill>
                  <a:srgbClr val="F4EFE4"/>
                </a:solidFill>
                <a:latin typeface="Public Sans" pitchFamily="34" charset="0"/>
                <a:ea typeface="Public Sans" pitchFamily="34" charset="-122"/>
                <a:cs typeface="Public Sans" pitchFamily="34" charset="-120"/>
              </a:rPr>
              <a:t>Netanyahu bloc · Aryeh Deri · Seats in latest polls: 7–10</a:t>
            </a:r>
            <a:endParaRPr lang="en-US" sz="1200" dirty="0"/>
          </a:p>
        </p:txBody>
      </p:sp>
      <p:sp>
        <p:nvSpPr>
          <p:cNvPr id="4" name="text-361"/>
          <p:cNvSpPr txBox="1"/>
          <p:nvPr/>
        </p:nvSpPr>
        <p:spPr>
          <a:xfrm>
            <a:off x="812800" y="1125141"/>
            <a:ext cx="10762996" cy="419100"/>
          </a:xfrm>
          <a:prstGeom prst="rect">
            <a:avLst/>
          </a:prstGeom>
          <a:noFill/>
          <a:ln/>
        </p:spPr>
        <p:txBody>
          <a:bodyPr wrap="square" lIns="0" tIns="0" rIns="0" bIns="0" rtlCol="0" anchor="t"/>
          <a:lstStyle/>
          <a:p>
            <a:pPr algn="l" indent="0" marL="0">
              <a:lnSpc>
                <a:spcPts val="3300"/>
              </a:lnSpc>
              <a:buNone/>
            </a:pPr>
            <a:r>
              <a:rPr lang="en-US" sz="3000" dirty="0">
                <a:solidFill>
                  <a:srgbClr val="15253D"/>
                </a:solidFill>
                <a:latin typeface="Libre Baskerville" pitchFamily="34" charset="0"/>
                <a:ea typeface="Libre Baskerville" pitchFamily="34" charset="-122"/>
                <a:cs typeface="Libre Baskerville" pitchFamily="34" charset="-120"/>
              </a:rPr>
              <a:t>Shas</a:t>
            </a:r>
            <a:pPr algn="l" indent="0" marL="0">
              <a:lnSpc>
                <a:spcPts val="3300"/>
              </a:lnSpc>
              <a:buNone/>
            </a:pPr>
            <a:r>
              <a:rPr lang="en-US" sz="3000" dirty="0">
                <a:solidFill>
                  <a:srgbClr val="7A8591"/>
                </a:solidFill>
                <a:latin typeface="Libre Baskerville" pitchFamily="34" charset="0"/>
                <a:ea typeface="Libre Baskerville" pitchFamily="34" charset="-122"/>
                <a:cs typeface="Libre Baskerville" pitchFamily="34" charset="-120"/>
              </a:rPr>
              <a:t> — Shomrei Sefarad</a:t>
            </a:r>
            <a:endParaRPr lang="en-US" sz="3000" dirty="0"/>
          </a:p>
        </p:txBody>
      </p:sp>
      <p:sp>
        <p:nvSpPr>
          <p:cNvPr id="5" name="text-362"/>
          <p:cNvSpPr txBox="1"/>
          <p:nvPr/>
        </p:nvSpPr>
        <p:spPr>
          <a:xfrm>
            <a:off x="812800" y="1633141"/>
            <a:ext cx="6483350" cy="213320"/>
          </a:xfrm>
          <a:prstGeom prst="rect">
            <a:avLst/>
          </a:prstGeom>
          <a:noFill/>
          <a:ln/>
        </p:spPr>
        <p:txBody>
          <a:bodyPr wrap="square" lIns="0" tIns="0" rIns="0" bIns="0" rtlCol="0" anchor="t"/>
          <a:lstStyle/>
          <a:p>
            <a:pPr algn="l" indent="0" marL="0">
              <a:lnSpc>
                <a:spcPts val="1680"/>
              </a:lnSpc>
              <a:buNone/>
            </a:pPr>
            <a:r>
              <a:rPr lang="en-US" sz="1400" b="1" dirty="0">
                <a:solidFill>
                  <a:srgbClr val="15253D"/>
                </a:solidFill>
                <a:latin typeface="Public Sans" pitchFamily="34" charset="0"/>
                <a:ea typeface="Public Sans" pitchFamily="34" charset="-122"/>
                <a:cs typeface="Public Sans" pitchFamily="34" charset="-120"/>
              </a:rPr>
              <a:t>Who they are</a:t>
            </a:r>
            <a:endParaRPr lang="en-US" sz="1400" dirty="0"/>
          </a:p>
        </p:txBody>
      </p:sp>
      <p:sp>
        <p:nvSpPr>
          <p:cNvPr id="6" name="text-363"/>
          <p:cNvSpPr txBox="1"/>
          <p:nvPr/>
        </p:nvSpPr>
        <p:spPr>
          <a:xfrm>
            <a:off x="812800" y="1859161"/>
            <a:ext cx="6483350"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Founded 1984 as “Shomrei Sefarad,” protesting thin Sephardi representation in Agudat Yisrael, under Rav Ovadia Yosef. Peak: 17 seats in 1999. In Aug 2026 council head Rabbi Moshe Maya chose former Chief Rabbi Yitzhak Yosef “to lead” (JPost).</a:t>
            </a:r>
            <a:endParaRPr lang="en-US" sz="1200" dirty="0"/>
          </a:p>
        </p:txBody>
      </p:sp>
      <p:sp>
        <p:nvSpPr>
          <p:cNvPr id="7" name="text-364"/>
          <p:cNvSpPr txBox="1"/>
          <p:nvPr/>
        </p:nvSpPr>
        <p:spPr>
          <a:xfrm>
            <a:off x="812800" y="2506861"/>
            <a:ext cx="6483350" cy="213320"/>
          </a:xfrm>
          <a:prstGeom prst="rect">
            <a:avLst/>
          </a:prstGeom>
          <a:noFill/>
          <a:ln/>
        </p:spPr>
        <p:txBody>
          <a:bodyPr wrap="square" lIns="0" tIns="0" rIns="0" bIns="0" rtlCol="0" anchor="t"/>
          <a:lstStyle/>
          <a:p>
            <a:pPr algn="l" indent="0" marL="0">
              <a:lnSpc>
                <a:spcPts val="1680"/>
              </a:lnSpc>
              <a:buNone/>
            </a:pPr>
            <a:r>
              <a:rPr lang="en-US" sz="1400" b="1" dirty="0">
                <a:solidFill>
                  <a:srgbClr val="15253D"/>
                </a:solidFill>
                <a:latin typeface="Public Sans" pitchFamily="34" charset="0"/>
                <a:ea typeface="Public Sans" pitchFamily="34" charset="-122"/>
                <a:cs typeface="Public Sans" pitchFamily="34" charset="-120"/>
              </a:rPr>
              <a:t>Who votes for them</a:t>
            </a:r>
            <a:endParaRPr lang="en-US" sz="1400" dirty="0"/>
          </a:p>
        </p:txBody>
      </p:sp>
      <p:sp>
        <p:nvSpPr>
          <p:cNvPr id="8" name="text-365"/>
          <p:cNvSpPr txBox="1"/>
          <p:nvPr/>
        </p:nvSpPr>
        <p:spPr>
          <a:xfrm>
            <a:off x="812800" y="2732881"/>
            <a:ext cx="6483350"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28% of Haredim and 10.5% of national-religious voters chose Shas in 2022 (IDI). IDI’s Malach: “at least three or four Knesset seats’ worth of voters who are simply not Haredi.” 2022: 392,964 votes, 8.25%, 11 seats (since 2019: 8 · 9 · 9 · 9 · 11).</a:t>
            </a:r>
            <a:endParaRPr lang="en-US" sz="1200" dirty="0"/>
          </a:p>
        </p:txBody>
      </p:sp>
      <p:sp>
        <p:nvSpPr>
          <p:cNvPr id="9" name="text-366"/>
          <p:cNvSpPr txBox="1"/>
          <p:nvPr/>
        </p:nvSpPr>
        <p:spPr>
          <a:xfrm>
            <a:off x="812800" y="3380581"/>
            <a:ext cx="6483350" cy="213320"/>
          </a:xfrm>
          <a:prstGeom prst="rect">
            <a:avLst/>
          </a:prstGeom>
          <a:noFill/>
          <a:ln/>
        </p:spPr>
        <p:txBody>
          <a:bodyPr wrap="square" lIns="0" tIns="0" rIns="0" bIns="0" rtlCol="0" anchor="t"/>
          <a:lstStyle/>
          <a:p>
            <a:pPr algn="l" indent="0" marL="0">
              <a:lnSpc>
                <a:spcPts val="1680"/>
              </a:lnSpc>
              <a:buNone/>
            </a:pPr>
            <a:r>
              <a:rPr lang="en-US" sz="1400" b="1" dirty="0">
                <a:solidFill>
                  <a:srgbClr val="15253D"/>
                </a:solidFill>
                <a:latin typeface="Public Sans" pitchFamily="34" charset="0"/>
                <a:ea typeface="Public Sans" pitchFamily="34" charset="-122"/>
                <a:cs typeface="Public Sans" pitchFamily="34" charset="-120"/>
              </a:rPr>
              <a:t>What they’re running on</a:t>
            </a:r>
            <a:endParaRPr lang="en-US" sz="1400" dirty="0"/>
          </a:p>
        </p:txBody>
      </p:sp>
      <p:graphicFrame>
        <p:nvGraphicFramePr>
          <p:cNvPr id="17" name="table-367"/>
          <p:cNvGraphicFramePr>
            <a:graphicFrameLocks noGrp="1"/>
          </p:cNvGraphicFramePr>
          <p:nvPr>
            <p:extLst>
              <p:ext uri="{D42A27DB-BD31-4B8C-83A1-F6EECF244321}">
                <p14:modId xmlns:p14="http://schemas.microsoft.com/office/powerpoint/2010/main" val="1579011935"/>
              </p:ext>
            </p:extLst>
          </p:nvPr>
        </p:nvGraphicFramePr>
        <p:xfrm>
          <a:off x="812800" y="3619302"/>
          <a:ext cx="6350000" cy="914400"/>
        </p:xfrm>
        <a:graphic>
          <a:graphicData uri="http://schemas.openxmlformats.org/drawingml/2006/table">
            <a:tbl>
              <a:tblPr/>
              <a:tblGrid>
                <a:gridCol w="1460500"/>
                <a:gridCol w="4889500"/>
              </a:tblGrid>
              <a:tr h="300236">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Haredi draft</a:t>
                      </a:r>
                      <a:endParaRPr lang="en-US" sz="1200" dirty="0">
                        <a:latin typeface="Public Sans" charset="0"/>
                        <a:ea typeface="Public Sans" charset="0"/>
                        <a:cs typeface="Public Sans" charset="0"/>
                      </a:endParaRPr>
                    </a:p>
                  </a:txBody>
                  <a:tcPr marL="76200" marR="76200" marT="38100" marB="38100" anchor="t">
                    <a:lnL w="0" cap="flat" cmpd="sng" algn="ctr">
                      <a:noFill/>
                    </a:lnL>
                    <a:lnR w="0" cap="flat" cmpd="sng" algn="ctr">
                      <a:noFill/>
                    </a:lnR>
                    <a:lnT w="0" cap="flat" cmpd="sng" algn="ctr">
                      <a:noFill/>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Bill to enshrine Torah study as a basic value</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0" cap="flat" cmpd="sng" algn="ctr">
                      <a:noFill/>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Courts</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“Fundamentally reform the judicial system” (Ynet)</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The war &amp; Gaza</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Dismantle Hamas; no indefinite control (JPost’s summary)</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West Bank</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Opposes a Palestinian state; “not central” (Ynet)</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Religion &amp; state</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Orthodox control of marriage, conversion, kashrut</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Economy</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Deri: poor Haredi children owed equal minimum support</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bl>
          </a:graphicData>
        </a:graphic>
      </p:graphicFrame>
      <p:sp>
        <p:nvSpPr>
          <p:cNvPr id="11" name="shape-368"/>
          <p:cNvSpPr/>
          <p:nvPr/>
        </p:nvSpPr>
        <p:spPr>
          <a:xfrm>
            <a:off x="7416800" y="1633141"/>
            <a:ext cx="3962400" cy="1191220"/>
          </a:xfrm>
          <a:prstGeom prst="roundRect">
            <a:avLst>
              <a:gd name="adj" fmla="val 6397"/>
            </a:avLst>
          </a:prstGeom>
          <a:solidFill>
            <a:srgbClr val="FBF8F1"/>
          </a:solidFill>
          <a:ln w="6350">
            <a:solidFill>
              <a:srgbClr val="D9D1C1"/>
            </a:solidFill>
            <a:prstDash val="solid"/>
          </a:ln>
        </p:spPr>
      </p:sp>
      <p:sp>
        <p:nvSpPr>
          <p:cNvPr id="12" name="text-369"/>
          <p:cNvSpPr txBox="1"/>
          <p:nvPr/>
        </p:nvSpPr>
        <p:spPr>
          <a:xfrm>
            <a:off x="7550150" y="1728391"/>
            <a:ext cx="3789236" cy="213320"/>
          </a:xfrm>
          <a:prstGeom prst="rect">
            <a:avLst/>
          </a:prstGeom>
          <a:noFill/>
          <a:ln/>
        </p:spPr>
        <p:txBody>
          <a:bodyPr wrap="square" lIns="0" tIns="0" rIns="0" bIns="0" rtlCol="0" anchor="t"/>
          <a:lstStyle/>
          <a:p>
            <a:pPr algn="l" indent="0" marL="0">
              <a:lnSpc>
                <a:spcPts val="1680"/>
              </a:lnSpc>
              <a:buNone/>
            </a:pPr>
            <a:r>
              <a:rPr lang="en-US" sz="1400" b="1" dirty="0">
                <a:solidFill>
                  <a:srgbClr val="15253D"/>
                </a:solidFill>
                <a:latin typeface="Public Sans" pitchFamily="34" charset="0"/>
                <a:ea typeface="Public Sans" pitchFamily="34" charset="-122"/>
                <a:cs typeface="Public Sans" pitchFamily="34" charset="-120"/>
              </a:rPr>
              <a:t>Aryeh Deri</a:t>
            </a:r>
            <a:endParaRPr lang="en-US" sz="1400" dirty="0"/>
          </a:p>
        </p:txBody>
      </p:sp>
      <p:sp>
        <p:nvSpPr>
          <p:cNvPr id="13" name="text-370"/>
          <p:cNvSpPr txBox="1"/>
          <p:nvPr/>
        </p:nvSpPr>
        <p:spPr>
          <a:xfrm>
            <a:off x="7550150" y="1967111"/>
            <a:ext cx="3789236" cy="762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Born Feb 17, 1959, Meknes; immigrated 1968. Interior minister 1988. Bribery conviction 1999, 22 months. Supreme Court barred him from the cabinet, Jan 2023.</a:t>
            </a:r>
            <a:endParaRPr lang="en-US" sz="1200" dirty="0"/>
          </a:p>
        </p:txBody>
      </p:sp>
      <p:sp>
        <p:nvSpPr>
          <p:cNvPr id="14" name="shape-371"/>
          <p:cNvSpPr/>
          <p:nvPr/>
        </p:nvSpPr>
        <p:spPr>
          <a:xfrm>
            <a:off x="7416800" y="2900561"/>
            <a:ext cx="3962400" cy="977900"/>
          </a:xfrm>
          <a:prstGeom prst="roundRect">
            <a:avLst>
              <a:gd name="adj" fmla="val 7792"/>
            </a:avLst>
          </a:prstGeom>
          <a:solidFill>
            <a:srgbClr val="FBF8F1"/>
          </a:solidFill>
          <a:ln w="6350">
            <a:solidFill>
              <a:srgbClr val="D9D1C1"/>
            </a:solidFill>
            <a:prstDash val="solid"/>
          </a:ln>
        </p:spPr>
      </p:sp>
      <p:sp>
        <p:nvSpPr>
          <p:cNvPr id="15" name="text-372"/>
          <p:cNvSpPr txBox="1"/>
          <p:nvPr/>
        </p:nvSpPr>
        <p:spPr>
          <a:xfrm>
            <a:off x="7550150" y="2995811"/>
            <a:ext cx="3789236"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9A541A"/>
                </a:solidFill>
                <a:latin typeface="Public Sans" pitchFamily="34" charset="0"/>
                <a:ea typeface="Public Sans" pitchFamily="34" charset="-122"/>
                <a:cs typeface="Public Sans" pitchFamily="34" charset="-120"/>
              </a:rPr>
              <a:t>ON THE LIST</a:t>
            </a:r>
            <a:endParaRPr lang="en-US" sz="1200" dirty="0"/>
          </a:p>
        </p:txBody>
      </p:sp>
      <p:sp>
        <p:nvSpPr>
          <p:cNvPr id="16" name="text-373"/>
          <p:cNvSpPr txBox="1"/>
          <p:nvPr/>
        </p:nvSpPr>
        <p:spPr>
          <a:xfrm>
            <a:off x="7550150" y="3211711"/>
            <a:ext cx="3789236"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1 Aryeh Deri · 2 Yinon Azoulay</a:t>
            </a:r>
            <a:endParaRPr lang="en-US" sz="1200" dirty="0"/>
          </a:p>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3 Michael Malkieli</a:t>
            </a:r>
            <a:endParaRPr lang="en-US" sz="1200" dirty="0"/>
          </a:p>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6 Lt.-Col. (res.) Dror Amos, 25 years in the IDF</a:t>
            </a:r>
            <a:endParaRPr lang="en-US" sz="1200" dirty="0"/>
          </a:p>
        </p:txBody>
      </p:sp>
      <p:sp>
        <p:nvSpPr>
          <p:cNvPr id="17" name="shape-374"/>
          <p:cNvSpPr/>
          <p:nvPr/>
        </p:nvSpPr>
        <p:spPr>
          <a:xfrm>
            <a:off x="7416800" y="3954661"/>
            <a:ext cx="3962400" cy="1168400"/>
          </a:xfrm>
          <a:prstGeom prst="roundRect">
            <a:avLst>
              <a:gd name="adj" fmla="val 6522"/>
            </a:avLst>
          </a:prstGeom>
          <a:solidFill>
            <a:srgbClr val="FBF8F1"/>
          </a:solidFill>
          <a:ln w="6350">
            <a:solidFill>
              <a:srgbClr val="D9D1C1"/>
            </a:solidFill>
            <a:prstDash val="solid"/>
          </a:ln>
        </p:spPr>
      </p:sp>
      <p:sp>
        <p:nvSpPr>
          <p:cNvPr id="18" name="text-375"/>
          <p:cNvSpPr txBox="1"/>
          <p:nvPr/>
        </p:nvSpPr>
        <p:spPr>
          <a:xfrm>
            <a:off x="7550150" y="4049911"/>
            <a:ext cx="3789236"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9A541A"/>
                </a:solidFill>
                <a:latin typeface="Public Sans" pitchFamily="34" charset="0"/>
                <a:ea typeface="Public Sans" pitchFamily="34" charset="-122"/>
                <a:cs typeface="Public Sans" pitchFamily="34" charset="-120"/>
              </a:rPr>
              <a:t>COALITION</a:t>
            </a:r>
            <a:endParaRPr lang="en-US" sz="1200" dirty="0"/>
          </a:p>
        </p:txBody>
      </p:sp>
      <p:sp>
        <p:nvSpPr>
          <p:cNvPr id="19" name="text-376"/>
          <p:cNvSpPr txBox="1"/>
          <p:nvPr/>
        </p:nvSpPr>
        <p:spPr>
          <a:xfrm>
            <a:off x="7550150" y="4265811"/>
            <a:ext cx="3789236" cy="762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Deri: “We support Netanyahu, period” (Jul 16). Anonymous report: opposition until a draft law passes. Surplus partner: UTJ expected; signing not found.</a:t>
            </a:r>
            <a:endParaRPr lang="en-US" sz="1200" dirty="0"/>
          </a:p>
        </p:txBody>
      </p:sp>
      <p:sp>
        <p:nvSpPr>
          <p:cNvPr id="20" name="shape-377"/>
          <p:cNvSpPr/>
          <p:nvPr/>
        </p:nvSpPr>
        <p:spPr>
          <a:xfrm>
            <a:off x="7416800" y="5199261"/>
            <a:ext cx="3962400" cy="802481"/>
          </a:xfrm>
          <a:prstGeom prst="roundRect">
            <a:avLst>
              <a:gd name="adj" fmla="val 9496"/>
            </a:avLst>
          </a:prstGeom>
          <a:solidFill>
            <a:srgbClr val="FBF8F1"/>
          </a:solidFill>
          <a:ln w="6350">
            <a:solidFill>
              <a:srgbClr val="D9D1C1"/>
            </a:solidFill>
            <a:prstDash val="solid"/>
          </a:ln>
        </p:spPr>
      </p:sp>
      <p:sp>
        <p:nvSpPr>
          <p:cNvPr id="21" name="rule-378"/>
          <p:cNvSpPr/>
          <p:nvPr/>
        </p:nvSpPr>
        <p:spPr>
          <a:xfrm>
            <a:off x="7416800" y="5199261"/>
            <a:ext cx="38100" cy="802481"/>
          </a:xfrm>
          <a:prstGeom prst="rect">
            <a:avLst/>
          </a:prstGeom>
          <a:solidFill>
            <a:srgbClr val="15253D"/>
          </a:solidFill>
          <a:ln/>
        </p:spPr>
      </p:sp>
      <p:sp>
        <p:nvSpPr>
          <p:cNvPr id="22" name="text-379"/>
          <p:cNvSpPr txBox="1"/>
          <p:nvPr/>
        </p:nvSpPr>
        <p:spPr>
          <a:xfrm>
            <a:off x="7581900" y="5294511"/>
            <a:ext cx="3757009" cy="396081"/>
          </a:xfrm>
          <a:prstGeom prst="rect">
            <a:avLst/>
          </a:prstGeom>
          <a:noFill/>
          <a:ln/>
        </p:spPr>
        <p:txBody>
          <a:bodyPr wrap="square" lIns="0" tIns="0" rIns="0" bIns="0" rtlCol="0" anchor="t"/>
          <a:lstStyle/>
          <a:p>
            <a:pPr algn="l" indent="0" marL="0">
              <a:lnSpc>
                <a:spcPts val="1560"/>
              </a:lnSpc>
              <a:buNone/>
            </a:pPr>
            <a:r>
              <a:rPr lang="en-US" sz="1200" i="1" dirty="0">
                <a:solidFill>
                  <a:srgbClr val="1B2634"/>
                </a:solidFill>
                <a:latin typeface="Public Sans" pitchFamily="34" charset="0"/>
                <a:ea typeface="Public Sans" pitchFamily="34" charset="-122"/>
                <a:cs typeface="Public Sans" pitchFamily="34" charset="-120"/>
              </a:rPr>
              <a:t>“The army doesn’t want haredi soldiers, get that into your head.”</a:t>
            </a:r>
            <a:endParaRPr lang="en-US" sz="1200" dirty="0"/>
          </a:p>
        </p:txBody>
      </p:sp>
      <p:sp>
        <p:nvSpPr>
          <p:cNvPr id="23" name="text-380"/>
          <p:cNvSpPr txBox="1"/>
          <p:nvPr/>
        </p:nvSpPr>
        <p:spPr>
          <a:xfrm>
            <a:off x="7581900" y="5715992"/>
            <a:ext cx="3757009" cy="190500"/>
          </a:xfrm>
          <a:prstGeom prst="rect">
            <a:avLst/>
          </a:prstGeom>
          <a:noFill/>
          <a:ln/>
        </p:spPr>
        <p:txBody>
          <a:bodyPr wrap="square" lIns="0" tIns="0" rIns="0" bIns="0" rtlCol="0" anchor="t"/>
          <a:lstStyle/>
          <a:p>
            <a:pPr algn="l" indent="0" marL="0">
              <a:lnSpc>
                <a:spcPts val="1500"/>
              </a:lnSpc>
              <a:buNone/>
            </a:pPr>
            <a:r>
              <a:rPr lang="en-US" sz="1200" dirty="0">
                <a:solidFill>
                  <a:srgbClr val="4F5B69"/>
                </a:solidFill>
                <a:latin typeface="Public Sans" pitchFamily="34" charset="0"/>
                <a:ea typeface="Public Sans" pitchFamily="34" charset="-122"/>
                <a:cs typeface="Public Sans" pitchFamily="34" charset="-120"/>
              </a:rPr>
              <a:t>Aryeh Deri, Sep 3, 2026, via JPost</a:t>
            </a:r>
            <a:endParaRPr lang="en-US" sz="1200" dirty="0"/>
          </a:p>
        </p:txBody>
      </p:sp>
      <p:sp>
        <p:nvSpPr>
          <p:cNvPr id="24" name="text-381"/>
          <p:cNvSpPr txBox="1"/>
          <p:nvPr/>
        </p:nvSpPr>
        <p:spPr>
          <a:xfrm>
            <a:off x="812800" y="6253559"/>
            <a:ext cx="10762996" cy="19804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IDI Jun 28 2026 · JPost Aug 20, Sep 3, 8 &amp; 17 2026 · ToI Jul 12 &amp; Aug 21 2026 · Shomrim Jun 30 2026 · polls Sep 28–Oct 2 2026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EFE4"/>
        </a:solidFill>
      </p:bgPr>
    </p:bg>
    <p:spTree>
      <p:nvGrpSpPr>
        <p:cNvPr id="1" name=""/>
        <p:cNvGrpSpPr/>
        <p:nvPr/>
      </p:nvGrpSpPr>
      <p:grpSpPr>
        <a:xfrm>
          <a:off x="0" y="0"/>
          <a:ext cx="0" cy="0"/>
          <a:chOff x="0" y="0"/>
          <a:chExt cx="0" cy="0"/>
        </a:xfrm>
      </p:grpSpPr>
      <p:sp>
        <p:nvSpPr>
          <p:cNvPr id="2" name="shape-382"/>
          <p:cNvSpPr/>
          <p:nvPr/>
        </p:nvSpPr>
        <p:spPr>
          <a:xfrm>
            <a:off x="812800" y="812800"/>
            <a:ext cx="4297363" cy="223441"/>
          </a:xfrm>
          <a:prstGeom prst="roundRect">
            <a:avLst>
              <a:gd name="adj" fmla="val 17051"/>
            </a:avLst>
          </a:prstGeom>
          <a:solidFill>
            <a:srgbClr val="15253D"/>
          </a:solidFill>
          <a:ln/>
        </p:spPr>
      </p:sp>
      <p:sp>
        <p:nvSpPr>
          <p:cNvPr id="3" name="text-383"/>
          <p:cNvSpPr txBox="1"/>
          <p:nvPr/>
        </p:nvSpPr>
        <p:spPr>
          <a:xfrm>
            <a:off x="812800" y="812800"/>
            <a:ext cx="4399923" cy="223441"/>
          </a:xfrm>
          <a:prstGeom prst="rect">
            <a:avLst/>
          </a:prstGeom>
          <a:noFill/>
          <a:ln/>
        </p:spPr>
        <p:txBody>
          <a:bodyPr wrap="square" lIns="88900" tIns="12700" rIns="88900" bIns="12700" rtlCol="0" anchor="t"/>
          <a:lstStyle/>
          <a:p>
            <a:pPr algn="l" indent="0" marL="0">
              <a:lnSpc>
                <a:spcPts val="1560"/>
              </a:lnSpc>
              <a:buNone/>
            </a:pPr>
            <a:r>
              <a:rPr lang="en-US" sz="1200" b="1" dirty="0">
                <a:solidFill>
                  <a:srgbClr val="F4EFE4"/>
                </a:solidFill>
                <a:latin typeface="Public Sans" pitchFamily="34" charset="0"/>
                <a:ea typeface="Public Sans" pitchFamily="34" charset="-122"/>
                <a:cs typeface="Public Sans" pitchFamily="34" charset="-120"/>
              </a:rPr>
              <a:t>Netanyahu bloc · Yaakov Asher · Seats in latest polls: 7–8</a:t>
            </a:r>
            <a:endParaRPr lang="en-US" sz="1200" dirty="0"/>
          </a:p>
        </p:txBody>
      </p:sp>
      <p:sp>
        <p:nvSpPr>
          <p:cNvPr id="4" name="text-384"/>
          <p:cNvSpPr txBox="1"/>
          <p:nvPr/>
        </p:nvSpPr>
        <p:spPr>
          <a:xfrm>
            <a:off x="812800" y="1125141"/>
            <a:ext cx="10762996" cy="419100"/>
          </a:xfrm>
          <a:prstGeom prst="rect">
            <a:avLst/>
          </a:prstGeom>
          <a:noFill/>
          <a:ln/>
        </p:spPr>
        <p:txBody>
          <a:bodyPr wrap="square" lIns="0" tIns="0" rIns="0" bIns="0" rtlCol="0" anchor="t"/>
          <a:lstStyle/>
          <a:p>
            <a:pPr algn="l" indent="0" marL="0">
              <a:lnSpc>
                <a:spcPts val="3300"/>
              </a:lnSpc>
              <a:buNone/>
            </a:pPr>
            <a:r>
              <a:rPr lang="en-US" sz="3000" dirty="0">
                <a:solidFill>
                  <a:srgbClr val="15253D"/>
                </a:solidFill>
                <a:latin typeface="Libre Baskerville" pitchFamily="34" charset="0"/>
                <a:ea typeface="Libre Baskerville" pitchFamily="34" charset="-122"/>
                <a:cs typeface="Libre Baskerville" pitchFamily="34" charset="-120"/>
              </a:rPr>
              <a:t>United Torah Judaism</a:t>
            </a:r>
            <a:pPr algn="l" indent="0" marL="0">
              <a:lnSpc>
                <a:spcPts val="3300"/>
              </a:lnSpc>
              <a:buNone/>
            </a:pPr>
            <a:r>
              <a:rPr lang="en-US" sz="3000" dirty="0">
                <a:solidFill>
                  <a:srgbClr val="7A8591"/>
                </a:solidFill>
                <a:latin typeface="Libre Baskerville" pitchFamily="34" charset="0"/>
                <a:ea typeface="Libre Baskerville" pitchFamily="34" charset="-122"/>
                <a:cs typeface="Libre Baskerville" pitchFamily="34" charset="-120"/>
              </a:rPr>
              <a:t> — Yahadut HaTorah</a:t>
            </a:r>
            <a:endParaRPr lang="en-US" sz="3000" dirty="0"/>
          </a:p>
        </p:txBody>
      </p:sp>
      <p:sp>
        <p:nvSpPr>
          <p:cNvPr id="5" name="text-385"/>
          <p:cNvSpPr txBox="1"/>
          <p:nvPr/>
        </p:nvSpPr>
        <p:spPr>
          <a:xfrm>
            <a:off x="812800" y="1633141"/>
            <a:ext cx="6483350" cy="213320"/>
          </a:xfrm>
          <a:prstGeom prst="rect">
            <a:avLst/>
          </a:prstGeom>
          <a:noFill/>
          <a:ln/>
        </p:spPr>
        <p:txBody>
          <a:bodyPr wrap="square" lIns="0" tIns="0" rIns="0" bIns="0" rtlCol="0" anchor="t"/>
          <a:lstStyle/>
          <a:p>
            <a:pPr algn="l" indent="0" marL="0">
              <a:lnSpc>
                <a:spcPts val="1680"/>
              </a:lnSpc>
              <a:buNone/>
            </a:pPr>
            <a:r>
              <a:rPr lang="en-US" sz="1400" b="1" dirty="0">
                <a:solidFill>
                  <a:srgbClr val="15253D"/>
                </a:solidFill>
                <a:latin typeface="Public Sans" pitchFamily="34" charset="0"/>
                <a:ea typeface="Public Sans" pitchFamily="34" charset="-122"/>
                <a:cs typeface="Public Sans" pitchFamily="34" charset="-120"/>
              </a:rPr>
              <a:t>Who they are</a:t>
            </a:r>
            <a:endParaRPr lang="en-US" sz="1400" dirty="0"/>
          </a:p>
        </p:txBody>
      </p:sp>
      <p:sp>
        <p:nvSpPr>
          <p:cNvPr id="6" name="text-386"/>
          <p:cNvSpPr txBox="1"/>
          <p:nvPr/>
        </p:nvSpPr>
        <p:spPr>
          <a:xfrm>
            <a:off x="812800" y="1859161"/>
            <a:ext cx="6483350"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Joint list of Agudat Yisrael (Hasidic) and Degel HaTorah (Lithuanian) since 1992. Quit the government July 2025 over the draft. Sept 2026: Rav Landau dropped Gafni and Maklev; Porush and Stark formed a third faction, Homat Torat Yisrael.</a:t>
            </a:r>
            <a:endParaRPr lang="en-US" sz="1200" dirty="0"/>
          </a:p>
        </p:txBody>
      </p:sp>
      <p:sp>
        <p:nvSpPr>
          <p:cNvPr id="7" name="text-387"/>
          <p:cNvSpPr txBox="1"/>
          <p:nvPr/>
        </p:nvSpPr>
        <p:spPr>
          <a:xfrm>
            <a:off x="812800" y="2506861"/>
            <a:ext cx="6483350" cy="213320"/>
          </a:xfrm>
          <a:prstGeom prst="rect">
            <a:avLst/>
          </a:prstGeom>
          <a:noFill/>
          <a:ln/>
        </p:spPr>
        <p:txBody>
          <a:bodyPr wrap="square" lIns="0" tIns="0" rIns="0" bIns="0" rtlCol="0" anchor="t"/>
          <a:lstStyle/>
          <a:p>
            <a:pPr algn="l" indent="0" marL="0">
              <a:lnSpc>
                <a:spcPts val="1680"/>
              </a:lnSpc>
              <a:buNone/>
            </a:pPr>
            <a:r>
              <a:rPr lang="en-US" sz="1400" b="1" dirty="0">
                <a:solidFill>
                  <a:srgbClr val="15253D"/>
                </a:solidFill>
                <a:latin typeface="Public Sans" pitchFamily="34" charset="0"/>
                <a:ea typeface="Public Sans" pitchFamily="34" charset="-122"/>
                <a:cs typeface="Public Sans" pitchFamily="34" charset="-120"/>
              </a:rPr>
              <a:t>Who votes for them</a:t>
            </a:r>
            <a:endParaRPr lang="en-US" sz="1400" dirty="0"/>
          </a:p>
        </p:txBody>
      </p:sp>
      <p:sp>
        <p:nvSpPr>
          <p:cNvPr id="8" name="text-388"/>
          <p:cNvSpPr txBox="1"/>
          <p:nvPr/>
        </p:nvSpPr>
        <p:spPr>
          <a:xfrm>
            <a:off x="812800" y="2732881"/>
            <a:ext cx="6483350"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58% of Haredim voted UTJ in 2022; 86% UTJ or Shas (IDI). 2022: 280,194 votes, 5.88%, 7 seats (since 2019: 8 · 7 · 7 · 7 · 7). 2021: Modi’in Illit 78%, Bnei Brak 60.9% (ToI). 45% of Haredi first-time voters (N12).</a:t>
            </a:r>
            <a:endParaRPr lang="en-US" sz="1200" dirty="0"/>
          </a:p>
        </p:txBody>
      </p:sp>
      <p:sp>
        <p:nvSpPr>
          <p:cNvPr id="9" name="text-389"/>
          <p:cNvSpPr txBox="1"/>
          <p:nvPr/>
        </p:nvSpPr>
        <p:spPr>
          <a:xfrm>
            <a:off x="812800" y="3380581"/>
            <a:ext cx="6483350" cy="213320"/>
          </a:xfrm>
          <a:prstGeom prst="rect">
            <a:avLst/>
          </a:prstGeom>
          <a:noFill/>
          <a:ln/>
        </p:spPr>
        <p:txBody>
          <a:bodyPr wrap="square" lIns="0" tIns="0" rIns="0" bIns="0" rtlCol="0" anchor="t"/>
          <a:lstStyle/>
          <a:p>
            <a:pPr algn="l" indent="0" marL="0">
              <a:lnSpc>
                <a:spcPts val="1680"/>
              </a:lnSpc>
              <a:buNone/>
            </a:pPr>
            <a:r>
              <a:rPr lang="en-US" sz="1400" b="1" dirty="0">
                <a:solidFill>
                  <a:srgbClr val="15253D"/>
                </a:solidFill>
                <a:latin typeface="Public Sans" pitchFamily="34" charset="0"/>
                <a:ea typeface="Public Sans" pitchFamily="34" charset="-122"/>
                <a:cs typeface="Public Sans" pitchFamily="34" charset="-120"/>
              </a:rPr>
              <a:t>What they’re running on</a:t>
            </a:r>
            <a:endParaRPr lang="en-US" sz="1400" dirty="0"/>
          </a:p>
        </p:txBody>
      </p:sp>
      <p:graphicFrame>
        <p:nvGraphicFramePr>
          <p:cNvPr id="18" name="table-390"/>
          <p:cNvGraphicFramePr>
            <a:graphicFrameLocks noGrp="1"/>
          </p:cNvGraphicFramePr>
          <p:nvPr>
            <p:extLst>
              <p:ext uri="{D42A27DB-BD31-4B8C-83A1-F6EECF244321}">
                <p14:modId xmlns:p14="http://schemas.microsoft.com/office/powerpoint/2010/main" val="1579011935"/>
              </p:ext>
            </p:extLst>
          </p:nvPr>
        </p:nvGraphicFramePr>
        <p:xfrm>
          <a:off x="812800" y="3619302"/>
          <a:ext cx="6350000" cy="914400"/>
        </p:xfrm>
        <a:graphic>
          <a:graphicData uri="http://schemas.openxmlformats.org/drawingml/2006/table">
            <a:tbl>
              <a:tblPr/>
              <a:tblGrid>
                <a:gridCol w="1460500"/>
                <a:gridCol w="4889500"/>
              </a:tblGrid>
              <a:tr h="300236">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Haredi draft</a:t>
                      </a:r>
                      <a:endParaRPr lang="en-US" sz="1200" dirty="0">
                        <a:latin typeface="Public Sans" charset="0"/>
                        <a:ea typeface="Public Sans" charset="0"/>
                        <a:cs typeface="Public Sans" charset="0"/>
                      </a:endParaRPr>
                    </a:p>
                  </a:txBody>
                  <a:tcPr marL="76200" marR="76200" marT="38100" marB="38100" anchor="t">
                    <a:lnL w="0" cap="flat" cmpd="sng" algn="ctr">
                      <a:noFill/>
                    </a:lnL>
                    <a:lnR w="0" cap="flat" cmpd="sng" algn="ctr">
                      <a:noFill/>
                    </a:lnR>
                    <a:lnT w="0" cap="flat" cmpd="sng" algn="ctr">
                      <a:noFill/>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No government without a law on Torah learners’ status</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0" cap="flat" cmpd="sng" algn="ctr">
                      <a:noFill/>
                    </a:lnT>
                    <a:lnB w="6350" cap="flat" cmpd="sng" algn="ctr">
                      <a:solidFill>
                        <a:srgbClr val="D2CEC4"/>
                      </a:solidFill>
                      <a:prstDash val="solid"/>
                      <a:round/>
                      <a:headEnd type="none" w="med" len="med"/>
                      <a:tailEnd type="none" w="med" len="med"/>
                    </a:lnB>
                  </a:tcPr>
                </a:tc>
              </a:tr>
              <a:tr h="4939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Courts</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“The Supreme Court has accumulated excessive power” (party position as reported by Ynet, Sep 2026)</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The war &amp; Gaza</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“Focuses primarily on domestic issues” (JPost)</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West Bank</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No unified policy; Degel “more moderate” (Ynet)</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Religion &amp; state</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As Shas: Orthodox control of marriage and conversion</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Economy</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Housing for Haredi communities; yeshiva funding</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bl>
          </a:graphicData>
        </a:graphic>
      </p:graphicFrame>
      <p:sp>
        <p:nvSpPr>
          <p:cNvPr id="11" name="shape-391"/>
          <p:cNvSpPr/>
          <p:nvPr/>
        </p:nvSpPr>
        <p:spPr>
          <a:xfrm>
            <a:off x="7416800" y="1633141"/>
            <a:ext cx="3962400" cy="1000720"/>
          </a:xfrm>
          <a:prstGeom prst="roundRect">
            <a:avLst>
              <a:gd name="adj" fmla="val 7615"/>
            </a:avLst>
          </a:prstGeom>
          <a:solidFill>
            <a:srgbClr val="FBF8F1"/>
          </a:solidFill>
          <a:ln w="6350">
            <a:solidFill>
              <a:srgbClr val="D9D1C1"/>
            </a:solidFill>
            <a:prstDash val="solid"/>
          </a:ln>
        </p:spPr>
      </p:sp>
      <p:sp>
        <p:nvSpPr>
          <p:cNvPr id="12" name="text-392"/>
          <p:cNvSpPr txBox="1"/>
          <p:nvPr/>
        </p:nvSpPr>
        <p:spPr>
          <a:xfrm>
            <a:off x="7550150" y="1728391"/>
            <a:ext cx="3789236" cy="213320"/>
          </a:xfrm>
          <a:prstGeom prst="rect">
            <a:avLst/>
          </a:prstGeom>
          <a:noFill/>
          <a:ln/>
        </p:spPr>
        <p:txBody>
          <a:bodyPr wrap="square" lIns="0" tIns="0" rIns="0" bIns="0" rtlCol="0" anchor="t"/>
          <a:lstStyle/>
          <a:p>
            <a:pPr algn="l" indent="0" marL="0">
              <a:lnSpc>
                <a:spcPts val="1680"/>
              </a:lnSpc>
              <a:buNone/>
            </a:pPr>
            <a:r>
              <a:rPr lang="en-US" sz="1400" b="1" dirty="0">
                <a:solidFill>
                  <a:srgbClr val="15253D"/>
                </a:solidFill>
                <a:latin typeface="Public Sans" pitchFamily="34" charset="0"/>
                <a:ea typeface="Public Sans" pitchFamily="34" charset="-122"/>
                <a:cs typeface="Public Sans" pitchFamily="34" charset="-120"/>
              </a:rPr>
              <a:t>Yaakov Asher (Degel HaTorah)</a:t>
            </a:r>
            <a:endParaRPr lang="en-US" sz="1400" dirty="0"/>
          </a:p>
        </p:txBody>
      </p:sp>
      <p:sp>
        <p:nvSpPr>
          <p:cNvPr id="13" name="text-393"/>
          <p:cNvSpPr txBox="1"/>
          <p:nvPr/>
        </p:nvSpPr>
        <p:spPr>
          <a:xfrm>
            <a:off x="7550150" y="1967111"/>
            <a:ext cx="3789236"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Born July 2, 1965, Ramat Gan. Mayor of Bnei Brak from 2008; MK since 2013 (some sources: 2016). Quit as Interior Committee chair over the draft.</a:t>
            </a:r>
            <a:endParaRPr lang="en-US" sz="1200" dirty="0"/>
          </a:p>
        </p:txBody>
      </p:sp>
      <p:sp>
        <p:nvSpPr>
          <p:cNvPr id="14" name="shape-394"/>
          <p:cNvSpPr/>
          <p:nvPr/>
        </p:nvSpPr>
        <p:spPr>
          <a:xfrm>
            <a:off x="7416800" y="2710061"/>
            <a:ext cx="3962400" cy="1168400"/>
          </a:xfrm>
          <a:prstGeom prst="roundRect">
            <a:avLst>
              <a:gd name="adj" fmla="val 6522"/>
            </a:avLst>
          </a:prstGeom>
          <a:solidFill>
            <a:srgbClr val="FBF8F1"/>
          </a:solidFill>
          <a:ln w="6350">
            <a:solidFill>
              <a:srgbClr val="D9D1C1"/>
            </a:solidFill>
            <a:prstDash val="solid"/>
          </a:ln>
        </p:spPr>
      </p:sp>
      <p:sp>
        <p:nvSpPr>
          <p:cNvPr id="15" name="text-395"/>
          <p:cNvSpPr txBox="1"/>
          <p:nvPr/>
        </p:nvSpPr>
        <p:spPr>
          <a:xfrm>
            <a:off x="7550150" y="2805311"/>
            <a:ext cx="3789236"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9A541A"/>
                </a:solidFill>
                <a:latin typeface="Public Sans" pitchFamily="34" charset="0"/>
                <a:ea typeface="Public Sans" pitchFamily="34" charset="-122"/>
                <a:cs typeface="Public Sans" pitchFamily="34" charset="-120"/>
              </a:rPr>
              <a:t>ON THE LIST</a:t>
            </a:r>
            <a:endParaRPr lang="en-US" sz="1200" dirty="0"/>
          </a:p>
        </p:txBody>
      </p:sp>
      <p:sp>
        <p:nvSpPr>
          <p:cNvPr id="16" name="text-396"/>
          <p:cNvSpPr txBox="1"/>
          <p:nvPr/>
        </p:nvSpPr>
        <p:spPr>
          <a:xfrm>
            <a:off x="7550150" y="3021211"/>
            <a:ext cx="3789236" cy="762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1 Yaakov Asher (Degel)</a:t>
            </a:r>
            <a:endParaRPr lang="en-US" sz="1200" dirty="0"/>
          </a:p>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2 Goldknopf (Agudah/Gur)</a:t>
            </a:r>
            <a:endParaRPr lang="en-US" sz="1200" dirty="0"/>
          </a:p>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4 Meir Porush · 6 Elyakim Stark (Homat Torat Yisrael)</a:t>
            </a:r>
            <a:endParaRPr lang="en-US" sz="1200" dirty="0"/>
          </a:p>
        </p:txBody>
      </p:sp>
      <p:sp>
        <p:nvSpPr>
          <p:cNvPr id="17" name="shape-397"/>
          <p:cNvSpPr/>
          <p:nvPr/>
        </p:nvSpPr>
        <p:spPr>
          <a:xfrm>
            <a:off x="7416800" y="3954661"/>
            <a:ext cx="3962400" cy="1168400"/>
          </a:xfrm>
          <a:prstGeom prst="roundRect">
            <a:avLst>
              <a:gd name="adj" fmla="val 6522"/>
            </a:avLst>
          </a:prstGeom>
          <a:solidFill>
            <a:srgbClr val="FBF8F1"/>
          </a:solidFill>
          <a:ln w="6350">
            <a:solidFill>
              <a:srgbClr val="D9D1C1"/>
            </a:solidFill>
            <a:prstDash val="solid"/>
          </a:ln>
        </p:spPr>
      </p:sp>
      <p:sp>
        <p:nvSpPr>
          <p:cNvPr id="18" name="text-398"/>
          <p:cNvSpPr txBox="1"/>
          <p:nvPr/>
        </p:nvSpPr>
        <p:spPr>
          <a:xfrm>
            <a:off x="7550150" y="4049911"/>
            <a:ext cx="3789236"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9A541A"/>
                </a:solidFill>
                <a:latin typeface="Public Sans" pitchFamily="34" charset="0"/>
                <a:ea typeface="Public Sans" pitchFamily="34" charset="-122"/>
                <a:cs typeface="Public Sans" pitchFamily="34" charset="-120"/>
              </a:rPr>
              <a:t>COALITION</a:t>
            </a:r>
            <a:endParaRPr lang="en-US" sz="1200" dirty="0"/>
          </a:p>
        </p:txBody>
      </p:sp>
      <p:sp>
        <p:nvSpPr>
          <p:cNvPr id="19" name="text-399"/>
          <p:cNvSpPr txBox="1"/>
          <p:nvPr/>
        </p:nvSpPr>
        <p:spPr>
          <a:xfrm>
            <a:off x="7550150" y="4265811"/>
            <a:ext cx="3789236" cy="762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No government without a yeshiva-status law, whoever leads. Asher denied a report that two MKs might let Eisenkot form a government. Surplus partner: Shas expected; signing not found.</a:t>
            </a:r>
            <a:endParaRPr lang="en-US" sz="1200" dirty="0"/>
          </a:p>
        </p:txBody>
      </p:sp>
      <p:sp>
        <p:nvSpPr>
          <p:cNvPr id="20" name="shape-400"/>
          <p:cNvSpPr/>
          <p:nvPr/>
        </p:nvSpPr>
        <p:spPr>
          <a:xfrm>
            <a:off x="7416800" y="5199261"/>
            <a:ext cx="3962400" cy="604441"/>
          </a:xfrm>
          <a:prstGeom prst="roundRect">
            <a:avLst>
              <a:gd name="adj" fmla="val 12607"/>
            </a:avLst>
          </a:prstGeom>
          <a:solidFill>
            <a:srgbClr val="FBF8F1"/>
          </a:solidFill>
          <a:ln w="6350">
            <a:solidFill>
              <a:srgbClr val="D9D1C1"/>
            </a:solidFill>
            <a:prstDash val="solid"/>
          </a:ln>
        </p:spPr>
      </p:sp>
      <p:sp>
        <p:nvSpPr>
          <p:cNvPr id="21" name="rule-401"/>
          <p:cNvSpPr/>
          <p:nvPr/>
        </p:nvSpPr>
        <p:spPr>
          <a:xfrm>
            <a:off x="7416800" y="5199261"/>
            <a:ext cx="38100" cy="604441"/>
          </a:xfrm>
          <a:prstGeom prst="rect">
            <a:avLst/>
          </a:prstGeom>
          <a:solidFill>
            <a:srgbClr val="15253D"/>
          </a:solidFill>
          <a:ln/>
        </p:spPr>
      </p:sp>
      <p:sp>
        <p:nvSpPr>
          <p:cNvPr id="22" name="text-402"/>
          <p:cNvSpPr txBox="1"/>
          <p:nvPr/>
        </p:nvSpPr>
        <p:spPr>
          <a:xfrm>
            <a:off x="7581900" y="5294511"/>
            <a:ext cx="3757009" cy="198041"/>
          </a:xfrm>
          <a:prstGeom prst="rect">
            <a:avLst/>
          </a:prstGeom>
          <a:noFill/>
          <a:ln/>
        </p:spPr>
        <p:txBody>
          <a:bodyPr wrap="square" lIns="0" tIns="0" rIns="0" bIns="0" rtlCol="0" anchor="t"/>
          <a:lstStyle/>
          <a:p>
            <a:pPr algn="l" indent="0" marL="0">
              <a:lnSpc>
                <a:spcPts val="1560"/>
              </a:lnSpc>
              <a:buNone/>
            </a:pPr>
            <a:r>
              <a:rPr lang="en-US" sz="1200" i="1" dirty="0">
                <a:solidFill>
                  <a:srgbClr val="1B2634"/>
                </a:solidFill>
                <a:latin typeface="Public Sans" pitchFamily="34" charset="0"/>
                <a:ea typeface="Public Sans" pitchFamily="34" charset="-122"/>
                <a:cs typeface="Public Sans" pitchFamily="34" charset="-120"/>
              </a:rPr>
              <a:t>“We no longer have trust in Netanyahu.”</a:t>
            </a:r>
            <a:endParaRPr lang="en-US" sz="1200" dirty="0"/>
          </a:p>
        </p:txBody>
      </p:sp>
      <p:sp>
        <p:nvSpPr>
          <p:cNvPr id="23" name="text-403"/>
          <p:cNvSpPr txBox="1"/>
          <p:nvPr/>
        </p:nvSpPr>
        <p:spPr>
          <a:xfrm>
            <a:off x="7581900" y="5517952"/>
            <a:ext cx="3757009" cy="190500"/>
          </a:xfrm>
          <a:prstGeom prst="rect">
            <a:avLst/>
          </a:prstGeom>
          <a:noFill/>
          <a:ln/>
        </p:spPr>
        <p:txBody>
          <a:bodyPr wrap="square" lIns="0" tIns="0" rIns="0" bIns="0" rtlCol="0" anchor="t"/>
          <a:lstStyle/>
          <a:p>
            <a:pPr algn="l" indent="0" marL="0">
              <a:lnSpc>
                <a:spcPts val="1500"/>
              </a:lnSpc>
              <a:buNone/>
            </a:pPr>
            <a:r>
              <a:rPr lang="en-US" sz="1200" dirty="0">
                <a:solidFill>
                  <a:srgbClr val="4F5B69"/>
                </a:solidFill>
                <a:latin typeface="Public Sans" pitchFamily="34" charset="0"/>
                <a:ea typeface="Public Sans" pitchFamily="34" charset="-122"/>
                <a:cs typeface="Public Sans" pitchFamily="34" charset="-120"/>
              </a:rPr>
              <a:t>Rav Dov Landau, letter (JPost, May 25, 2026)</a:t>
            </a:r>
            <a:endParaRPr lang="en-US" sz="1200" dirty="0"/>
          </a:p>
        </p:txBody>
      </p:sp>
      <p:sp>
        <p:nvSpPr>
          <p:cNvPr id="24" name="text-404"/>
          <p:cNvSpPr txBox="1"/>
          <p:nvPr/>
        </p:nvSpPr>
        <p:spPr>
          <a:xfrm>
            <a:off x="812800" y="6055519"/>
            <a:ext cx="10762996" cy="39608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IDI Jun 28 2026 · JPost May 25 &amp; Sep 8 2026 · Davar &amp; INN Sep 8 2026 · Matzav Sep 28 2026 · ToI Sep 29 2026 · Ynet Sep 2026 · polls Sep 28–Oct 2 2026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EFE4"/>
        </a:solidFill>
      </p:bgPr>
    </p:bg>
    <p:spTree>
      <p:nvGrpSpPr>
        <p:cNvPr id="1" name=""/>
        <p:cNvGrpSpPr/>
        <p:nvPr/>
      </p:nvGrpSpPr>
      <p:grpSpPr>
        <a:xfrm>
          <a:off x="0" y="0"/>
          <a:ext cx="0" cy="0"/>
          <a:chOff x="0" y="0"/>
          <a:chExt cx="0" cy="0"/>
        </a:xfrm>
      </p:grpSpPr>
      <p:sp>
        <p:nvSpPr>
          <p:cNvPr id="2" name="shape-405"/>
          <p:cNvSpPr/>
          <p:nvPr/>
        </p:nvSpPr>
        <p:spPr>
          <a:xfrm>
            <a:off x="812800" y="812800"/>
            <a:ext cx="4546798" cy="223441"/>
          </a:xfrm>
          <a:prstGeom prst="roundRect">
            <a:avLst>
              <a:gd name="adj" fmla="val 17051"/>
            </a:avLst>
          </a:prstGeom>
          <a:solidFill>
            <a:srgbClr val="15253D"/>
          </a:solidFill>
          <a:ln/>
        </p:spPr>
      </p:sp>
      <p:sp>
        <p:nvSpPr>
          <p:cNvPr id="3" name="text-406"/>
          <p:cNvSpPr txBox="1"/>
          <p:nvPr/>
        </p:nvSpPr>
        <p:spPr>
          <a:xfrm>
            <a:off x="812800" y="812800"/>
            <a:ext cx="4653100" cy="223441"/>
          </a:xfrm>
          <a:prstGeom prst="rect">
            <a:avLst/>
          </a:prstGeom>
          <a:noFill/>
          <a:ln/>
        </p:spPr>
        <p:txBody>
          <a:bodyPr wrap="square" lIns="88900" tIns="12700" rIns="88900" bIns="12700" rtlCol="0" anchor="t"/>
          <a:lstStyle/>
          <a:p>
            <a:pPr algn="l" indent="0" marL="0">
              <a:lnSpc>
                <a:spcPts val="1560"/>
              </a:lnSpc>
              <a:buNone/>
            </a:pPr>
            <a:r>
              <a:rPr lang="en-US" sz="1200" b="1" dirty="0">
                <a:solidFill>
                  <a:srgbClr val="F4EFE4"/>
                </a:solidFill>
                <a:latin typeface="Public Sans" pitchFamily="34" charset="0"/>
                <a:ea typeface="Public Sans" pitchFamily="34" charset="-122"/>
                <a:cs typeface="Public Sans" pitchFamily="34" charset="-120"/>
              </a:rPr>
              <a:t>Netanyahu bloc · Bezalel Smotrich · Seats in latest polls: 5–7</a:t>
            </a:r>
            <a:endParaRPr lang="en-US" sz="1200" dirty="0"/>
          </a:p>
        </p:txBody>
      </p:sp>
      <p:sp>
        <p:nvSpPr>
          <p:cNvPr id="4" name="text-407"/>
          <p:cNvSpPr txBox="1"/>
          <p:nvPr/>
        </p:nvSpPr>
        <p:spPr>
          <a:xfrm>
            <a:off x="812800" y="1125141"/>
            <a:ext cx="10762996" cy="419100"/>
          </a:xfrm>
          <a:prstGeom prst="rect">
            <a:avLst/>
          </a:prstGeom>
          <a:noFill/>
          <a:ln/>
        </p:spPr>
        <p:txBody>
          <a:bodyPr wrap="square" lIns="0" tIns="0" rIns="0" bIns="0" rtlCol="0" anchor="t"/>
          <a:lstStyle/>
          <a:p>
            <a:pPr algn="l" indent="0" marL="0">
              <a:lnSpc>
                <a:spcPts val="3300"/>
              </a:lnSpc>
              <a:buNone/>
            </a:pPr>
            <a:r>
              <a:rPr lang="en-US" sz="3000" dirty="0">
                <a:solidFill>
                  <a:srgbClr val="15253D"/>
                </a:solidFill>
                <a:latin typeface="Libre Baskerville" pitchFamily="34" charset="0"/>
                <a:ea typeface="Libre Baskerville" pitchFamily="34" charset="-122"/>
                <a:cs typeface="Libre Baskerville" pitchFamily="34" charset="-120"/>
              </a:rPr>
              <a:t>Religious Zionism–Zehut</a:t>
            </a:r>
            <a:endParaRPr lang="en-US" sz="3000" dirty="0"/>
          </a:p>
        </p:txBody>
      </p:sp>
      <p:sp>
        <p:nvSpPr>
          <p:cNvPr id="5" name="text-408"/>
          <p:cNvSpPr txBox="1"/>
          <p:nvPr/>
        </p:nvSpPr>
        <p:spPr>
          <a:xfrm>
            <a:off x="812800" y="1633141"/>
            <a:ext cx="6483350" cy="213320"/>
          </a:xfrm>
          <a:prstGeom prst="rect">
            <a:avLst/>
          </a:prstGeom>
          <a:noFill/>
          <a:ln/>
        </p:spPr>
        <p:txBody>
          <a:bodyPr wrap="square" lIns="0" tIns="0" rIns="0" bIns="0" rtlCol="0" anchor="t"/>
          <a:lstStyle/>
          <a:p>
            <a:pPr algn="l" indent="0" marL="0">
              <a:lnSpc>
                <a:spcPts val="1680"/>
              </a:lnSpc>
              <a:buNone/>
            </a:pPr>
            <a:r>
              <a:rPr lang="en-US" sz="1400" b="1" dirty="0">
                <a:solidFill>
                  <a:srgbClr val="15253D"/>
                </a:solidFill>
                <a:latin typeface="Public Sans" pitchFamily="34" charset="0"/>
                <a:ea typeface="Public Sans" pitchFamily="34" charset="-122"/>
                <a:cs typeface="Public Sans" pitchFamily="34" charset="-120"/>
              </a:rPr>
              <a:t>Who they are</a:t>
            </a:r>
            <a:endParaRPr lang="en-US" sz="1400" dirty="0"/>
          </a:p>
        </p:txBody>
      </p:sp>
      <p:sp>
        <p:nvSpPr>
          <p:cNvPr id="6" name="text-409"/>
          <p:cNvSpPr txBox="1"/>
          <p:nvPr/>
        </p:nvSpPr>
        <p:spPr>
          <a:xfrm>
            <a:off x="812800" y="1859161"/>
            <a:ext cx="6483350"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Roots in Tkuma, which split from the National Religious Party in 1998. Smotrich chair since 2019. Ran with Otzma in 2022 for 14 seats, then split. Refused a 2026 joint run with Ben-Gvir; on Sep 1 formed a technical bloc with Feiglin’s Zehut.</a:t>
            </a:r>
            <a:endParaRPr lang="en-US" sz="1200" dirty="0"/>
          </a:p>
        </p:txBody>
      </p:sp>
      <p:sp>
        <p:nvSpPr>
          <p:cNvPr id="7" name="text-410"/>
          <p:cNvSpPr txBox="1"/>
          <p:nvPr/>
        </p:nvSpPr>
        <p:spPr>
          <a:xfrm>
            <a:off x="812800" y="2506861"/>
            <a:ext cx="6483350" cy="213320"/>
          </a:xfrm>
          <a:prstGeom prst="rect">
            <a:avLst/>
          </a:prstGeom>
          <a:noFill/>
          <a:ln/>
        </p:spPr>
        <p:txBody>
          <a:bodyPr wrap="square" lIns="0" tIns="0" rIns="0" bIns="0" rtlCol="0" anchor="t"/>
          <a:lstStyle/>
          <a:p>
            <a:pPr algn="l" indent="0" marL="0">
              <a:lnSpc>
                <a:spcPts val="1680"/>
              </a:lnSpc>
              <a:buNone/>
            </a:pPr>
            <a:r>
              <a:rPr lang="en-US" sz="1400" b="1" dirty="0">
                <a:solidFill>
                  <a:srgbClr val="15253D"/>
                </a:solidFill>
                <a:latin typeface="Public Sans" pitchFamily="34" charset="0"/>
                <a:ea typeface="Public Sans" pitchFamily="34" charset="-122"/>
                <a:cs typeface="Public Sans" pitchFamily="34" charset="-120"/>
              </a:rPr>
              <a:t>Who votes for them</a:t>
            </a:r>
            <a:endParaRPr lang="en-US" sz="1400" dirty="0"/>
          </a:p>
        </p:txBody>
      </p:sp>
      <p:sp>
        <p:nvSpPr>
          <p:cNvPr id="8" name="text-411"/>
          <p:cNvSpPr txBox="1"/>
          <p:nvPr/>
        </p:nvSpPr>
        <p:spPr>
          <a:xfrm>
            <a:off x="812800" y="2732881"/>
            <a:ext cx="6483350"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Draws “mainstream Religious Zionists” (Finkelstein). 2022 joint list: 516,470 votes, 10.84%, 14 seats; 45% of national-religious voters (IDI). It won 22% in settlements vs ~11% nationally (Washington Institute).</a:t>
            </a:r>
            <a:endParaRPr lang="en-US" sz="1200" dirty="0"/>
          </a:p>
        </p:txBody>
      </p:sp>
      <p:sp>
        <p:nvSpPr>
          <p:cNvPr id="9" name="text-412"/>
          <p:cNvSpPr txBox="1"/>
          <p:nvPr/>
        </p:nvSpPr>
        <p:spPr>
          <a:xfrm>
            <a:off x="812800" y="3380581"/>
            <a:ext cx="6483350" cy="213320"/>
          </a:xfrm>
          <a:prstGeom prst="rect">
            <a:avLst/>
          </a:prstGeom>
          <a:noFill/>
          <a:ln/>
        </p:spPr>
        <p:txBody>
          <a:bodyPr wrap="square" lIns="0" tIns="0" rIns="0" bIns="0" rtlCol="0" anchor="t"/>
          <a:lstStyle/>
          <a:p>
            <a:pPr algn="l" indent="0" marL="0">
              <a:lnSpc>
                <a:spcPts val="1680"/>
              </a:lnSpc>
              <a:buNone/>
            </a:pPr>
            <a:r>
              <a:rPr lang="en-US" sz="1400" b="1" dirty="0">
                <a:solidFill>
                  <a:srgbClr val="15253D"/>
                </a:solidFill>
                <a:latin typeface="Public Sans" pitchFamily="34" charset="0"/>
                <a:ea typeface="Public Sans" pitchFamily="34" charset="-122"/>
                <a:cs typeface="Public Sans" pitchFamily="34" charset="-120"/>
              </a:rPr>
              <a:t>What they’re running on</a:t>
            </a:r>
            <a:endParaRPr lang="en-US" sz="1400" dirty="0"/>
          </a:p>
        </p:txBody>
      </p:sp>
      <p:graphicFrame>
        <p:nvGraphicFramePr>
          <p:cNvPr id="19" name="table-413"/>
          <p:cNvGraphicFramePr>
            <a:graphicFrameLocks noGrp="1"/>
          </p:cNvGraphicFramePr>
          <p:nvPr>
            <p:extLst>
              <p:ext uri="{D42A27DB-BD31-4B8C-83A1-F6EECF244321}">
                <p14:modId xmlns:p14="http://schemas.microsoft.com/office/powerpoint/2010/main" val="1579011935"/>
              </p:ext>
            </p:extLst>
          </p:nvPr>
        </p:nvGraphicFramePr>
        <p:xfrm>
          <a:off x="812800" y="3619302"/>
          <a:ext cx="6350000" cy="914400"/>
        </p:xfrm>
        <a:graphic>
          <a:graphicData uri="http://schemas.openxmlformats.org/drawingml/2006/table">
            <a:tbl>
              <a:tblPr/>
              <a:tblGrid>
                <a:gridCol w="1460500"/>
                <a:gridCol w="4889500"/>
              </a:tblGrid>
              <a:tr h="300236">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Haredi draft</a:t>
                      </a:r>
                      <a:endParaRPr lang="en-US" sz="1200" dirty="0">
                        <a:latin typeface="Public Sans" charset="0"/>
                        <a:ea typeface="Public Sans" charset="0"/>
                        <a:cs typeface="Public Sans" charset="0"/>
                      </a:endParaRPr>
                    </a:p>
                  </a:txBody>
                  <a:tcPr marL="76200" marR="76200" marT="38100" marB="38100" anchor="t">
                    <a:lnL w="0" cap="flat" cmpd="sng" algn="ctr">
                      <a:noFill/>
                    </a:lnL>
                    <a:lnR w="0" cap="flat" cmpd="sng" algn="ctr">
                      <a:noFill/>
                    </a:lnR>
                    <a:lnT w="0" cap="flat" cmpd="sng" algn="ctr">
                      <a:noFill/>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Most MKs backed the Jul 14 arrest ban; Solomon voted no</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0" cap="flat" cmpd="sng" algn="ctr">
                      <a:noFill/>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Courts</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Justices chosen by all judges; 61-vote override</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The war &amp; Gaza</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“Return to the whole of Gaza in a big way”</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West Bank</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103 new settlements approved; “abolish the Oslo Accords”</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Religion &amp; state</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“Jewish identity in state institutions and education”</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Economy</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Competition-based solutions; Zehut: flat tax, vouchers</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4939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Netanyahu’s trial</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Smotrich: Netanyahu “persecuted for years by a corrupt judicial system that fabricated political cases”</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bl>
          </a:graphicData>
        </a:graphic>
      </p:graphicFrame>
      <p:sp>
        <p:nvSpPr>
          <p:cNvPr id="11" name="shape-414"/>
          <p:cNvSpPr/>
          <p:nvPr/>
        </p:nvSpPr>
        <p:spPr>
          <a:xfrm>
            <a:off x="7416800" y="1633141"/>
            <a:ext cx="3962400" cy="1191220"/>
          </a:xfrm>
          <a:prstGeom prst="roundRect">
            <a:avLst>
              <a:gd name="adj" fmla="val 6397"/>
            </a:avLst>
          </a:prstGeom>
          <a:solidFill>
            <a:srgbClr val="FBF8F1"/>
          </a:solidFill>
          <a:ln w="6350">
            <a:solidFill>
              <a:srgbClr val="D9D1C1"/>
            </a:solidFill>
            <a:prstDash val="solid"/>
          </a:ln>
        </p:spPr>
      </p:sp>
      <p:sp>
        <p:nvSpPr>
          <p:cNvPr id="12" name="text-415"/>
          <p:cNvSpPr txBox="1"/>
          <p:nvPr/>
        </p:nvSpPr>
        <p:spPr>
          <a:xfrm>
            <a:off x="7550150" y="1728391"/>
            <a:ext cx="3789236" cy="213320"/>
          </a:xfrm>
          <a:prstGeom prst="rect">
            <a:avLst/>
          </a:prstGeom>
          <a:noFill/>
          <a:ln/>
        </p:spPr>
        <p:txBody>
          <a:bodyPr wrap="square" lIns="0" tIns="0" rIns="0" bIns="0" rtlCol="0" anchor="t"/>
          <a:lstStyle/>
          <a:p>
            <a:pPr algn="l" indent="0" marL="0">
              <a:lnSpc>
                <a:spcPts val="1680"/>
              </a:lnSpc>
              <a:buNone/>
            </a:pPr>
            <a:r>
              <a:rPr lang="en-US" sz="1400" b="1" dirty="0">
                <a:solidFill>
                  <a:srgbClr val="15253D"/>
                </a:solidFill>
                <a:latin typeface="Public Sans" pitchFamily="34" charset="0"/>
                <a:ea typeface="Public Sans" pitchFamily="34" charset="-122"/>
                <a:cs typeface="Public Sans" pitchFamily="34" charset="-120"/>
              </a:rPr>
              <a:t>Bezalel Smotrich</a:t>
            </a:r>
            <a:endParaRPr lang="en-US" sz="1400" dirty="0"/>
          </a:p>
        </p:txBody>
      </p:sp>
      <p:sp>
        <p:nvSpPr>
          <p:cNvPr id="13" name="text-416"/>
          <p:cNvSpPr txBox="1"/>
          <p:nvPr/>
        </p:nvSpPr>
        <p:spPr>
          <a:xfrm>
            <a:off x="7550150" y="1967111"/>
            <a:ext cx="3789236" cy="762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Born Feb 27, 1980, Haspin (Golan); lives in Kedumim. Co-founded Regavim. Finance Minister since 2022, also over West Bank civil affairs. Sanctioned by several countries since 2025.</a:t>
            </a:r>
            <a:endParaRPr lang="en-US" sz="1200" dirty="0"/>
          </a:p>
        </p:txBody>
      </p:sp>
      <p:sp>
        <p:nvSpPr>
          <p:cNvPr id="14" name="shape-417"/>
          <p:cNvSpPr/>
          <p:nvPr/>
        </p:nvSpPr>
        <p:spPr>
          <a:xfrm>
            <a:off x="7416800" y="2900561"/>
            <a:ext cx="3962400" cy="977900"/>
          </a:xfrm>
          <a:prstGeom prst="roundRect">
            <a:avLst>
              <a:gd name="adj" fmla="val 7792"/>
            </a:avLst>
          </a:prstGeom>
          <a:solidFill>
            <a:srgbClr val="FBF8F1"/>
          </a:solidFill>
          <a:ln w="6350">
            <a:solidFill>
              <a:srgbClr val="D9D1C1"/>
            </a:solidFill>
            <a:prstDash val="solid"/>
          </a:ln>
        </p:spPr>
      </p:sp>
      <p:sp>
        <p:nvSpPr>
          <p:cNvPr id="15" name="text-418"/>
          <p:cNvSpPr txBox="1"/>
          <p:nvPr/>
        </p:nvSpPr>
        <p:spPr>
          <a:xfrm>
            <a:off x="7550150" y="2995811"/>
            <a:ext cx="3789236"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9A541A"/>
                </a:solidFill>
                <a:latin typeface="Public Sans" pitchFamily="34" charset="0"/>
                <a:ea typeface="Public Sans" pitchFamily="34" charset="-122"/>
                <a:cs typeface="Public Sans" pitchFamily="34" charset="-120"/>
              </a:rPr>
              <a:t>ON THE LIST</a:t>
            </a:r>
            <a:endParaRPr lang="en-US" sz="1200" dirty="0"/>
          </a:p>
        </p:txBody>
      </p:sp>
      <p:sp>
        <p:nvSpPr>
          <p:cNvPr id="16" name="text-419"/>
          <p:cNvSpPr txBox="1"/>
          <p:nvPr/>
        </p:nvSpPr>
        <p:spPr>
          <a:xfrm>
            <a:off x="7550150" y="3211711"/>
            <a:ext cx="3789236"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2 Moshe Feiglin (Zehut) · 3 Orit Strock</a:t>
            </a:r>
            <a:endParaRPr lang="en-US" sz="1200" dirty="0"/>
          </a:p>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4 Simcha Rothman</a:t>
            </a:r>
            <a:endParaRPr lang="en-US" sz="1200" dirty="0"/>
          </a:p>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New: Reut Ben Haim, Tzav 9 founder</a:t>
            </a:r>
            <a:endParaRPr lang="en-US" sz="1200" dirty="0"/>
          </a:p>
        </p:txBody>
      </p:sp>
      <p:sp>
        <p:nvSpPr>
          <p:cNvPr id="17" name="shape-420"/>
          <p:cNvSpPr/>
          <p:nvPr/>
        </p:nvSpPr>
        <p:spPr>
          <a:xfrm>
            <a:off x="7416800" y="3954661"/>
            <a:ext cx="3962400" cy="977900"/>
          </a:xfrm>
          <a:prstGeom prst="roundRect">
            <a:avLst>
              <a:gd name="adj" fmla="val 7792"/>
            </a:avLst>
          </a:prstGeom>
          <a:solidFill>
            <a:srgbClr val="FBF8F1"/>
          </a:solidFill>
          <a:ln w="6350">
            <a:solidFill>
              <a:srgbClr val="D9D1C1"/>
            </a:solidFill>
            <a:prstDash val="solid"/>
          </a:ln>
        </p:spPr>
      </p:sp>
      <p:sp>
        <p:nvSpPr>
          <p:cNvPr id="18" name="text-421"/>
          <p:cNvSpPr txBox="1"/>
          <p:nvPr/>
        </p:nvSpPr>
        <p:spPr>
          <a:xfrm>
            <a:off x="7550150" y="4049911"/>
            <a:ext cx="3789236"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9A541A"/>
                </a:solidFill>
                <a:latin typeface="Public Sans" pitchFamily="34" charset="0"/>
                <a:ea typeface="Public Sans" pitchFamily="34" charset="-122"/>
                <a:cs typeface="Public Sans" pitchFamily="34" charset="-120"/>
              </a:rPr>
              <a:t>COALITION</a:t>
            </a:r>
            <a:endParaRPr lang="en-US" sz="1200" dirty="0"/>
          </a:p>
        </p:txBody>
      </p:sp>
      <p:sp>
        <p:nvSpPr>
          <p:cNvPr id="19" name="text-422"/>
          <p:cNvSpPr txBox="1"/>
          <p:nvPr/>
        </p:nvSpPr>
        <p:spPr>
          <a:xfrm>
            <a:off x="7550150" y="4265811"/>
            <a:ext cx="3789236"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Netanyahu for PM; rules out Arab parties. Surplus partner: Likud (agreed Sep 8; unsigned as of Sep 15).</a:t>
            </a:r>
            <a:endParaRPr lang="en-US" sz="1200" dirty="0"/>
          </a:p>
        </p:txBody>
      </p:sp>
      <p:sp>
        <p:nvSpPr>
          <p:cNvPr id="20" name="shape-423"/>
          <p:cNvSpPr/>
          <p:nvPr/>
        </p:nvSpPr>
        <p:spPr>
          <a:xfrm>
            <a:off x="7416800" y="5008761"/>
            <a:ext cx="3962400" cy="992981"/>
          </a:xfrm>
          <a:prstGeom prst="roundRect">
            <a:avLst>
              <a:gd name="adj" fmla="val 7674"/>
            </a:avLst>
          </a:prstGeom>
          <a:solidFill>
            <a:srgbClr val="FBF8F1"/>
          </a:solidFill>
          <a:ln w="6350">
            <a:solidFill>
              <a:srgbClr val="D9D1C1"/>
            </a:solidFill>
            <a:prstDash val="solid"/>
          </a:ln>
        </p:spPr>
      </p:sp>
      <p:sp>
        <p:nvSpPr>
          <p:cNvPr id="21" name="rule-424"/>
          <p:cNvSpPr/>
          <p:nvPr/>
        </p:nvSpPr>
        <p:spPr>
          <a:xfrm>
            <a:off x="7416800" y="5008761"/>
            <a:ext cx="38100" cy="992981"/>
          </a:xfrm>
          <a:prstGeom prst="rect">
            <a:avLst/>
          </a:prstGeom>
          <a:solidFill>
            <a:srgbClr val="15253D"/>
          </a:solidFill>
          <a:ln/>
        </p:spPr>
      </p:sp>
      <p:sp>
        <p:nvSpPr>
          <p:cNvPr id="22" name="text-425"/>
          <p:cNvSpPr txBox="1"/>
          <p:nvPr/>
        </p:nvSpPr>
        <p:spPr>
          <a:xfrm>
            <a:off x="7581900" y="5104011"/>
            <a:ext cx="3757009" cy="396081"/>
          </a:xfrm>
          <a:prstGeom prst="rect">
            <a:avLst/>
          </a:prstGeom>
          <a:noFill/>
          <a:ln/>
        </p:spPr>
        <p:txBody>
          <a:bodyPr wrap="square" lIns="0" tIns="0" rIns="0" bIns="0" rtlCol="0" anchor="t"/>
          <a:lstStyle/>
          <a:p>
            <a:pPr algn="l" indent="0" marL="0">
              <a:lnSpc>
                <a:spcPts val="1560"/>
              </a:lnSpc>
              <a:buNone/>
            </a:pPr>
            <a:r>
              <a:rPr lang="en-US" sz="1200" i="1" dirty="0">
                <a:solidFill>
                  <a:srgbClr val="1B2634"/>
                </a:solidFill>
                <a:latin typeface="Public Sans" pitchFamily="34" charset="0"/>
                <a:ea typeface="Public Sans" pitchFamily="34" charset="-122"/>
                <a:cs typeface="Public Sans" pitchFamily="34" charset="-120"/>
              </a:rPr>
              <a:t>“Every settlement… is another nail in the coffin of this dangerous idea.”</a:t>
            </a:r>
            <a:endParaRPr lang="en-US" sz="1200" dirty="0"/>
          </a:p>
        </p:txBody>
      </p:sp>
      <p:sp>
        <p:nvSpPr>
          <p:cNvPr id="23" name="text-426"/>
          <p:cNvSpPr txBox="1"/>
          <p:nvPr/>
        </p:nvSpPr>
        <p:spPr>
          <a:xfrm>
            <a:off x="7581900" y="5525492"/>
            <a:ext cx="3757009" cy="381000"/>
          </a:xfrm>
          <a:prstGeom prst="rect">
            <a:avLst/>
          </a:prstGeom>
          <a:noFill/>
          <a:ln/>
        </p:spPr>
        <p:txBody>
          <a:bodyPr wrap="square" lIns="0" tIns="0" rIns="0" bIns="0" rtlCol="0" anchor="t"/>
          <a:lstStyle/>
          <a:p>
            <a:pPr algn="l" indent="0" marL="0">
              <a:lnSpc>
                <a:spcPts val="1500"/>
              </a:lnSpc>
              <a:buNone/>
            </a:pPr>
            <a:r>
              <a:rPr lang="en-US" sz="1200" dirty="0">
                <a:solidFill>
                  <a:srgbClr val="4F5B69"/>
                </a:solidFill>
                <a:latin typeface="Public Sans" pitchFamily="34" charset="0"/>
                <a:ea typeface="Public Sans" pitchFamily="34" charset="-122"/>
                <a:cs typeface="Public Sans" pitchFamily="34" charset="-120"/>
              </a:rPr>
              <a:t>Smotrich, on approving about 3,400 E1 housing units, Aug 20, 2025, via ToI</a:t>
            </a:r>
            <a:endParaRPr lang="en-US" sz="1200" dirty="0"/>
          </a:p>
        </p:txBody>
      </p:sp>
      <p:sp>
        <p:nvSpPr>
          <p:cNvPr id="24" name="text-427"/>
          <p:cNvSpPr txBox="1"/>
          <p:nvPr/>
        </p:nvSpPr>
        <p:spPr>
          <a:xfrm>
            <a:off x="812800" y="6253559"/>
            <a:ext cx="10762996" cy="19804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IDI Jun 28 2026 · JPost Aug 18 &amp; Sep 1 2026 · ToI Aug 20 &amp; Nov 30 2025, Jul 14 &amp; Aug 7 2026 · Ynet Sep 15 2026 · polls Sep 28–Oct 2 2026</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EFE4"/>
        </a:solidFill>
      </p:bgPr>
    </p:bg>
    <p:spTree>
      <p:nvGrpSpPr>
        <p:cNvPr id="1" name=""/>
        <p:cNvGrpSpPr/>
        <p:nvPr/>
      </p:nvGrpSpPr>
      <p:grpSpPr>
        <a:xfrm>
          <a:off x="0" y="0"/>
          <a:ext cx="0" cy="0"/>
          <a:chOff x="0" y="0"/>
          <a:chExt cx="0" cy="0"/>
        </a:xfrm>
      </p:grpSpPr>
      <p:sp>
        <p:nvSpPr>
          <p:cNvPr id="2" name="shape-428"/>
          <p:cNvSpPr/>
          <p:nvPr/>
        </p:nvSpPr>
        <p:spPr>
          <a:xfrm>
            <a:off x="812800" y="812800"/>
            <a:ext cx="4483795" cy="223441"/>
          </a:xfrm>
          <a:prstGeom prst="roundRect">
            <a:avLst>
              <a:gd name="adj" fmla="val 17051"/>
            </a:avLst>
          </a:prstGeom>
          <a:solidFill>
            <a:srgbClr val="15253D"/>
          </a:solidFill>
          <a:ln/>
        </p:spPr>
      </p:sp>
      <p:sp>
        <p:nvSpPr>
          <p:cNvPr id="3" name="text-429"/>
          <p:cNvSpPr txBox="1"/>
          <p:nvPr/>
        </p:nvSpPr>
        <p:spPr>
          <a:xfrm>
            <a:off x="812800" y="812800"/>
            <a:ext cx="4589151" cy="223441"/>
          </a:xfrm>
          <a:prstGeom prst="rect">
            <a:avLst/>
          </a:prstGeom>
          <a:noFill/>
          <a:ln/>
        </p:spPr>
        <p:txBody>
          <a:bodyPr wrap="square" lIns="88900" tIns="12700" rIns="88900" bIns="12700" rtlCol="0" anchor="t"/>
          <a:lstStyle/>
          <a:p>
            <a:pPr algn="l" indent="0" marL="0">
              <a:lnSpc>
                <a:spcPts val="1560"/>
              </a:lnSpc>
              <a:buNone/>
            </a:pPr>
            <a:r>
              <a:rPr lang="en-US" sz="1200" b="1" dirty="0">
                <a:solidFill>
                  <a:srgbClr val="F4EFE4"/>
                </a:solidFill>
                <a:latin typeface="Public Sans" pitchFamily="34" charset="0"/>
                <a:ea typeface="Public Sans" pitchFamily="34" charset="-122"/>
                <a:cs typeface="Public Sans" pitchFamily="34" charset="-120"/>
              </a:rPr>
              <a:t>Netanyahu bloc · Itamar Ben-Gvir · Seats in latest polls: 6–9</a:t>
            </a:r>
            <a:endParaRPr lang="en-US" sz="1200" dirty="0"/>
          </a:p>
        </p:txBody>
      </p:sp>
      <p:sp>
        <p:nvSpPr>
          <p:cNvPr id="4" name="text-430"/>
          <p:cNvSpPr txBox="1"/>
          <p:nvPr/>
        </p:nvSpPr>
        <p:spPr>
          <a:xfrm>
            <a:off x="812800" y="1125141"/>
            <a:ext cx="10762996" cy="419100"/>
          </a:xfrm>
          <a:prstGeom prst="rect">
            <a:avLst/>
          </a:prstGeom>
          <a:noFill/>
          <a:ln/>
        </p:spPr>
        <p:txBody>
          <a:bodyPr wrap="square" lIns="0" tIns="0" rIns="0" bIns="0" rtlCol="0" anchor="t"/>
          <a:lstStyle/>
          <a:p>
            <a:pPr algn="l" indent="0" marL="0">
              <a:lnSpc>
                <a:spcPts val="3300"/>
              </a:lnSpc>
              <a:buNone/>
            </a:pPr>
            <a:r>
              <a:rPr lang="en-US" sz="3000" dirty="0">
                <a:solidFill>
                  <a:srgbClr val="15253D"/>
                </a:solidFill>
                <a:latin typeface="Libre Baskerville" pitchFamily="34" charset="0"/>
                <a:ea typeface="Libre Baskerville" pitchFamily="34" charset="-122"/>
                <a:cs typeface="Libre Baskerville" pitchFamily="34" charset="-120"/>
              </a:rPr>
              <a:t>Otzma Yehudit</a:t>
            </a:r>
            <a:pPr algn="l" indent="0" marL="0">
              <a:lnSpc>
                <a:spcPts val="3300"/>
              </a:lnSpc>
              <a:buNone/>
            </a:pPr>
            <a:r>
              <a:rPr lang="en-US" sz="3000" dirty="0">
                <a:solidFill>
                  <a:srgbClr val="7A8591"/>
                </a:solidFill>
                <a:latin typeface="Libre Baskerville" pitchFamily="34" charset="0"/>
                <a:ea typeface="Libre Baskerville" pitchFamily="34" charset="-122"/>
                <a:cs typeface="Libre Baskerville" pitchFamily="34" charset="-120"/>
              </a:rPr>
              <a:t> — Jewish Power</a:t>
            </a:r>
            <a:endParaRPr lang="en-US" sz="3000" dirty="0"/>
          </a:p>
        </p:txBody>
      </p:sp>
      <p:sp>
        <p:nvSpPr>
          <p:cNvPr id="5" name="text-431"/>
          <p:cNvSpPr txBox="1"/>
          <p:nvPr/>
        </p:nvSpPr>
        <p:spPr>
          <a:xfrm>
            <a:off x="812800" y="1633141"/>
            <a:ext cx="6483350" cy="213320"/>
          </a:xfrm>
          <a:prstGeom prst="rect">
            <a:avLst/>
          </a:prstGeom>
          <a:noFill/>
          <a:ln/>
        </p:spPr>
        <p:txBody>
          <a:bodyPr wrap="square" lIns="0" tIns="0" rIns="0" bIns="0" rtlCol="0" anchor="t"/>
          <a:lstStyle/>
          <a:p>
            <a:pPr algn="l" indent="0" marL="0">
              <a:lnSpc>
                <a:spcPts val="1680"/>
              </a:lnSpc>
              <a:buNone/>
            </a:pPr>
            <a:r>
              <a:rPr lang="en-US" sz="1400" b="1" dirty="0">
                <a:solidFill>
                  <a:srgbClr val="15253D"/>
                </a:solidFill>
                <a:latin typeface="Public Sans" pitchFamily="34" charset="0"/>
                <a:ea typeface="Public Sans" pitchFamily="34" charset="-122"/>
                <a:cs typeface="Public Sans" pitchFamily="34" charset="-120"/>
              </a:rPr>
              <a:t>Who they are</a:t>
            </a:r>
            <a:endParaRPr lang="en-US" sz="1400" dirty="0"/>
          </a:p>
        </p:txBody>
      </p:sp>
      <p:sp>
        <p:nvSpPr>
          <p:cNvPr id="6" name="text-432"/>
          <p:cNvSpPr txBox="1"/>
          <p:nvPr/>
        </p:nvSpPr>
        <p:spPr>
          <a:xfrm>
            <a:off x="812800" y="1859161"/>
            <a:ext cx="6483350"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Founded Nov 2012. Israel Policy Forum describes it as the “ideological continuation” of Kahane’s movement; Kach was outlawed in 1994. Ben-Gvir leader since 2019; 6 seats in 2022 on a joint list. Left government Jan 2025 over the ceasefire; back in Mar 2025.</a:t>
            </a:r>
            <a:endParaRPr lang="en-US" sz="1200" dirty="0"/>
          </a:p>
        </p:txBody>
      </p:sp>
      <p:sp>
        <p:nvSpPr>
          <p:cNvPr id="7" name="text-433"/>
          <p:cNvSpPr txBox="1"/>
          <p:nvPr/>
        </p:nvSpPr>
        <p:spPr>
          <a:xfrm>
            <a:off x="812800" y="2506861"/>
            <a:ext cx="6483350" cy="213320"/>
          </a:xfrm>
          <a:prstGeom prst="rect">
            <a:avLst/>
          </a:prstGeom>
          <a:noFill/>
          <a:ln/>
        </p:spPr>
        <p:txBody>
          <a:bodyPr wrap="square" lIns="0" tIns="0" rIns="0" bIns="0" rtlCol="0" anchor="t"/>
          <a:lstStyle/>
          <a:p>
            <a:pPr algn="l" indent="0" marL="0">
              <a:lnSpc>
                <a:spcPts val="1680"/>
              </a:lnSpc>
              <a:buNone/>
            </a:pPr>
            <a:r>
              <a:rPr lang="en-US" sz="1400" b="1" dirty="0">
                <a:solidFill>
                  <a:srgbClr val="15253D"/>
                </a:solidFill>
                <a:latin typeface="Public Sans" pitchFamily="34" charset="0"/>
                <a:ea typeface="Public Sans" pitchFamily="34" charset="-122"/>
                <a:cs typeface="Public Sans" pitchFamily="34" charset="-120"/>
              </a:rPr>
              <a:t>Who votes for them</a:t>
            </a:r>
            <a:endParaRPr lang="en-US" sz="1400" dirty="0"/>
          </a:p>
        </p:txBody>
      </p:sp>
      <p:sp>
        <p:nvSpPr>
          <p:cNvPr id="8" name="text-434"/>
          <p:cNvSpPr txBox="1"/>
          <p:nvPr/>
        </p:nvSpPr>
        <p:spPr>
          <a:xfrm>
            <a:off x="812800" y="2732881"/>
            <a:ext cx="6483350"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“Traditional Mizrahi voters from the periphery” (Finkelstein). Below the threshold on its own before 2021: 1.88% in Sep 2019, 0.42% in 2020. Has 13% of Haredi first-time voters (N12).</a:t>
            </a:r>
            <a:endParaRPr lang="en-US" sz="1200" dirty="0"/>
          </a:p>
        </p:txBody>
      </p:sp>
      <p:sp>
        <p:nvSpPr>
          <p:cNvPr id="9" name="text-435"/>
          <p:cNvSpPr txBox="1"/>
          <p:nvPr/>
        </p:nvSpPr>
        <p:spPr>
          <a:xfrm>
            <a:off x="812800" y="3380581"/>
            <a:ext cx="6483350" cy="213320"/>
          </a:xfrm>
          <a:prstGeom prst="rect">
            <a:avLst/>
          </a:prstGeom>
          <a:noFill/>
          <a:ln/>
        </p:spPr>
        <p:txBody>
          <a:bodyPr wrap="square" lIns="0" tIns="0" rIns="0" bIns="0" rtlCol="0" anchor="t"/>
          <a:lstStyle/>
          <a:p>
            <a:pPr algn="l" indent="0" marL="0">
              <a:lnSpc>
                <a:spcPts val="1680"/>
              </a:lnSpc>
              <a:buNone/>
            </a:pPr>
            <a:r>
              <a:rPr lang="en-US" sz="1400" b="1" dirty="0">
                <a:solidFill>
                  <a:srgbClr val="15253D"/>
                </a:solidFill>
                <a:latin typeface="Public Sans" pitchFamily="34" charset="0"/>
                <a:ea typeface="Public Sans" pitchFamily="34" charset="-122"/>
                <a:cs typeface="Public Sans" pitchFamily="34" charset="-120"/>
              </a:rPr>
              <a:t>What they’re running on</a:t>
            </a:r>
            <a:endParaRPr lang="en-US" sz="1400" dirty="0"/>
          </a:p>
        </p:txBody>
      </p:sp>
      <p:graphicFrame>
        <p:nvGraphicFramePr>
          <p:cNvPr id="20" name="table-436"/>
          <p:cNvGraphicFramePr>
            <a:graphicFrameLocks noGrp="1"/>
          </p:cNvGraphicFramePr>
          <p:nvPr>
            <p:extLst>
              <p:ext uri="{D42A27DB-BD31-4B8C-83A1-F6EECF244321}">
                <p14:modId xmlns:p14="http://schemas.microsoft.com/office/powerpoint/2010/main" val="1579011935"/>
              </p:ext>
            </p:extLst>
          </p:nvPr>
        </p:nvGraphicFramePr>
        <p:xfrm>
          <a:off x="812800" y="3619302"/>
          <a:ext cx="6350000" cy="914400"/>
        </p:xfrm>
        <a:graphic>
          <a:graphicData uri="http://schemas.openxmlformats.org/drawingml/2006/table">
            <a:tbl>
              <a:tblPr/>
              <a:tblGrid>
                <a:gridCol w="1460500"/>
                <a:gridCol w="4889500"/>
              </a:tblGrid>
              <a:tr h="490736">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Haredi draft</a:t>
                      </a:r>
                      <a:endParaRPr lang="en-US" sz="1200" dirty="0">
                        <a:latin typeface="Public Sans" charset="0"/>
                        <a:ea typeface="Public Sans" charset="0"/>
                        <a:cs typeface="Public Sans" charset="0"/>
                      </a:endParaRPr>
                    </a:p>
                  </a:txBody>
                  <a:tcPr marL="76200" marR="76200" marT="38100" marB="38100" anchor="t">
                    <a:lnL w="0" cap="flat" cmpd="sng" algn="ctr">
                      <a:noFill/>
                    </a:lnL>
                    <a:lnR w="0" cap="flat" cmpd="sng" algn="ctr">
                      <a:noFill/>
                    </a:lnR>
                    <a:lnT w="0" cap="flat" cmpd="sng" algn="ctr">
                      <a:noFill/>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Haredi police tracks: “enter service as Haredi and leave it as Haredi”</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0" cap="flat" cmpd="sng" algn="ctr">
                      <a:noFill/>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Courts</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Backed the 2023 overhaul; political control of appointments</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The war &amp; Gaza</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“Disengagement 710”: 250,000 Gaza departures a year</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West Bank</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No Palestinian state; no evacuating settlers</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4939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Religion &amp; state</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Temple Mount: “Jews are praying and feel that they are the rightful owners of this place” (Jul 2026)</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Economy</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No 2026 position found</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Netanyahu’s trial</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“I hope President Trump will put an end to this farce”</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bl>
          </a:graphicData>
        </a:graphic>
      </p:graphicFrame>
      <p:sp>
        <p:nvSpPr>
          <p:cNvPr id="11" name="shape-437"/>
          <p:cNvSpPr/>
          <p:nvPr/>
        </p:nvSpPr>
        <p:spPr>
          <a:xfrm>
            <a:off x="7416800" y="1633141"/>
            <a:ext cx="3962400" cy="1191220"/>
          </a:xfrm>
          <a:prstGeom prst="roundRect">
            <a:avLst>
              <a:gd name="adj" fmla="val 6397"/>
            </a:avLst>
          </a:prstGeom>
          <a:solidFill>
            <a:srgbClr val="FBF8F1"/>
          </a:solidFill>
          <a:ln w="6350">
            <a:solidFill>
              <a:srgbClr val="D9D1C1"/>
            </a:solidFill>
            <a:prstDash val="solid"/>
          </a:ln>
        </p:spPr>
      </p:sp>
      <p:sp>
        <p:nvSpPr>
          <p:cNvPr id="12" name="text-438"/>
          <p:cNvSpPr txBox="1"/>
          <p:nvPr/>
        </p:nvSpPr>
        <p:spPr>
          <a:xfrm>
            <a:off x="7550150" y="1728391"/>
            <a:ext cx="3789236" cy="213320"/>
          </a:xfrm>
          <a:prstGeom prst="rect">
            <a:avLst/>
          </a:prstGeom>
          <a:noFill/>
          <a:ln/>
        </p:spPr>
        <p:txBody>
          <a:bodyPr wrap="square" lIns="0" tIns="0" rIns="0" bIns="0" rtlCol="0" anchor="t"/>
          <a:lstStyle/>
          <a:p>
            <a:pPr algn="l" indent="0" marL="0">
              <a:lnSpc>
                <a:spcPts val="1680"/>
              </a:lnSpc>
              <a:buNone/>
            </a:pPr>
            <a:r>
              <a:rPr lang="en-US" sz="1400" b="1" dirty="0">
                <a:solidFill>
                  <a:srgbClr val="15253D"/>
                </a:solidFill>
                <a:latin typeface="Public Sans" pitchFamily="34" charset="0"/>
                <a:ea typeface="Public Sans" pitchFamily="34" charset="-122"/>
                <a:cs typeface="Public Sans" pitchFamily="34" charset="-120"/>
              </a:rPr>
              <a:t>Itamar Ben-Gvir</a:t>
            </a:r>
            <a:endParaRPr lang="en-US" sz="1400" dirty="0"/>
          </a:p>
        </p:txBody>
      </p:sp>
      <p:sp>
        <p:nvSpPr>
          <p:cNvPr id="13" name="text-439"/>
          <p:cNvSpPr txBox="1"/>
          <p:nvPr/>
        </p:nvSpPr>
        <p:spPr>
          <a:xfrm>
            <a:off x="7550150" y="1967111"/>
            <a:ext cx="3789236" cy="762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Born May 6, 1976, Mevaseret Zion, to Iraqi-Jewish parents; lives in Kiryat Arba. Ex-Kach youth coordinator; 2007 conviction for incitement to racism. National Security Minister since 2022.</a:t>
            </a:r>
            <a:endParaRPr lang="en-US" sz="1200" dirty="0"/>
          </a:p>
        </p:txBody>
      </p:sp>
      <p:sp>
        <p:nvSpPr>
          <p:cNvPr id="14" name="shape-440"/>
          <p:cNvSpPr/>
          <p:nvPr/>
        </p:nvSpPr>
        <p:spPr>
          <a:xfrm>
            <a:off x="7416800" y="2900561"/>
            <a:ext cx="3962400" cy="977900"/>
          </a:xfrm>
          <a:prstGeom prst="roundRect">
            <a:avLst>
              <a:gd name="adj" fmla="val 7792"/>
            </a:avLst>
          </a:prstGeom>
          <a:solidFill>
            <a:srgbClr val="FBF8F1"/>
          </a:solidFill>
          <a:ln w="6350">
            <a:solidFill>
              <a:srgbClr val="D9D1C1"/>
            </a:solidFill>
            <a:prstDash val="solid"/>
          </a:ln>
        </p:spPr>
      </p:sp>
      <p:sp>
        <p:nvSpPr>
          <p:cNvPr id="15" name="text-441"/>
          <p:cNvSpPr txBox="1"/>
          <p:nvPr/>
        </p:nvSpPr>
        <p:spPr>
          <a:xfrm>
            <a:off x="7550150" y="2995811"/>
            <a:ext cx="3789236"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9A541A"/>
                </a:solidFill>
                <a:latin typeface="Public Sans" pitchFamily="34" charset="0"/>
                <a:ea typeface="Public Sans" pitchFamily="34" charset="-122"/>
                <a:cs typeface="Public Sans" pitchFamily="34" charset="-120"/>
              </a:rPr>
              <a:t>ON THE LIST</a:t>
            </a:r>
            <a:endParaRPr lang="en-US" sz="1200" dirty="0"/>
          </a:p>
        </p:txBody>
      </p:sp>
      <p:sp>
        <p:nvSpPr>
          <p:cNvPr id="16" name="text-442"/>
          <p:cNvSpPr txBox="1"/>
          <p:nvPr/>
        </p:nvSpPr>
        <p:spPr>
          <a:xfrm>
            <a:off x="7550150" y="3211711"/>
            <a:ext cx="3789236"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2 Tally Gotliv (ex-Likud)</a:t>
            </a:r>
            <a:endParaRPr lang="en-US" sz="1200" dirty="0"/>
          </a:p>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3 Yitzhak Wasserlauf · 4 Amichai Eliyahu</a:t>
            </a:r>
            <a:endParaRPr lang="en-US" sz="1200" dirty="0"/>
          </a:p>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12 Yishai Fleisher, Hebron spokesman</a:t>
            </a:r>
            <a:endParaRPr lang="en-US" sz="1200" dirty="0"/>
          </a:p>
        </p:txBody>
      </p:sp>
      <p:sp>
        <p:nvSpPr>
          <p:cNvPr id="17" name="shape-443"/>
          <p:cNvSpPr/>
          <p:nvPr/>
        </p:nvSpPr>
        <p:spPr>
          <a:xfrm>
            <a:off x="7416800" y="3954661"/>
            <a:ext cx="3962400" cy="977900"/>
          </a:xfrm>
          <a:prstGeom prst="roundRect">
            <a:avLst>
              <a:gd name="adj" fmla="val 7792"/>
            </a:avLst>
          </a:prstGeom>
          <a:solidFill>
            <a:srgbClr val="FBF8F1"/>
          </a:solidFill>
          <a:ln w="6350">
            <a:solidFill>
              <a:srgbClr val="D9D1C1"/>
            </a:solidFill>
            <a:prstDash val="solid"/>
          </a:ln>
        </p:spPr>
      </p:sp>
      <p:sp>
        <p:nvSpPr>
          <p:cNvPr id="18" name="text-444"/>
          <p:cNvSpPr txBox="1"/>
          <p:nvPr/>
        </p:nvSpPr>
        <p:spPr>
          <a:xfrm>
            <a:off x="7550150" y="4049911"/>
            <a:ext cx="3789236"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9A541A"/>
                </a:solidFill>
                <a:latin typeface="Public Sans" pitchFamily="34" charset="0"/>
                <a:ea typeface="Public Sans" pitchFamily="34" charset="-122"/>
                <a:cs typeface="Public Sans" pitchFamily="34" charset="-120"/>
              </a:rPr>
              <a:t>COALITION</a:t>
            </a:r>
            <a:endParaRPr lang="en-US" sz="1200" dirty="0"/>
          </a:p>
        </p:txBody>
      </p:sp>
      <p:sp>
        <p:nvSpPr>
          <p:cNvPr id="19" name="text-445"/>
          <p:cNvSpPr txBox="1"/>
          <p:nvPr/>
        </p:nvSpPr>
        <p:spPr>
          <a:xfrm>
            <a:off x="7550150" y="4265811"/>
            <a:ext cx="3789236"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A “fully right-wing government”: no centrists, no Arab parties. Wants Defense or Justice. Surplus partner: none found.</a:t>
            </a:r>
            <a:endParaRPr lang="en-US" sz="1200" dirty="0"/>
          </a:p>
        </p:txBody>
      </p:sp>
      <p:sp>
        <p:nvSpPr>
          <p:cNvPr id="20" name="shape-446"/>
          <p:cNvSpPr/>
          <p:nvPr/>
        </p:nvSpPr>
        <p:spPr>
          <a:xfrm>
            <a:off x="7416800" y="5008761"/>
            <a:ext cx="3962400" cy="794941"/>
          </a:xfrm>
          <a:prstGeom prst="roundRect">
            <a:avLst>
              <a:gd name="adj" fmla="val 9586"/>
            </a:avLst>
          </a:prstGeom>
          <a:solidFill>
            <a:srgbClr val="FBF8F1"/>
          </a:solidFill>
          <a:ln w="6350">
            <a:solidFill>
              <a:srgbClr val="D9D1C1"/>
            </a:solidFill>
            <a:prstDash val="solid"/>
          </a:ln>
        </p:spPr>
      </p:sp>
      <p:sp>
        <p:nvSpPr>
          <p:cNvPr id="21" name="rule-447"/>
          <p:cNvSpPr/>
          <p:nvPr/>
        </p:nvSpPr>
        <p:spPr>
          <a:xfrm>
            <a:off x="7416800" y="5008761"/>
            <a:ext cx="38100" cy="794941"/>
          </a:xfrm>
          <a:prstGeom prst="rect">
            <a:avLst/>
          </a:prstGeom>
          <a:solidFill>
            <a:srgbClr val="15253D"/>
          </a:solidFill>
          <a:ln/>
        </p:spPr>
      </p:sp>
      <p:sp>
        <p:nvSpPr>
          <p:cNvPr id="22" name="text-448"/>
          <p:cNvSpPr txBox="1"/>
          <p:nvPr/>
        </p:nvSpPr>
        <p:spPr>
          <a:xfrm>
            <a:off x="7581900" y="5104011"/>
            <a:ext cx="3757009" cy="198041"/>
          </a:xfrm>
          <a:prstGeom prst="rect">
            <a:avLst/>
          </a:prstGeom>
          <a:noFill/>
          <a:ln/>
        </p:spPr>
        <p:txBody>
          <a:bodyPr wrap="square" lIns="0" tIns="0" rIns="0" bIns="0" rtlCol="0" anchor="t"/>
          <a:lstStyle/>
          <a:p>
            <a:pPr algn="l" indent="0" marL="0">
              <a:lnSpc>
                <a:spcPts val="1560"/>
              </a:lnSpc>
              <a:buNone/>
            </a:pPr>
            <a:r>
              <a:rPr lang="en-US" sz="1200" i="1" dirty="0">
                <a:solidFill>
                  <a:srgbClr val="1B2634"/>
                </a:solidFill>
                <a:latin typeface="Public Sans" pitchFamily="34" charset="0"/>
                <a:ea typeface="Public Sans" pitchFamily="34" charset="-122"/>
                <a:cs typeface="Public Sans" pitchFamily="34" charset="-120"/>
              </a:rPr>
              <a:t>“I want to kill you. I want to put you to death.”</a:t>
            </a:r>
            <a:endParaRPr lang="en-US" sz="1200" dirty="0"/>
          </a:p>
        </p:txBody>
      </p:sp>
      <p:sp>
        <p:nvSpPr>
          <p:cNvPr id="23" name="text-449"/>
          <p:cNvSpPr txBox="1"/>
          <p:nvPr/>
        </p:nvSpPr>
        <p:spPr>
          <a:xfrm>
            <a:off x="7581900" y="5327452"/>
            <a:ext cx="3757009" cy="381000"/>
          </a:xfrm>
          <a:prstGeom prst="rect">
            <a:avLst/>
          </a:prstGeom>
          <a:noFill/>
          <a:ln/>
        </p:spPr>
        <p:txBody>
          <a:bodyPr wrap="square" lIns="0" tIns="0" rIns="0" bIns="0" rtlCol="0" anchor="t"/>
          <a:lstStyle/>
          <a:p>
            <a:pPr algn="l" indent="0" marL="0">
              <a:lnSpc>
                <a:spcPts val="1500"/>
              </a:lnSpc>
              <a:buNone/>
            </a:pPr>
            <a:r>
              <a:rPr lang="en-US" sz="1200" dirty="0">
                <a:solidFill>
                  <a:srgbClr val="4F5B69"/>
                </a:solidFill>
                <a:latin typeface="Public Sans" pitchFamily="34" charset="0"/>
                <a:ea typeface="Public Sans" pitchFamily="34" charset="-122"/>
                <a:cs typeface="Public Sans" pitchFamily="34" charset="-120"/>
              </a:rPr>
              <a:t>Ben-Gvir to a Hamas prisoner in a campaign video; ordered removed Oct 3, 2026 (JPost)</a:t>
            </a:r>
            <a:endParaRPr lang="en-US" sz="1200" dirty="0"/>
          </a:p>
        </p:txBody>
      </p:sp>
      <p:sp>
        <p:nvSpPr>
          <p:cNvPr id="24" name="text-450"/>
          <p:cNvSpPr txBox="1"/>
          <p:nvPr/>
        </p:nvSpPr>
        <p:spPr>
          <a:xfrm>
            <a:off x="812800" y="6253559"/>
            <a:ext cx="10762996" cy="19804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ToI Apr 15 &amp; Jan 27 2026 · JPost Jul 23, Sep 3, Sep 24 &amp; Oct 3 2026 · JTA Sep 6 2026 · polls Sep 28–Oct 2 2026</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EFE4"/>
        </a:solidFill>
      </p:bgPr>
    </p:bg>
    <p:spTree>
      <p:nvGrpSpPr>
        <p:cNvPr id="1" name=""/>
        <p:cNvGrpSpPr/>
        <p:nvPr/>
      </p:nvGrpSpPr>
      <p:grpSpPr>
        <a:xfrm>
          <a:off x="0" y="0"/>
          <a:ext cx="0" cy="0"/>
          <a:chOff x="0" y="0"/>
          <a:chExt cx="0" cy="0"/>
        </a:xfrm>
      </p:grpSpPr>
      <p:sp>
        <p:nvSpPr>
          <p:cNvPr id="2" name="shape-451"/>
          <p:cNvSpPr/>
          <p:nvPr/>
        </p:nvSpPr>
        <p:spPr>
          <a:xfrm>
            <a:off x="812800" y="812800"/>
            <a:ext cx="4131667" cy="221555"/>
          </a:xfrm>
          <a:prstGeom prst="roundRect">
            <a:avLst>
              <a:gd name="adj" fmla="val 17197"/>
            </a:avLst>
          </a:prstGeom>
          <a:solidFill>
            <a:srgbClr val="15253D"/>
          </a:solidFill>
          <a:ln/>
        </p:spPr>
      </p:sp>
      <p:sp>
        <p:nvSpPr>
          <p:cNvPr id="3" name="text-452"/>
          <p:cNvSpPr txBox="1"/>
          <p:nvPr/>
        </p:nvSpPr>
        <p:spPr>
          <a:xfrm>
            <a:off x="812800" y="812800"/>
            <a:ext cx="4231742" cy="221555"/>
          </a:xfrm>
          <a:prstGeom prst="rect">
            <a:avLst/>
          </a:prstGeom>
          <a:noFill/>
          <a:ln/>
        </p:spPr>
        <p:txBody>
          <a:bodyPr wrap="square" lIns="88900" tIns="12700" rIns="88900" bIns="12700" rtlCol="0" anchor="t"/>
          <a:lstStyle/>
          <a:p>
            <a:pPr algn="l" indent="0" marL="0">
              <a:lnSpc>
                <a:spcPts val="1544"/>
              </a:lnSpc>
              <a:buNone/>
            </a:pPr>
            <a:r>
              <a:rPr lang="en-US" sz="1190" b="1" dirty="0">
                <a:solidFill>
                  <a:srgbClr val="F4EFE4"/>
                </a:solidFill>
                <a:latin typeface="Public Sans" pitchFamily="34" charset="0"/>
                <a:ea typeface="Public Sans" pitchFamily="34" charset="-122"/>
                <a:cs typeface="Public Sans" pitchFamily="34" charset="-120"/>
              </a:rPr>
              <a:t>Netanyahu bloc · Ofer Winter · Seats in latest polls: 0–5</a:t>
            </a:r>
            <a:endParaRPr lang="en-US" sz="1190" dirty="0"/>
          </a:p>
        </p:txBody>
      </p:sp>
      <p:sp>
        <p:nvSpPr>
          <p:cNvPr id="4" name="text-453"/>
          <p:cNvSpPr txBox="1"/>
          <p:nvPr/>
        </p:nvSpPr>
        <p:spPr>
          <a:xfrm>
            <a:off x="812800" y="1123255"/>
            <a:ext cx="10762996" cy="414933"/>
          </a:xfrm>
          <a:prstGeom prst="rect">
            <a:avLst/>
          </a:prstGeom>
          <a:noFill/>
          <a:ln/>
        </p:spPr>
        <p:txBody>
          <a:bodyPr wrap="square" lIns="0" tIns="0" rIns="0" bIns="0" rtlCol="0" anchor="t"/>
          <a:lstStyle/>
          <a:p>
            <a:pPr algn="l" indent="0" marL="0">
              <a:lnSpc>
                <a:spcPts val="3267"/>
              </a:lnSpc>
              <a:buNone/>
            </a:pPr>
            <a:r>
              <a:rPr lang="en-US" sz="2970" dirty="0">
                <a:solidFill>
                  <a:srgbClr val="15253D"/>
                </a:solidFill>
                <a:latin typeface="Libre Baskerville" pitchFamily="34" charset="0"/>
                <a:ea typeface="Libre Baskerville" pitchFamily="34" charset="-122"/>
                <a:cs typeface="Libre Baskerville" pitchFamily="34" charset="-120"/>
              </a:rPr>
              <a:t>Amcha Yisrael</a:t>
            </a:r>
            <a:pPr algn="l" indent="0" marL="0">
              <a:lnSpc>
                <a:spcPts val="3267"/>
              </a:lnSpc>
              <a:buNone/>
            </a:pPr>
            <a:r>
              <a:rPr lang="en-US" sz="2970" dirty="0">
                <a:solidFill>
                  <a:srgbClr val="7A8591"/>
                </a:solidFill>
                <a:latin typeface="Libre Baskerville" pitchFamily="34" charset="0"/>
                <a:ea typeface="Libre Baskerville" pitchFamily="34" charset="-122"/>
                <a:cs typeface="Libre Baskerville" pitchFamily="34" charset="-120"/>
              </a:rPr>
              <a:t> — People of Israel</a:t>
            </a:r>
            <a:endParaRPr lang="en-US" sz="2970" dirty="0"/>
          </a:p>
        </p:txBody>
      </p:sp>
      <p:sp>
        <p:nvSpPr>
          <p:cNvPr id="5" name="text-454"/>
          <p:cNvSpPr txBox="1"/>
          <p:nvPr/>
        </p:nvSpPr>
        <p:spPr>
          <a:xfrm>
            <a:off x="812800" y="1627088"/>
            <a:ext cx="6483350" cy="211138"/>
          </a:xfrm>
          <a:prstGeom prst="rect">
            <a:avLst/>
          </a:prstGeom>
          <a:noFill/>
          <a:ln/>
        </p:spPr>
        <p:txBody>
          <a:bodyPr wrap="square" lIns="0" tIns="0" rIns="0" bIns="0" rtlCol="0" anchor="t"/>
          <a:lstStyle/>
          <a:p>
            <a:pPr algn="l" indent="0" marL="0">
              <a:lnSpc>
                <a:spcPts val="1663"/>
              </a:lnSpc>
              <a:buNone/>
            </a:pPr>
            <a:r>
              <a:rPr lang="en-US" sz="1390" b="1" dirty="0">
                <a:solidFill>
                  <a:srgbClr val="15253D"/>
                </a:solidFill>
                <a:latin typeface="Public Sans" pitchFamily="34" charset="0"/>
                <a:ea typeface="Public Sans" pitchFamily="34" charset="-122"/>
                <a:cs typeface="Public Sans" pitchFamily="34" charset="-120"/>
              </a:rPr>
              <a:t>Who they are</a:t>
            </a:r>
            <a:endParaRPr lang="en-US" sz="1390" dirty="0"/>
          </a:p>
        </p:txBody>
      </p:sp>
      <p:sp>
        <p:nvSpPr>
          <p:cNvPr id="6" name="text-455"/>
          <p:cNvSpPr txBox="1"/>
          <p:nvPr/>
        </p:nvSpPr>
        <p:spPr>
          <a:xfrm>
            <a:off x="812800" y="1850926"/>
            <a:ext cx="6483350" cy="565845"/>
          </a:xfrm>
          <a:prstGeom prst="rect">
            <a:avLst/>
          </a:prstGeom>
          <a:noFill/>
          <a:ln/>
        </p:spPr>
        <p:txBody>
          <a:bodyPr wrap="square" lIns="0" tIns="0" rIns="0" bIns="0" rtlCol="0" anchor="t"/>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New in 2026. Winter left the IDF in May 2024 after being passed over for major general, and turned down a Likud slot. Launched Aug 25, 2026 in Jerusalem. Refused Smotrich’s merger despite pressure from rabbis.</a:t>
            </a:r>
            <a:endParaRPr lang="en-US" sz="1190" dirty="0"/>
          </a:p>
        </p:txBody>
      </p:sp>
      <p:sp>
        <p:nvSpPr>
          <p:cNvPr id="7" name="text-456"/>
          <p:cNvSpPr txBox="1"/>
          <p:nvPr/>
        </p:nvSpPr>
        <p:spPr>
          <a:xfrm>
            <a:off x="812800" y="2492970"/>
            <a:ext cx="6483350" cy="211138"/>
          </a:xfrm>
          <a:prstGeom prst="rect">
            <a:avLst/>
          </a:prstGeom>
          <a:noFill/>
          <a:ln/>
        </p:spPr>
        <p:txBody>
          <a:bodyPr wrap="square" lIns="0" tIns="0" rIns="0" bIns="0" rtlCol="0" anchor="t"/>
          <a:lstStyle/>
          <a:p>
            <a:pPr algn="l" indent="0" marL="0">
              <a:lnSpc>
                <a:spcPts val="1663"/>
              </a:lnSpc>
              <a:buNone/>
            </a:pPr>
            <a:r>
              <a:rPr lang="en-US" sz="1390" b="1" dirty="0">
                <a:solidFill>
                  <a:srgbClr val="15253D"/>
                </a:solidFill>
                <a:latin typeface="Public Sans" pitchFamily="34" charset="0"/>
                <a:ea typeface="Public Sans" pitchFamily="34" charset="-122"/>
                <a:cs typeface="Public Sans" pitchFamily="34" charset="-120"/>
              </a:rPr>
              <a:t>Who votes for them</a:t>
            </a:r>
            <a:endParaRPr lang="en-US" sz="1390" dirty="0"/>
          </a:p>
        </p:txBody>
      </p:sp>
      <p:sp>
        <p:nvSpPr>
          <p:cNvPr id="8" name="text-457"/>
          <p:cNvSpPr txBox="1"/>
          <p:nvPr/>
        </p:nvSpPr>
        <p:spPr>
          <a:xfrm>
            <a:off x="812800" y="2716808"/>
            <a:ext cx="6483350" cy="565845"/>
          </a:xfrm>
          <a:prstGeom prst="rect">
            <a:avLst/>
          </a:prstGeom>
          <a:noFill/>
          <a:ln/>
        </p:spPr>
        <p:txBody>
          <a:bodyPr wrap="square" lIns="0" tIns="0" rIns="0" bIns="0" rtlCol="0" anchor="t"/>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Targets younger voters, reservists and right-wingers who can’t back the current government (JPost, Sep 17). No earlier results; no sector data found. Channel 14 has it below the threshold.</a:t>
            </a:r>
            <a:endParaRPr lang="en-US" sz="1190" dirty="0"/>
          </a:p>
        </p:txBody>
      </p:sp>
      <p:sp>
        <p:nvSpPr>
          <p:cNvPr id="9" name="text-458"/>
          <p:cNvSpPr txBox="1"/>
          <p:nvPr/>
        </p:nvSpPr>
        <p:spPr>
          <a:xfrm>
            <a:off x="812800" y="3358852"/>
            <a:ext cx="6483350" cy="211138"/>
          </a:xfrm>
          <a:prstGeom prst="rect">
            <a:avLst/>
          </a:prstGeom>
          <a:noFill/>
          <a:ln/>
        </p:spPr>
        <p:txBody>
          <a:bodyPr wrap="square" lIns="0" tIns="0" rIns="0" bIns="0" rtlCol="0" anchor="t"/>
          <a:lstStyle/>
          <a:p>
            <a:pPr algn="l" indent="0" marL="0">
              <a:lnSpc>
                <a:spcPts val="1663"/>
              </a:lnSpc>
              <a:buNone/>
            </a:pPr>
            <a:r>
              <a:rPr lang="en-US" sz="1390" b="1" dirty="0">
                <a:solidFill>
                  <a:srgbClr val="15253D"/>
                </a:solidFill>
                <a:latin typeface="Public Sans" pitchFamily="34" charset="0"/>
                <a:ea typeface="Public Sans" pitchFamily="34" charset="-122"/>
                <a:cs typeface="Public Sans" pitchFamily="34" charset="-120"/>
              </a:rPr>
              <a:t>What they’re running on</a:t>
            </a:r>
            <a:endParaRPr lang="en-US" sz="1390" dirty="0"/>
          </a:p>
        </p:txBody>
      </p:sp>
      <p:graphicFrame>
        <p:nvGraphicFramePr>
          <p:cNvPr id="21" name="table-459"/>
          <p:cNvGraphicFramePr>
            <a:graphicFrameLocks noGrp="1"/>
          </p:cNvGraphicFramePr>
          <p:nvPr>
            <p:extLst>
              <p:ext uri="{D42A27DB-BD31-4B8C-83A1-F6EECF244321}">
                <p14:modId xmlns:p14="http://schemas.microsoft.com/office/powerpoint/2010/main" val="1579011935"/>
              </p:ext>
            </p:extLst>
          </p:nvPr>
        </p:nvGraphicFramePr>
        <p:xfrm>
          <a:off x="812800" y="3595390"/>
          <a:ext cx="6350000" cy="914400"/>
        </p:xfrm>
        <a:graphic>
          <a:graphicData uri="http://schemas.openxmlformats.org/drawingml/2006/table">
            <a:tbl>
              <a:tblPr/>
              <a:tblGrid>
                <a:gridCol w="1460500"/>
                <a:gridCol w="4889500"/>
              </a:tblGrid>
              <a:tr h="297359">
                <a:tc>
                  <a:txBody>
                    <a:bodyPr/>
                    <a:lstStyle/>
                    <a:p>
                      <a:pPr algn="l" indent="0" marL="0">
                        <a:lnSpc>
                          <a:spcPts val="1485"/>
                        </a:lnSpc>
                        <a:buNone/>
                      </a:pPr>
                      <a:r>
                        <a:rPr lang="en-US" sz="1190" dirty="0">
                          <a:solidFill>
                            <a:srgbClr val="9A541A"/>
                          </a:solidFill>
                          <a:latin typeface="Public Sans" pitchFamily="34" charset="0"/>
                          <a:ea typeface="Public Sans" pitchFamily="34" charset="-122"/>
                          <a:cs typeface="Public Sans" pitchFamily="34" charset="-120"/>
                        </a:rPr>
                        <a:t>Haredi draft</a:t>
                      </a:r>
                      <a:endParaRPr lang="en-US" sz="1190" dirty="0">
                        <a:latin typeface="Public Sans" charset="0"/>
                        <a:ea typeface="Public Sans" charset="0"/>
                        <a:cs typeface="Public Sans" charset="0"/>
                      </a:endParaRPr>
                    </a:p>
                  </a:txBody>
                  <a:tcPr marL="76200" marR="76200" marT="38100" marB="38100" anchor="t">
                    <a:lnL w="0" cap="flat" cmpd="sng" algn="ctr">
                      <a:noFill/>
                    </a:lnL>
                    <a:lnR w="0" cap="flat" cmpd="sng" algn="ctr">
                      <a:noFill/>
                    </a:lnR>
                    <a:lnT w="0" cap="flat" cmpd="sng" algn="ctr">
                      <a:noFill/>
                    </a:lnT>
                    <a:lnB w="6350" cap="flat" cmpd="sng" algn="ctr">
                      <a:solidFill>
                        <a:srgbClr val="D2CEC4"/>
                      </a:solidFill>
                      <a:prstDash val="solid"/>
                      <a:round/>
                      <a:headEnd type="none" w="med" len="med"/>
                      <a:tailEnd type="none" w="med" len="med"/>
                    </a:lnB>
                  </a:tcPr>
                </a:tc>
                <a:tc>
                  <a:txBody>
                    <a:bodyPr/>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A law ending draft evasion before joining. “Full stop.”</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0" cap="flat" cmpd="sng" algn="ctr">
                      <a:noFill/>
                    </a:lnT>
                    <a:lnB w="6350" cap="flat" cmpd="sng" algn="ctr">
                      <a:solidFill>
                        <a:srgbClr val="D2CEC4"/>
                      </a:solidFill>
                      <a:prstDash val="solid"/>
                      <a:round/>
                      <a:headEnd type="none" w="med" len="med"/>
                      <a:tailEnd type="none" w="med" len="med"/>
                    </a:lnB>
                  </a:tcPr>
                </a:tc>
              </a:tr>
              <a:tr h="300534">
                <a:tc>
                  <a:txBody>
                    <a:bodyPr/>
                    <a:lstStyle/>
                    <a:p>
                      <a:pPr algn="l" indent="0" marL="0">
                        <a:lnSpc>
                          <a:spcPts val="1485"/>
                        </a:lnSpc>
                        <a:buNone/>
                      </a:pPr>
                      <a:r>
                        <a:rPr lang="en-US" sz="1190" dirty="0">
                          <a:solidFill>
                            <a:srgbClr val="9A541A"/>
                          </a:solidFill>
                          <a:latin typeface="Public Sans" pitchFamily="34" charset="0"/>
                          <a:ea typeface="Public Sans" pitchFamily="34" charset="-122"/>
                          <a:cs typeface="Public Sans" pitchFamily="34" charset="-120"/>
                        </a:rPr>
                        <a:t>Courts</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Calls for a judicial overhaul; no details given</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0534">
                <a:tc>
                  <a:txBody>
                    <a:bodyPr/>
                    <a:lstStyle/>
                    <a:p>
                      <a:pPr algn="l" indent="0" marL="0">
                        <a:lnSpc>
                          <a:spcPts val="1485"/>
                        </a:lnSpc>
                        <a:buNone/>
                      </a:pPr>
                      <a:r>
                        <a:rPr lang="en-US" sz="1190" dirty="0">
                          <a:solidFill>
                            <a:srgbClr val="9A541A"/>
                          </a:solidFill>
                          <a:latin typeface="Public Sans" pitchFamily="34" charset="0"/>
                          <a:ea typeface="Public Sans" pitchFamily="34" charset="-122"/>
                          <a:cs typeface="Public Sans" pitchFamily="34" charset="-120"/>
                        </a:rPr>
                        <a:t>The war &amp; Gaza</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“There is one solution in Gaza: migration”</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0534">
                <a:tc>
                  <a:txBody>
                    <a:bodyPr/>
                    <a:lstStyle/>
                    <a:p>
                      <a:pPr algn="l" indent="0" marL="0">
                        <a:lnSpc>
                          <a:spcPts val="1485"/>
                        </a:lnSpc>
                        <a:buNone/>
                      </a:pPr>
                      <a:r>
                        <a:rPr lang="en-US" sz="1190" dirty="0">
                          <a:solidFill>
                            <a:srgbClr val="9A541A"/>
                          </a:solidFill>
                          <a:latin typeface="Public Sans" pitchFamily="34" charset="0"/>
                          <a:ea typeface="Public Sans" pitchFamily="34" charset="-122"/>
                          <a:cs typeface="Public Sans" pitchFamily="34" charset="-120"/>
                        </a:rPr>
                        <a:t>West Bank</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“There will never be a Palestinian state here”</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0534">
                <a:tc>
                  <a:txBody>
                    <a:bodyPr/>
                    <a:lstStyle/>
                    <a:p>
                      <a:pPr algn="l" indent="0" marL="0">
                        <a:lnSpc>
                          <a:spcPts val="1485"/>
                        </a:lnSpc>
                        <a:buNone/>
                      </a:pPr>
                      <a:r>
                        <a:rPr lang="en-US" sz="1190" dirty="0">
                          <a:solidFill>
                            <a:srgbClr val="9A541A"/>
                          </a:solidFill>
                          <a:latin typeface="Public Sans" pitchFamily="34" charset="0"/>
                          <a:ea typeface="Public Sans" pitchFamily="34" charset="-122"/>
                          <a:cs typeface="Public Sans" pitchFamily="34" charset="-120"/>
                        </a:rPr>
                        <a:t>Religion &amp; state</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No 2026 position found</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0534">
                <a:tc>
                  <a:txBody>
                    <a:bodyPr/>
                    <a:lstStyle/>
                    <a:p>
                      <a:pPr algn="l" indent="0" marL="0">
                        <a:lnSpc>
                          <a:spcPts val="1485"/>
                        </a:lnSpc>
                        <a:buNone/>
                      </a:pPr>
                      <a:r>
                        <a:rPr lang="en-US" sz="1190" dirty="0">
                          <a:solidFill>
                            <a:srgbClr val="9A541A"/>
                          </a:solidFill>
                          <a:latin typeface="Public Sans" pitchFamily="34" charset="0"/>
                          <a:ea typeface="Public Sans" pitchFamily="34" charset="-122"/>
                          <a:cs typeface="Public Sans" pitchFamily="34" charset="-120"/>
                        </a:rPr>
                        <a:t>Economy</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Double combat soldiers’ pay</a:t>
                      </a:r>
                      <a:endParaRPr lang="en-US" sz="1190" dirty="0">
                        <a:latin typeface="Public Sans" charset="0"/>
                        <a:ea typeface="Public Sans" charset="0"/>
                        <a:cs typeface="Public Sans" charset="0"/>
                      </a:endParaRPr>
                    </a:p>
                  </a:txBody>
                  <a:tcPr marL="90526" marR="90526" marT="52807" marB="52807"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bl>
          </a:graphicData>
        </a:graphic>
      </p:graphicFrame>
      <p:sp>
        <p:nvSpPr>
          <p:cNvPr id="11" name="shape-460"/>
          <p:cNvSpPr/>
          <p:nvPr/>
        </p:nvSpPr>
        <p:spPr>
          <a:xfrm>
            <a:off x="7416800" y="1627088"/>
            <a:ext cx="3962400" cy="992882"/>
          </a:xfrm>
          <a:prstGeom prst="roundRect">
            <a:avLst>
              <a:gd name="adj" fmla="val 7675"/>
            </a:avLst>
          </a:prstGeom>
          <a:solidFill>
            <a:srgbClr val="FBF8F1"/>
          </a:solidFill>
          <a:ln w="6350">
            <a:solidFill>
              <a:srgbClr val="D9D1C1"/>
            </a:solidFill>
            <a:prstDash val="solid"/>
          </a:ln>
        </p:spPr>
      </p:sp>
      <p:sp>
        <p:nvSpPr>
          <p:cNvPr id="12" name="text-461"/>
          <p:cNvSpPr txBox="1"/>
          <p:nvPr/>
        </p:nvSpPr>
        <p:spPr>
          <a:xfrm>
            <a:off x="7550150" y="1722338"/>
            <a:ext cx="3789236" cy="211138"/>
          </a:xfrm>
          <a:prstGeom prst="rect">
            <a:avLst/>
          </a:prstGeom>
          <a:noFill/>
          <a:ln/>
        </p:spPr>
        <p:txBody>
          <a:bodyPr wrap="square" lIns="0" tIns="0" rIns="0" bIns="0" rtlCol="0" anchor="t"/>
          <a:lstStyle/>
          <a:p>
            <a:pPr algn="l" indent="0" marL="0">
              <a:lnSpc>
                <a:spcPts val="1663"/>
              </a:lnSpc>
              <a:buNone/>
            </a:pPr>
            <a:r>
              <a:rPr lang="en-US" sz="1390" b="1" dirty="0">
                <a:solidFill>
                  <a:srgbClr val="15253D"/>
                </a:solidFill>
                <a:latin typeface="Public Sans" pitchFamily="34" charset="0"/>
                <a:ea typeface="Public Sans" pitchFamily="34" charset="-122"/>
                <a:cs typeface="Public Sans" pitchFamily="34" charset="-120"/>
              </a:rPr>
              <a:t>Ofer Winter</a:t>
            </a:r>
            <a:endParaRPr lang="en-US" sz="1390" dirty="0"/>
          </a:p>
        </p:txBody>
      </p:sp>
      <p:sp>
        <p:nvSpPr>
          <p:cNvPr id="13" name="text-462"/>
          <p:cNvSpPr txBox="1"/>
          <p:nvPr/>
        </p:nvSpPr>
        <p:spPr>
          <a:xfrm>
            <a:off x="7550150" y="1958876"/>
            <a:ext cx="3789236" cy="565845"/>
          </a:xfrm>
          <a:prstGeom prst="rect">
            <a:avLst/>
          </a:prstGeom>
          <a:noFill/>
          <a:ln/>
        </p:spPr>
        <p:txBody>
          <a:bodyPr wrap="square" lIns="0" tIns="0" rIns="0" bIns="0" rtlCol="0" anchor="t"/>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Born Feb 3, 1971, Rekhasim. IDF 1990–2024: commanded Duvdevan, Givati and the 98th Division. On Oct 7 went to the Be’eri front on his own.</a:t>
            </a:r>
            <a:endParaRPr lang="en-US" sz="1190" dirty="0"/>
          </a:p>
        </p:txBody>
      </p:sp>
      <p:sp>
        <p:nvSpPr>
          <p:cNvPr id="14" name="shape-463"/>
          <p:cNvSpPr/>
          <p:nvPr/>
        </p:nvSpPr>
        <p:spPr>
          <a:xfrm>
            <a:off x="7416800" y="2696170"/>
            <a:ext cx="3962400" cy="1347589"/>
          </a:xfrm>
          <a:prstGeom prst="roundRect">
            <a:avLst>
              <a:gd name="adj" fmla="val 5655"/>
            </a:avLst>
          </a:prstGeom>
          <a:solidFill>
            <a:srgbClr val="FBF8F1"/>
          </a:solidFill>
          <a:ln w="6350">
            <a:solidFill>
              <a:srgbClr val="D9D1C1"/>
            </a:solidFill>
            <a:prstDash val="solid"/>
          </a:ln>
        </p:spPr>
      </p:sp>
      <p:sp>
        <p:nvSpPr>
          <p:cNvPr id="15" name="text-464"/>
          <p:cNvSpPr txBox="1"/>
          <p:nvPr/>
        </p:nvSpPr>
        <p:spPr>
          <a:xfrm>
            <a:off x="7550150" y="2791420"/>
            <a:ext cx="3789236" cy="188615"/>
          </a:xfrm>
          <a:prstGeom prst="rect">
            <a:avLst/>
          </a:prstGeom>
          <a:noFill/>
          <a:ln/>
        </p:spPr>
        <p:txBody>
          <a:bodyPr wrap="square" lIns="0" tIns="0" rIns="0" bIns="0" rtlCol="0" anchor="t"/>
          <a:lstStyle/>
          <a:p>
            <a:pPr algn="l" indent="0" marL="0">
              <a:lnSpc>
                <a:spcPts val="1485"/>
              </a:lnSpc>
              <a:buNone/>
            </a:pPr>
            <a:r>
              <a:rPr lang="en-US" sz="1190" b="1" spc="100" kern="0" dirty="0">
                <a:solidFill>
                  <a:srgbClr val="9A541A"/>
                </a:solidFill>
                <a:latin typeface="Public Sans" pitchFamily="34" charset="0"/>
                <a:ea typeface="Public Sans" pitchFamily="34" charset="-122"/>
                <a:cs typeface="Public Sans" pitchFamily="34" charset="-120"/>
              </a:rPr>
              <a:t>ON THE LIST</a:t>
            </a:r>
            <a:endParaRPr lang="en-US" sz="1190" dirty="0"/>
          </a:p>
        </p:txBody>
      </p:sp>
      <p:sp>
        <p:nvSpPr>
          <p:cNvPr id="16" name="text-465"/>
          <p:cNvSpPr txBox="1"/>
          <p:nvPr/>
        </p:nvSpPr>
        <p:spPr>
          <a:xfrm>
            <a:off x="7550150" y="3005435"/>
            <a:ext cx="3789236" cy="943074"/>
          </a:xfrm>
          <a:prstGeom prst="rect">
            <a:avLst/>
          </a:prstGeom>
          <a:noFill/>
          <a:ln/>
        </p:spPr>
        <p:txBody>
          <a:bodyPr wrap="square" lIns="0" tIns="0" rIns="0" bIns="0" rtlCol="0" anchor="t"/>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2 Yoseph Haddad, Arab Orthodox Christian; wounded Golani volunteer</a:t>
            </a:r>
            <a:endParaRPr lang="en-US" sz="1190" dirty="0"/>
          </a:p>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3 Netali Shem Tov, journalist</a:t>
            </a:r>
            <a:endParaRPr lang="en-US" sz="1190" dirty="0"/>
          </a:p>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5 Fleur Hassan-Nahoum, ex-deputy mayor of Jerusalem</a:t>
            </a:r>
            <a:endParaRPr lang="en-US" sz="1190" dirty="0"/>
          </a:p>
        </p:txBody>
      </p:sp>
      <p:sp>
        <p:nvSpPr>
          <p:cNvPr id="17" name="shape-466"/>
          <p:cNvSpPr/>
          <p:nvPr/>
        </p:nvSpPr>
        <p:spPr>
          <a:xfrm>
            <a:off x="7416800" y="4119959"/>
            <a:ext cx="3962400" cy="1158974"/>
          </a:xfrm>
          <a:prstGeom prst="roundRect">
            <a:avLst>
              <a:gd name="adj" fmla="val 6575"/>
            </a:avLst>
          </a:prstGeom>
          <a:solidFill>
            <a:srgbClr val="FBF8F1"/>
          </a:solidFill>
          <a:ln w="6350">
            <a:solidFill>
              <a:srgbClr val="D9D1C1"/>
            </a:solidFill>
            <a:prstDash val="solid"/>
          </a:ln>
        </p:spPr>
      </p:sp>
      <p:sp>
        <p:nvSpPr>
          <p:cNvPr id="18" name="text-467"/>
          <p:cNvSpPr txBox="1"/>
          <p:nvPr/>
        </p:nvSpPr>
        <p:spPr>
          <a:xfrm>
            <a:off x="7550150" y="4215209"/>
            <a:ext cx="3789236" cy="188615"/>
          </a:xfrm>
          <a:prstGeom prst="rect">
            <a:avLst/>
          </a:prstGeom>
          <a:noFill/>
          <a:ln/>
        </p:spPr>
        <p:txBody>
          <a:bodyPr wrap="square" lIns="0" tIns="0" rIns="0" bIns="0" rtlCol="0" anchor="t"/>
          <a:lstStyle/>
          <a:p>
            <a:pPr algn="l" indent="0" marL="0">
              <a:lnSpc>
                <a:spcPts val="1485"/>
              </a:lnSpc>
              <a:buNone/>
            </a:pPr>
            <a:r>
              <a:rPr lang="en-US" sz="1190" b="1" spc="100" kern="0" dirty="0">
                <a:solidFill>
                  <a:srgbClr val="9A541A"/>
                </a:solidFill>
                <a:latin typeface="Public Sans" pitchFamily="34" charset="0"/>
                <a:ea typeface="Public Sans" pitchFamily="34" charset="-122"/>
                <a:cs typeface="Public Sans" pitchFamily="34" charset="-120"/>
              </a:rPr>
              <a:t>COALITION</a:t>
            </a:r>
            <a:endParaRPr lang="en-US" sz="1190" dirty="0"/>
          </a:p>
        </p:txBody>
      </p:sp>
      <p:sp>
        <p:nvSpPr>
          <p:cNvPr id="19" name="text-468"/>
          <p:cNvSpPr txBox="1"/>
          <p:nvPr/>
        </p:nvSpPr>
        <p:spPr>
          <a:xfrm>
            <a:off x="7550150" y="4429224"/>
            <a:ext cx="3789236" cy="754459"/>
          </a:xfrm>
          <a:prstGeom prst="rect">
            <a:avLst/>
          </a:prstGeom>
          <a:noFill/>
          <a:ln/>
        </p:spPr>
        <p:txBody>
          <a:bodyPr wrap="square" lIns="0" tIns="0" rIns="0" bIns="0" rtlCol="0" anchor="t"/>
          <a:lstStyle/>
          <a:p>
            <a:pPr algn="l" indent="0" marL="0">
              <a:lnSpc>
                <a:spcPts val="1485"/>
              </a:lnSpc>
              <a:buNone/>
            </a:pPr>
            <a:r>
              <a:rPr lang="en-US" sz="1190" dirty="0">
                <a:solidFill>
                  <a:srgbClr val="1B2634"/>
                </a:solidFill>
                <a:latin typeface="Public Sans" pitchFamily="34" charset="0"/>
                <a:ea typeface="Public Sans" pitchFamily="34" charset="-122"/>
                <a:cs typeface="Public Sans" pitchFamily="34" charset="-120"/>
              </a:rPr>
              <a:t>Recommends only Netanyahu. Reports conflict on whether he’d sit with Bennett or Lieberman; opposes Eisenkot at Defense (JPost Sep 2, Sep 17; Ynet Oct 4). Surplus partner: none.</a:t>
            </a:r>
            <a:endParaRPr lang="en-US" sz="1190" dirty="0"/>
          </a:p>
        </p:txBody>
      </p:sp>
      <p:sp>
        <p:nvSpPr>
          <p:cNvPr id="20" name="shape-469"/>
          <p:cNvSpPr/>
          <p:nvPr/>
        </p:nvSpPr>
        <p:spPr>
          <a:xfrm>
            <a:off x="7416800" y="5355134"/>
            <a:ext cx="3962400" cy="796826"/>
          </a:xfrm>
          <a:prstGeom prst="roundRect">
            <a:avLst>
              <a:gd name="adj" fmla="val 9563"/>
            </a:avLst>
          </a:prstGeom>
          <a:solidFill>
            <a:srgbClr val="FBF8F1"/>
          </a:solidFill>
          <a:ln w="6350">
            <a:solidFill>
              <a:srgbClr val="D9D1C1"/>
            </a:solidFill>
            <a:prstDash val="solid"/>
          </a:ln>
        </p:spPr>
      </p:sp>
      <p:sp>
        <p:nvSpPr>
          <p:cNvPr id="21" name="rule-470"/>
          <p:cNvSpPr/>
          <p:nvPr/>
        </p:nvSpPr>
        <p:spPr>
          <a:xfrm>
            <a:off x="7416800" y="5355134"/>
            <a:ext cx="38100" cy="796826"/>
          </a:xfrm>
          <a:prstGeom prst="rect">
            <a:avLst/>
          </a:prstGeom>
          <a:solidFill>
            <a:srgbClr val="15253D"/>
          </a:solidFill>
          <a:ln/>
        </p:spPr>
      </p:sp>
      <p:sp>
        <p:nvSpPr>
          <p:cNvPr id="22" name="text-471"/>
          <p:cNvSpPr txBox="1"/>
          <p:nvPr/>
        </p:nvSpPr>
        <p:spPr>
          <a:xfrm>
            <a:off x="7581900" y="5450384"/>
            <a:ext cx="3757009" cy="392311"/>
          </a:xfrm>
          <a:prstGeom prst="rect">
            <a:avLst/>
          </a:prstGeom>
          <a:noFill/>
          <a:ln/>
        </p:spPr>
        <p:txBody>
          <a:bodyPr wrap="square" lIns="0" tIns="0" rIns="0" bIns="0" rtlCol="0" anchor="t"/>
          <a:lstStyle/>
          <a:p>
            <a:pPr algn="l" indent="0" marL="0">
              <a:lnSpc>
                <a:spcPts val="1544"/>
              </a:lnSpc>
              <a:buNone/>
            </a:pPr>
            <a:r>
              <a:rPr lang="en-US" sz="1190" i="1" dirty="0">
                <a:solidFill>
                  <a:srgbClr val="1B2634"/>
                </a:solidFill>
                <a:latin typeface="Public Sans" pitchFamily="34" charset="0"/>
                <a:ea typeface="Public Sans" pitchFamily="34" charset="-122"/>
                <a:cs typeface="Public Sans" pitchFamily="34" charset="-120"/>
              </a:rPr>
              <a:t>“I want to work for Shfaram and Nazareth, not for Gaza and Jenin.”</a:t>
            </a:r>
            <a:endParaRPr lang="en-US" sz="1190" dirty="0"/>
          </a:p>
        </p:txBody>
      </p:sp>
      <p:sp>
        <p:nvSpPr>
          <p:cNvPr id="23" name="text-472"/>
          <p:cNvSpPr txBox="1"/>
          <p:nvPr/>
        </p:nvSpPr>
        <p:spPr>
          <a:xfrm>
            <a:off x="7581900" y="5868095"/>
            <a:ext cx="3757009" cy="188615"/>
          </a:xfrm>
          <a:prstGeom prst="rect">
            <a:avLst/>
          </a:prstGeom>
          <a:noFill/>
          <a:ln/>
        </p:spPr>
        <p:txBody>
          <a:bodyPr wrap="square" lIns="0" tIns="0" rIns="0" bIns="0" rtlCol="0" anchor="t"/>
          <a:lstStyle/>
          <a:p>
            <a:pPr algn="l" indent="0" marL="0">
              <a:lnSpc>
                <a:spcPts val="1485"/>
              </a:lnSpc>
              <a:buNone/>
            </a:pPr>
            <a:r>
              <a:rPr lang="en-US" sz="1190" dirty="0">
                <a:solidFill>
                  <a:srgbClr val="4F5B69"/>
                </a:solidFill>
                <a:latin typeface="Public Sans" pitchFamily="34" charset="0"/>
                <a:ea typeface="Public Sans" pitchFamily="34" charset="-122"/>
                <a:cs typeface="Public Sans" pitchFamily="34" charset="-120"/>
              </a:rPr>
              <a:t>Yoseph Haddad, no. 2, via JFeed, Sep 14, 2026</a:t>
            </a:r>
            <a:endParaRPr lang="en-US" sz="1190" dirty="0"/>
          </a:p>
        </p:txBody>
      </p:sp>
      <p:sp>
        <p:nvSpPr>
          <p:cNvPr id="24" name="text-473"/>
          <p:cNvSpPr txBox="1"/>
          <p:nvPr/>
        </p:nvSpPr>
        <p:spPr>
          <a:xfrm>
            <a:off x="812800" y="6253559"/>
            <a:ext cx="10762996" cy="19804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Ynet Aug 25 &amp; Oct 4 2026 · JPost Sep 2, 7 &amp; 17 2026 · ToI Oct 4 2026 · INN Sep 7 2026 · JFeed Sep 14 2026 · polls Sep 28–Oct 2 2026</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EFE4"/>
        </a:solidFill>
      </p:bgPr>
    </p:bg>
    <p:spTree>
      <p:nvGrpSpPr>
        <p:cNvPr id="1" name=""/>
        <p:cNvGrpSpPr/>
        <p:nvPr/>
      </p:nvGrpSpPr>
      <p:grpSpPr>
        <a:xfrm>
          <a:off x="0" y="0"/>
          <a:ext cx="0" cy="0"/>
          <a:chOff x="0" y="0"/>
          <a:chExt cx="0" cy="0"/>
        </a:xfrm>
      </p:grpSpPr>
      <p:sp>
        <p:nvSpPr>
          <p:cNvPr id="2" name="text-474"/>
          <p:cNvSpPr txBox="1"/>
          <p:nvPr/>
        </p:nvSpPr>
        <p:spPr>
          <a:xfrm>
            <a:off x="812800" y="812800"/>
            <a:ext cx="10762996" cy="206375"/>
          </a:xfrm>
          <a:prstGeom prst="rect">
            <a:avLst/>
          </a:prstGeom>
          <a:noFill/>
          <a:ln/>
        </p:spPr>
        <p:txBody>
          <a:bodyPr wrap="square" lIns="0" tIns="0" rIns="0" bIns="0" rtlCol="0" anchor="t"/>
          <a:lstStyle/>
          <a:p>
            <a:pPr algn="l" indent="0" marL="0">
              <a:lnSpc>
                <a:spcPts val="1625"/>
              </a:lnSpc>
              <a:buNone/>
            </a:pPr>
            <a:r>
              <a:rPr lang="en-US" sz="1300" b="1" dirty="0">
                <a:solidFill>
                  <a:srgbClr val="9A541A"/>
                </a:solidFill>
                <a:latin typeface="Public Sans" pitchFamily="34" charset="0"/>
                <a:ea typeface="Public Sans" pitchFamily="34" charset="-122"/>
                <a:cs typeface="Public Sans" pitchFamily="34" charset="-120"/>
              </a:rPr>
              <a:t>Zionist opposition · Gadi Eisenkot · Seats in latest polls: 21–23</a:t>
            </a:r>
            <a:endParaRPr lang="en-US" sz="1300" dirty="0"/>
          </a:p>
        </p:txBody>
      </p:sp>
      <p:sp>
        <p:nvSpPr>
          <p:cNvPr id="3" name="text-475"/>
          <p:cNvSpPr txBox="1"/>
          <p:nvPr/>
        </p:nvSpPr>
        <p:spPr>
          <a:xfrm>
            <a:off x="812800" y="1108075"/>
            <a:ext cx="10762996" cy="419100"/>
          </a:xfrm>
          <a:prstGeom prst="rect">
            <a:avLst/>
          </a:prstGeom>
          <a:noFill/>
          <a:ln/>
        </p:spPr>
        <p:txBody>
          <a:bodyPr wrap="square" lIns="0" tIns="0" rIns="0" bIns="0" rtlCol="0" anchor="t"/>
          <a:lstStyle/>
          <a:p>
            <a:pPr algn="l" indent="0" marL="0">
              <a:lnSpc>
                <a:spcPts val="3300"/>
              </a:lnSpc>
              <a:buNone/>
            </a:pPr>
            <a:r>
              <a:rPr lang="en-US" sz="3000" dirty="0">
                <a:solidFill>
                  <a:srgbClr val="15253D"/>
                </a:solidFill>
                <a:latin typeface="Libre Baskerville" pitchFamily="34" charset="0"/>
                <a:ea typeface="Libre Baskerville" pitchFamily="34" charset="-122"/>
                <a:cs typeface="Libre Baskerville" pitchFamily="34" charset="-120"/>
              </a:rPr>
              <a:t>Yashar!</a:t>
            </a:r>
            <a:pPr algn="l" indent="0" marL="0">
              <a:lnSpc>
                <a:spcPts val="3300"/>
              </a:lnSpc>
              <a:buNone/>
            </a:pPr>
            <a:r>
              <a:rPr lang="en-US" sz="3000" dirty="0">
                <a:solidFill>
                  <a:srgbClr val="7A8592"/>
                </a:solidFill>
                <a:latin typeface="Libre Baskerville" pitchFamily="34" charset="0"/>
                <a:ea typeface="Libre Baskerville" pitchFamily="34" charset="-122"/>
                <a:cs typeface="Libre Baskerville" pitchFamily="34" charset="-120"/>
              </a:rPr>
              <a:t> — Straight</a:t>
            </a:r>
            <a:endParaRPr lang="en-US" sz="3000" dirty="0"/>
          </a:p>
        </p:txBody>
      </p:sp>
      <p:sp>
        <p:nvSpPr>
          <p:cNvPr id="4" name="text-476"/>
          <p:cNvSpPr txBox="1"/>
          <p:nvPr/>
        </p:nvSpPr>
        <p:spPr>
          <a:xfrm>
            <a:off x="812800" y="1616075"/>
            <a:ext cx="6483350"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Who they are</a:t>
            </a:r>
            <a:endParaRPr lang="en-US" sz="1400" dirty="0"/>
          </a:p>
        </p:txBody>
      </p:sp>
      <p:sp>
        <p:nvSpPr>
          <p:cNvPr id="5" name="text-477"/>
          <p:cNvSpPr txBox="1"/>
          <p:nvPr/>
        </p:nvSpPr>
        <p:spPr>
          <a:xfrm>
            <a:off x="812800" y="1842095"/>
            <a:ext cx="6483350"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Founded Sept 16, 2025 by Gadi Eisenkot, two months after he resigned from the Knesset, with about 120 co-founders. Joined in 2026 by ex-Shin Bet chief Yoram Cohen, Orit Farkash-Hacohen, Elazar Stern and Adi Altschuler. A new list with no seat history.</a:t>
            </a:r>
            <a:endParaRPr lang="en-US" sz="1200" dirty="0"/>
          </a:p>
        </p:txBody>
      </p:sp>
      <p:sp>
        <p:nvSpPr>
          <p:cNvPr id="6" name="text-478"/>
          <p:cNvSpPr txBox="1"/>
          <p:nvPr/>
        </p:nvSpPr>
        <p:spPr>
          <a:xfrm>
            <a:off x="812800" y="2515195"/>
            <a:ext cx="6483350"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Who votes for them</a:t>
            </a:r>
            <a:endParaRPr lang="en-US" sz="1400" dirty="0"/>
          </a:p>
        </p:txBody>
      </p:sp>
      <p:sp>
        <p:nvSpPr>
          <p:cNvPr id="7" name="text-479"/>
          <p:cNvSpPr txBox="1"/>
          <p:nvPr/>
        </p:nvSpPr>
        <p:spPr>
          <a:xfrm>
            <a:off x="812800" y="2741216"/>
            <a:ext cx="6483350" cy="381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Aims at “Route 4” suburbs (Petah Tikva, Kiryat Ono, Holon) and former Likud voters (ToI). Largest share of first-time voters: 16% (N12/Midgam). No 2022 result.</a:t>
            </a:r>
            <a:endParaRPr lang="en-US" sz="1200" dirty="0"/>
          </a:p>
        </p:txBody>
      </p:sp>
      <p:sp>
        <p:nvSpPr>
          <p:cNvPr id="8" name="text-480"/>
          <p:cNvSpPr txBox="1"/>
          <p:nvPr/>
        </p:nvSpPr>
        <p:spPr>
          <a:xfrm>
            <a:off x="812800" y="3223816"/>
            <a:ext cx="6483350"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What they’re running on</a:t>
            </a:r>
            <a:endParaRPr lang="en-US" sz="1400" dirty="0"/>
          </a:p>
        </p:txBody>
      </p:sp>
      <p:graphicFrame>
        <p:nvGraphicFramePr>
          <p:cNvPr id="22" name="table-481"/>
          <p:cNvGraphicFramePr>
            <a:graphicFrameLocks noGrp="1"/>
          </p:cNvGraphicFramePr>
          <p:nvPr>
            <p:extLst>
              <p:ext uri="{D42A27DB-BD31-4B8C-83A1-F6EECF244321}">
                <p14:modId xmlns:p14="http://schemas.microsoft.com/office/powerpoint/2010/main" val="1579011935"/>
              </p:ext>
            </p:extLst>
          </p:nvPr>
        </p:nvGraphicFramePr>
        <p:xfrm>
          <a:off x="812800" y="3475236"/>
          <a:ext cx="6350000" cy="914400"/>
        </p:xfrm>
        <a:graphic>
          <a:graphicData uri="http://schemas.openxmlformats.org/drawingml/2006/table">
            <a:tbl>
              <a:tblPr/>
              <a:tblGrid>
                <a:gridCol w="1522413"/>
                <a:gridCol w="4821238"/>
              </a:tblGrid>
              <a:tr h="316210">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Haredi draft</a:t>
                      </a:r>
                      <a:endParaRPr lang="en-US" sz="1200" dirty="0">
                        <a:latin typeface="Public Sans" charset="0"/>
                        <a:ea typeface="Public Sans" charset="0"/>
                        <a:cs typeface="Public Sans" charset="0"/>
                      </a:endParaRPr>
                    </a:p>
                  </a:txBody>
                  <a:tcPr marL="88900" marR="88900" marT="63500" marB="6350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9D1C1"/>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“National Service for All”; deferments capped at 3%</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9D1C1"/>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Courts</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Repeal the judicial-selection law; no override clause</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The war &amp; Gaza</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Opposes Board of Peace plan as “leaving Hamas in power”</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47863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West Bank</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Opposes a Palestinian state (ToI Sep 26; JTA Sep 9); the JC reports him calling the question “largely irrelevant” (Oct 4)</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Religion &amp; state</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“A secular party, but not anti-religious” (JC)</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Economy</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Conscript pay +15%; reserve duty capped at 50 days a year</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r>
            </a:tbl>
          </a:graphicData>
        </a:graphic>
      </p:graphicFrame>
      <p:sp>
        <p:nvSpPr>
          <p:cNvPr id="10" name="shape-482"/>
          <p:cNvSpPr/>
          <p:nvPr/>
        </p:nvSpPr>
        <p:spPr>
          <a:xfrm>
            <a:off x="7416800" y="1616075"/>
            <a:ext cx="3962400" cy="822920"/>
          </a:xfrm>
          <a:prstGeom prst="roundRect">
            <a:avLst>
              <a:gd name="adj" fmla="val 9260"/>
            </a:avLst>
          </a:prstGeom>
          <a:solidFill>
            <a:srgbClr val="FBF8F1"/>
          </a:solidFill>
          <a:ln w="6350">
            <a:solidFill>
              <a:srgbClr val="D9D1C1"/>
            </a:solidFill>
            <a:prstDash val="solid"/>
          </a:ln>
        </p:spPr>
      </p:sp>
      <p:sp>
        <p:nvSpPr>
          <p:cNvPr id="11" name="text-483"/>
          <p:cNvSpPr txBox="1"/>
          <p:nvPr/>
        </p:nvSpPr>
        <p:spPr>
          <a:xfrm>
            <a:off x="7562850" y="1711325"/>
            <a:ext cx="3763455"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Gadi Eisenkot · b. 1960, Tiberias</a:t>
            </a:r>
            <a:endParaRPr lang="en-US" sz="1400" dirty="0"/>
          </a:p>
        </p:txBody>
      </p:sp>
      <p:sp>
        <p:nvSpPr>
          <p:cNvPr id="12" name="text-484"/>
          <p:cNvSpPr txBox="1"/>
          <p:nvPr/>
        </p:nvSpPr>
        <p:spPr>
          <a:xfrm>
            <a:off x="7562850" y="1962745"/>
            <a:ext cx="3763455" cy="381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Son of Moroccan immigrants. IDF chief of staff 2015–19. His son Gal was killed in Gaza in Dec 2023.</a:t>
            </a:r>
            <a:endParaRPr lang="en-US" sz="1200" dirty="0"/>
          </a:p>
        </p:txBody>
      </p:sp>
      <p:sp>
        <p:nvSpPr>
          <p:cNvPr id="13" name="shape-485"/>
          <p:cNvSpPr/>
          <p:nvPr/>
        </p:nvSpPr>
        <p:spPr>
          <a:xfrm>
            <a:off x="7416800" y="2515195"/>
            <a:ext cx="3962400" cy="990600"/>
          </a:xfrm>
          <a:prstGeom prst="roundRect">
            <a:avLst>
              <a:gd name="adj" fmla="val 7692"/>
            </a:avLst>
          </a:prstGeom>
          <a:solidFill>
            <a:srgbClr val="FBF8F1"/>
          </a:solidFill>
          <a:ln w="6350">
            <a:solidFill>
              <a:srgbClr val="D9D1C1"/>
            </a:solidFill>
            <a:prstDash val="solid"/>
          </a:ln>
        </p:spPr>
      </p:sp>
      <p:sp>
        <p:nvSpPr>
          <p:cNvPr id="14" name="text-486"/>
          <p:cNvSpPr txBox="1"/>
          <p:nvPr/>
        </p:nvSpPr>
        <p:spPr>
          <a:xfrm>
            <a:off x="7562850" y="2610445"/>
            <a:ext cx="3763455"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9A541A"/>
                </a:solidFill>
                <a:latin typeface="Public Sans" pitchFamily="34" charset="0"/>
                <a:ea typeface="Public Sans" pitchFamily="34" charset="-122"/>
                <a:cs typeface="Public Sans" pitchFamily="34" charset="-120"/>
              </a:rPr>
              <a:t>ON THE LIST</a:t>
            </a:r>
            <a:endParaRPr lang="en-US" sz="1200" dirty="0"/>
          </a:p>
        </p:txBody>
      </p:sp>
      <p:sp>
        <p:nvSpPr>
          <p:cNvPr id="15" name="text-487"/>
          <p:cNvSpPr txBox="1"/>
          <p:nvPr/>
        </p:nvSpPr>
        <p:spPr>
          <a:xfrm>
            <a:off x="7562850" y="2839045"/>
            <a:ext cx="3763455"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2 · Yoram Cohen, ex-Shin Bet chief</a:t>
            </a:r>
            <a:endParaRPr lang="en-US" sz="1200" dirty="0"/>
          </a:p>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3 · Orit Farkash-Hacohen</a:t>
            </a:r>
            <a:endParaRPr lang="en-US" sz="1200" dirty="0"/>
          </a:p>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6 · Chili Tropper</a:t>
            </a:r>
            <a:endParaRPr lang="en-US" sz="1200" dirty="0"/>
          </a:p>
        </p:txBody>
      </p:sp>
      <p:sp>
        <p:nvSpPr>
          <p:cNvPr id="16" name="shape-488"/>
          <p:cNvSpPr/>
          <p:nvPr/>
        </p:nvSpPr>
        <p:spPr>
          <a:xfrm>
            <a:off x="7416800" y="3581995"/>
            <a:ext cx="3962400" cy="800100"/>
          </a:xfrm>
          <a:prstGeom prst="roundRect">
            <a:avLst>
              <a:gd name="adj" fmla="val 9524"/>
            </a:avLst>
          </a:prstGeom>
          <a:solidFill>
            <a:srgbClr val="FBF8F1"/>
          </a:solidFill>
          <a:ln w="6350">
            <a:solidFill>
              <a:srgbClr val="D9D1C1"/>
            </a:solidFill>
            <a:prstDash val="solid"/>
          </a:ln>
        </p:spPr>
      </p:sp>
      <p:sp>
        <p:nvSpPr>
          <p:cNvPr id="17" name="text-489"/>
          <p:cNvSpPr txBox="1"/>
          <p:nvPr/>
        </p:nvSpPr>
        <p:spPr>
          <a:xfrm>
            <a:off x="7562850" y="3677245"/>
            <a:ext cx="3763455"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9A541A"/>
                </a:solidFill>
                <a:latin typeface="Public Sans" pitchFamily="34" charset="0"/>
                <a:ea typeface="Public Sans" pitchFamily="34" charset="-122"/>
                <a:cs typeface="Public Sans" pitchFamily="34" charset="-120"/>
              </a:rPr>
              <a:t>COALITION</a:t>
            </a:r>
            <a:endParaRPr lang="en-US" sz="1200" dirty="0"/>
          </a:p>
        </p:txBody>
      </p:sp>
      <p:sp>
        <p:nvSpPr>
          <p:cNvPr id="18" name="text-490"/>
          <p:cNvSpPr txBox="1"/>
          <p:nvPr/>
        </p:nvSpPr>
        <p:spPr>
          <a:xfrm>
            <a:off x="7562850" y="3905845"/>
            <a:ext cx="3763455" cy="381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Any Zionist party that accepts his four principles. Not Ra'am. Surplus partner: the Democrats.</a:t>
            </a:r>
            <a:endParaRPr lang="en-US" sz="1200" dirty="0"/>
          </a:p>
        </p:txBody>
      </p:sp>
      <p:sp>
        <p:nvSpPr>
          <p:cNvPr id="19" name="shape-491"/>
          <p:cNvSpPr/>
          <p:nvPr/>
        </p:nvSpPr>
        <p:spPr>
          <a:xfrm>
            <a:off x="7416800" y="4458295"/>
            <a:ext cx="3962400" cy="787400"/>
          </a:xfrm>
          <a:prstGeom prst="roundRect">
            <a:avLst>
              <a:gd name="adj" fmla="val 9677"/>
            </a:avLst>
          </a:prstGeom>
          <a:solidFill>
            <a:srgbClr val="15253D"/>
          </a:solidFill>
          <a:ln/>
        </p:spPr>
      </p:sp>
      <p:sp>
        <p:nvSpPr>
          <p:cNvPr id="20" name="text-492"/>
          <p:cNvSpPr txBox="1"/>
          <p:nvPr/>
        </p:nvSpPr>
        <p:spPr>
          <a:xfrm>
            <a:off x="7556500" y="4547195"/>
            <a:ext cx="3776345" cy="190500"/>
          </a:xfrm>
          <a:prstGeom prst="rect">
            <a:avLst/>
          </a:prstGeom>
          <a:noFill/>
          <a:ln/>
        </p:spPr>
        <p:txBody>
          <a:bodyPr wrap="square" lIns="0" tIns="0" rIns="0" bIns="0" rtlCol="0" anchor="t"/>
          <a:lstStyle/>
          <a:p>
            <a:pPr algn="l" indent="0" marL="0">
              <a:lnSpc>
                <a:spcPts val="1500"/>
              </a:lnSpc>
              <a:buNone/>
            </a:pPr>
            <a:r>
              <a:rPr lang="en-US" sz="1200" i="1" dirty="0">
                <a:solidFill>
                  <a:srgbClr val="F4EFE4"/>
                </a:solidFill>
                <a:latin typeface="Public Sans" pitchFamily="34" charset="0"/>
                <a:ea typeface="Public Sans" pitchFamily="34" charset="-122"/>
                <a:cs typeface="Public Sans" pitchFamily="34" charset="-120"/>
              </a:rPr>
              <a:t>“Not about right or left, but straight.”</a:t>
            </a:r>
            <a:endParaRPr lang="en-US" sz="1200" dirty="0"/>
          </a:p>
        </p:txBody>
      </p:sp>
      <p:sp>
        <p:nvSpPr>
          <p:cNvPr id="21" name="text-493"/>
          <p:cNvSpPr txBox="1"/>
          <p:nvPr/>
        </p:nvSpPr>
        <p:spPr>
          <a:xfrm>
            <a:off x="7556500" y="4775795"/>
            <a:ext cx="3776345" cy="381000"/>
          </a:xfrm>
          <a:prstGeom prst="rect">
            <a:avLst/>
          </a:prstGeom>
          <a:noFill/>
          <a:ln/>
        </p:spPr>
        <p:txBody>
          <a:bodyPr wrap="square" lIns="0" tIns="0" rIns="0" bIns="0" rtlCol="0" anchor="t"/>
          <a:lstStyle/>
          <a:p>
            <a:pPr algn="l" indent="0" marL="0">
              <a:lnSpc>
                <a:spcPts val="1500"/>
              </a:lnSpc>
              <a:buNone/>
            </a:pPr>
            <a:r>
              <a:rPr lang="en-US" sz="1200" dirty="0">
                <a:solidFill>
                  <a:srgbClr val="E2AD6E"/>
                </a:solidFill>
                <a:latin typeface="Public Sans" pitchFamily="34" charset="0"/>
                <a:ea typeface="Public Sans" pitchFamily="34" charset="-122"/>
                <a:cs typeface="Public Sans" pitchFamily="34" charset="-120"/>
              </a:rPr>
              <a:t>Freed hostage Eli Sharabi, the source of the name (ToI, Sep 16, 2025)</a:t>
            </a:r>
            <a:endParaRPr lang="en-US" sz="1200" dirty="0"/>
          </a:p>
        </p:txBody>
      </p:sp>
      <p:sp>
        <p:nvSpPr>
          <p:cNvPr id="22" name="text-494"/>
          <p:cNvSpPr txBox="1"/>
          <p:nvPr/>
        </p:nvSpPr>
        <p:spPr>
          <a:xfrm>
            <a:off x="812800" y="6055519"/>
            <a:ext cx="10762996" cy="39608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ToI Sep 16 2025 &amp; Sep 26 2026 · JPost Aug 1 &amp; Sep 24 2026 · Ynet Sep 16 &amp; 22 2026 · JTA Sep 9 2026 · JC Oct 4 2026 · polls Sep 28–Oct 2 2026</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EFE4"/>
        </a:solidFill>
      </p:bgPr>
    </p:bg>
    <p:spTree>
      <p:nvGrpSpPr>
        <p:cNvPr id="1" name=""/>
        <p:cNvGrpSpPr/>
        <p:nvPr/>
      </p:nvGrpSpPr>
      <p:grpSpPr>
        <a:xfrm>
          <a:off x="0" y="0"/>
          <a:ext cx="0" cy="0"/>
          <a:chOff x="0" y="0"/>
          <a:chExt cx="0" cy="0"/>
        </a:xfrm>
      </p:grpSpPr>
      <p:sp>
        <p:nvSpPr>
          <p:cNvPr id="2" name="text-495"/>
          <p:cNvSpPr txBox="1"/>
          <p:nvPr/>
        </p:nvSpPr>
        <p:spPr>
          <a:xfrm>
            <a:off x="812800" y="812800"/>
            <a:ext cx="10762996" cy="206375"/>
          </a:xfrm>
          <a:prstGeom prst="rect">
            <a:avLst/>
          </a:prstGeom>
          <a:noFill/>
          <a:ln/>
        </p:spPr>
        <p:txBody>
          <a:bodyPr wrap="square" lIns="0" tIns="0" rIns="0" bIns="0" rtlCol="0" anchor="t"/>
          <a:lstStyle/>
          <a:p>
            <a:pPr algn="l" indent="0" marL="0">
              <a:lnSpc>
                <a:spcPts val="1625"/>
              </a:lnSpc>
              <a:buNone/>
            </a:pPr>
            <a:r>
              <a:rPr lang="en-US" sz="1300" b="1" dirty="0">
                <a:solidFill>
                  <a:srgbClr val="9A541A"/>
                </a:solidFill>
                <a:latin typeface="Public Sans" pitchFamily="34" charset="0"/>
                <a:ea typeface="Public Sans" pitchFamily="34" charset="-122"/>
                <a:cs typeface="Public Sans" pitchFamily="34" charset="-120"/>
              </a:rPr>
              <a:t>Zionist opposition · Naftali Bennett · Seats in latest polls: 8–13</a:t>
            </a:r>
            <a:endParaRPr lang="en-US" sz="1300" dirty="0"/>
          </a:p>
        </p:txBody>
      </p:sp>
      <p:sp>
        <p:nvSpPr>
          <p:cNvPr id="3" name="text-496"/>
          <p:cNvSpPr txBox="1"/>
          <p:nvPr/>
        </p:nvSpPr>
        <p:spPr>
          <a:xfrm>
            <a:off x="812800" y="1108075"/>
            <a:ext cx="10762996" cy="419100"/>
          </a:xfrm>
          <a:prstGeom prst="rect">
            <a:avLst/>
          </a:prstGeom>
          <a:noFill/>
          <a:ln/>
        </p:spPr>
        <p:txBody>
          <a:bodyPr wrap="square" lIns="0" tIns="0" rIns="0" bIns="0" rtlCol="0" anchor="t"/>
          <a:lstStyle/>
          <a:p>
            <a:pPr algn="l" indent="0" marL="0">
              <a:lnSpc>
                <a:spcPts val="3300"/>
              </a:lnSpc>
              <a:buNone/>
            </a:pPr>
            <a:r>
              <a:rPr lang="en-US" sz="3000" dirty="0">
                <a:solidFill>
                  <a:srgbClr val="15253D"/>
                </a:solidFill>
                <a:latin typeface="Libre Baskerville" pitchFamily="34" charset="0"/>
                <a:ea typeface="Libre Baskerville" pitchFamily="34" charset="-122"/>
                <a:cs typeface="Libre Baskerville" pitchFamily="34" charset="-120"/>
              </a:rPr>
              <a:t>B'Yachad</a:t>
            </a:r>
            <a:pPr algn="l" indent="0" marL="0">
              <a:lnSpc>
                <a:spcPts val="3300"/>
              </a:lnSpc>
              <a:buNone/>
            </a:pPr>
            <a:r>
              <a:rPr lang="en-US" sz="3000" dirty="0">
                <a:solidFill>
                  <a:srgbClr val="7A8592"/>
                </a:solidFill>
                <a:latin typeface="Libre Baskerville" pitchFamily="34" charset="0"/>
                <a:ea typeface="Libre Baskerville" pitchFamily="34" charset="-122"/>
                <a:cs typeface="Libre Baskerville" pitchFamily="34" charset="-120"/>
              </a:rPr>
              <a:t> — Together</a:t>
            </a:r>
            <a:endParaRPr lang="en-US" sz="3000" dirty="0"/>
          </a:p>
        </p:txBody>
      </p:sp>
      <p:sp>
        <p:nvSpPr>
          <p:cNvPr id="4" name="text-497"/>
          <p:cNvSpPr txBox="1"/>
          <p:nvPr/>
        </p:nvSpPr>
        <p:spPr>
          <a:xfrm>
            <a:off x="812800" y="1616075"/>
            <a:ext cx="6483350"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Who they are</a:t>
            </a:r>
            <a:endParaRPr lang="en-US" sz="1400" dirty="0"/>
          </a:p>
        </p:txBody>
      </p:sp>
      <p:sp>
        <p:nvSpPr>
          <p:cNvPr id="5" name="text-498"/>
          <p:cNvSpPr txBox="1"/>
          <p:nvPr/>
        </p:nvSpPr>
        <p:spPr>
          <a:xfrm>
            <a:off x="812800" y="1842095"/>
            <a:ext cx="6483350" cy="381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Bennett's list, registered April 2025. On April 26, 2026 Yair Lapid's Yesh Atid joined it, with Bennett as PM candidate and Lapid at no. 2. Not a formal merger.</a:t>
            </a:r>
            <a:endParaRPr lang="en-US" sz="1200" dirty="0"/>
          </a:p>
        </p:txBody>
      </p:sp>
      <p:sp>
        <p:nvSpPr>
          <p:cNvPr id="6" name="text-499"/>
          <p:cNvSpPr txBox="1"/>
          <p:nvPr/>
        </p:nvSpPr>
        <p:spPr>
          <a:xfrm>
            <a:off x="812800" y="2324695"/>
            <a:ext cx="6483350"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Who votes for them</a:t>
            </a:r>
            <a:endParaRPr lang="en-US" sz="1400" dirty="0"/>
          </a:p>
        </p:txBody>
      </p:sp>
      <p:sp>
        <p:nvSpPr>
          <p:cNvPr id="7" name="text-500"/>
          <p:cNvSpPr txBox="1"/>
          <p:nvPr/>
        </p:nvSpPr>
        <p:spPr>
          <a:xfrm>
            <a:off x="812800" y="2550716"/>
            <a:ext cx="6483350" cy="381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Yesh Atid 2022: 847,435 votes, 17.79%, 24 seats; its voters 78.5% secular (IDI). Polling fell from ~25 seats in May to about half (ToI).</a:t>
            </a:r>
            <a:endParaRPr lang="en-US" sz="1200" dirty="0"/>
          </a:p>
        </p:txBody>
      </p:sp>
      <p:sp>
        <p:nvSpPr>
          <p:cNvPr id="8" name="text-501"/>
          <p:cNvSpPr txBox="1"/>
          <p:nvPr/>
        </p:nvSpPr>
        <p:spPr>
          <a:xfrm>
            <a:off x="812800" y="3033316"/>
            <a:ext cx="6483350"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What they’re running on</a:t>
            </a:r>
            <a:endParaRPr lang="en-US" sz="1400" dirty="0"/>
          </a:p>
        </p:txBody>
      </p:sp>
      <p:graphicFrame>
        <p:nvGraphicFramePr>
          <p:cNvPr id="23" name="table-502"/>
          <p:cNvGraphicFramePr>
            <a:graphicFrameLocks noGrp="1"/>
          </p:cNvGraphicFramePr>
          <p:nvPr>
            <p:extLst>
              <p:ext uri="{D42A27DB-BD31-4B8C-83A1-F6EECF244321}">
                <p14:modId xmlns:p14="http://schemas.microsoft.com/office/powerpoint/2010/main" val="1579011935"/>
              </p:ext>
            </p:extLst>
          </p:nvPr>
        </p:nvGraphicFramePr>
        <p:xfrm>
          <a:off x="812800" y="3284736"/>
          <a:ext cx="6350000" cy="914400"/>
        </p:xfrm>
        <a:graphic>
          <a:graphicData uri="http://schemas.openxmlformats.org/drawingml/2006/table">
            <a:tbl>
              <a:tblPr/>
              <a:tblGrid>
                <a:gridCol w="1522413"/>
                <a:gridCol w="4821238"/>
              </a:tblGrid>
              <a:tr h="316210">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Haredi draft</a:t>
                      </a:r>
                      <a:endParaRPr lang="en-US" sz="1200" dirty="0">
                        <a:latin typeface="Public Sans" charset="0"/>
                        <a:ea typeface="Public Sans" charset="0"/>
                        <a:cs typeface="Public Sans" charset="0"/>
                      </a:endParaRPr>
                    </a:p>
                  </a:txBody>
                  <a:tcPr marL="88900" marR="88900" marT="63500" marB="6350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9D1C1"/>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Service for all “without exemptions”</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9D1C1"/>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Courts</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Repeal the appointments law; Basic Law on review</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The war &amp; Gaza</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Hold the red line “until Hamas is disarmed”</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West Bank</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No Palestinian state; legal settlement in Area C</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Religion &amp; state</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Civil marriage; local choice on Shabbat transit</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Economy</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“Cut food prices by 30% within three years”</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47863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Netanyahu's trial</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Bennett would back a binding arrangement: “respectful retirement from political life alongside the end of the trial”</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r>
            </a:tbl>
          </a:graphicData>
        </a:graphic>
      </p:graphicFrame>
      <p:sp>
        <p:nvSpPr>
          <p:cNvPr id="10" name="shape-503"/>
          <p:cNvSpPr/>
          <p:nvPr/>
        </p:nvSpPr>
        <p:spPr>
          <a:xfrm>
            <a:off x="7416800" y="1616075"/>
            <a:ext cx="3962400" cy="822920"/>
          </a:xfrm>
          <a:prstGeom prst="roundRect">
            <a:avLst>
              <a:gd name="adj" fmla="val 9260"/>
            </a:avLst>
          </a:prstGeom>
          <a:solidFill>
            <a:srgbClr val="FBF8F1"/>
          </a:solidFill>
          <a:ln w="6350">
            <a:solidFill>
              <a:srgbClr val="D9D1C1"/>
            </a:solidFill>
            <a:prstDash val="solid"/>
          </a:ln>
        </p:spPr>
      </p:sp>
      <p:sp>
        <p:nvSpPr>
          <p:cNvPr id="11" name="text-504"/>
          <p:cNvSpPr txBox="1"/>
          <p:nvPr/>
        </p:nvSpPr>
        <p:spPr>
          <a:xfrm>
            <a:off x="7562850" y="1711325"/>
            <a:ext cx="3763455"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Naftali Bennett · b. 1972, Haifa</a:t>
            </a:r>
            <a:endParaRPr lang="en-US" sz="1400" dirty="0"/>
          </a:p>
        </p:txBody>
      </p:sp>
      <p:sp>
        <p:nvSpPr>
          <p:cNvPr id="12" name="text-505"/>
          <p:cNvSpPr txBox="1"/>
          <p:nvPr/>
        </p:nvSpPr>
        <p:spPr>
          <a:xfrm>
            <a:off x="7562850" y="1962745"/>
            <a:ext cx="3763455" cy="381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Son of American immigrants. Sayeret Matkal; tech founder. Prime minister 2021–22.</a:t>
            </a:r>
            <a:endParaRPr lang="en-US" sz="1200" dirty="0"/>
          </a:p>
        </p:txBody>
      </p:sp>
      <p:sp>
        <p:nvSpPr>
          <p:cNvPr id="13" name="shape-506"/>
          <p:cNvSpPr/>
          <p:nvPr/>
        </p:nvSpPr>
        <p:spPr>
          <a:xfrm>
            <a:off x="7416800" y="2515195"/>
            <a:ext cx="3962400" cy="990600"/>
          </a:xfrm>
          <a:prstGeom prst="roundRect">
            <a:avLst>
              <a:gd name="adj" fmla="val 7692"/>
            </a:avLst>
          </a:prstGeom>
          <a:solidFill>
            <a:srgbClr val="FBF8F1"/>
          </a:solidFill>
          <a:ln w="6350">
            <a:solidFill>
              <a:srgbClr val="D9D1C1"/>
            </a:solidFill>
            <a:prstDash val="solid"/>
          </a:ln>
        </p:spPr>
      </p:sp>
      <p:sp>
        <p:nvSpPr>
          <p:cNvPr id="14" name="text-507"/>
          <p:cNvSpPr txBox="1"/>
          <p:nvPr/>
        </p:nvSpPr>
        <p:spPr>
          <a:xfrm>
            <a:off x="7562850" y="2610445"/>
            <a:ext cx="3763455"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9A541A"/>
                </a:solidFill>
                <a:latin typeface="Public Sans" pitchFamily="34" charset="0"/>
                <a:ea typeface="Public Sans" pitchFamily="34" charset="-122"/>
                <a:cs typeface="Public Sans" pitchFamily="34" charset="-120"/>
              </a:rPr>
              <a:t>ON THE LIST</a:t>
            </a:r>
            <a:endParaRPr lang="en-US" sz="1200" dirty="0"/>
          </a:p>
        </p:txBody>
      </p:sp>
      <p:sp>
        <p:nvSpPr>
          <p:cNvPr id="15" name="text-508"/>
          <p:cNvSpPr txBox="1"/>
          <p:nvPr/>
        </p:nvSpPr>
        <p:spPr>
          <a:xfrm>
            <a:off x="7562850" y="2839045"/>
            <a:ext cx="3763455"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2 · Yair Lapid</a:t>
            </a:r>
            <a:endParaRPr lang="en-US" sz="1200" dirty="0"/>
          </a:p>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3 · Keren Terner, ex-finance DG</a:t>
            </a:r>
            <a:endParaRPr lang="en-US" sz="1200" dirty="0"/>
          </a:p>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12 · Ram Ben Barak</a:t>
            </a:r>
            <a:endParaRPr lang="en-US" sz="1200" dirty="0"/>
          </a:p>
        </p:txBody>
      </p:sp>
      <p:sp>
        <p:nvSpPr>
          <p:cNvPr id="16" name="shape-509"/>
          <p:cNvSpPr/>
          <p:nvPr/>
        </p:nvSpPr>
        <p:spPr>
          <a:xfrm>
            <a:off x="7416800" y="3581995"/>
            <a:ext cx="3962400" cy="800100"/>
          </a:xfrm>
          <a:prstGeom prst="roundRect">
            <a:avLst>
              <a:gd name="adj" fmla="val 9524"/>
            </a:avLst>
          </a:prstGeom>
          <a:solidFill>
            <a:srgbClr val="FBF8F1"/>
          </a:solidFill>
          <a:ln w="6350">
            <a:solidFill>
              <a:srgbClr val="D9D1C1"/>
            </a:solidFill>
            <a:prstDash val="solid"/>
          </a:ln>
        </p:spPr>
      </p:sp>
      <p:sp>
        <p:nvSpPr>
          <p:cNvPr id="17" name="text-510"/>
          <p:cNvSpPr txBox="1"/>
          <p:nvPr/>
        </p:nvSpPr>
        <p:spPr>
          <a:xfrm>
            <a:off x="7562850" y="3677245"/>
            <a:ext cx="3763455"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9A541A"/>
                </a:solidFill>
                <a:latin typeface="Public Sans" pitchFamily="34" charset="0"/>
                <a:ea typeface="Public Sans" pitchFamily="34" charset="-122"/>
                <a:cs typeface="Public Sans" pitchFamily="34" charset="-120"/>
              </a:rPr>
              <a:t>COALITION</a:t>
            </a:r>
            <a:endParaRPr lang="en-US" sz="1200" dirty="0"/>
          </a:p>
        </p:txBody>
      </p:sp>
      <p:sp>
        <p:nvSpPr>
          <p:cNvPr id="18" name="text-511"/>
          <p:cNvSpPr txBox="1"/>
          <p:nvPr/>
        </p:nvSpPr>
        <p:spPr>
          <a:xfrm>
            <a:off x="7562850" y="3905845"/>
            <a:ext cx="3763455" cy="381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Zionist parties only; no Arab or Haredi parties. Surplus partner: Yisrael Beiteinu.</a:t>
            </a:r>
            <a:endParaRPr lang="en-US" sz="1200" dirty="0"/>
          </a:p>
        </p:txBody>
      </p:sp>
      <p:sp>
        <p:nvSpPr>
          <p:cNvPr id="19" name="shape-512"/>
          <p:cNvSpPr/>
          <p:nvPr/>
        </p:nvSpPr>
        <p:spPr>
          <a:xfrm>
            <a:off x="7416800" y="4458295"/>
            <a:ext cx="3962400" cy="787400"/>
          </a:xfrm>
          <a:prstGeom prst="roundRect">
            <a:avLst>
              <a:gd name="adj" fmla="val 9677"/>
            </a:avLst>
          </a:prstGeom>
          <a:solidFill>
            <a:srgbClr val="15253D"/>
          </a:solidFill>
          <a:ln/>
        </p:spPr>
      </p:sp>
      <p:sp>
        <p:nvSpPr>
          <p:cNvPr id="20" name="text-513"/>
          <p:cNvSpPr txBox="1"/>
          <p:nvPr/>
        </p:nvSpPr>
        <p:spPr>
          <a:xfrm>
            <a:off x="7556500" y="4547195"/>
            <a:ext cx="3776345" cy="381000"/>
          </a:xfrm>
          <a:prstGeom prst="rect">
            <a:avLst/>
          </a:prstGeom>
          <a:noFill/>
          <a:ln/>
        </p:spPr>
        <p:txBody>
          <a:bodyPr wrap="square" lIns="0" tIns="0" rIns="0" bIns="0" rtlCol="0" anchor="t"/>
          <a:lstStyle/>
          <a:p>
            <a:pPr algn="l" indent="0" marL="0">
              <a:lnSpc>
                <a:spcPts val="1500"/>
              </a:lnSpc>
              <a:buNone/>
            </a:pPr>
            <a:r>
              <a:rPr lang="en-US" sz="1200" i="1" dirty="0">
                <a:solidFill>
                  <a:srgbClr val="F4EFE4"/>
                </a:solidFill>
                <a:latin typeface="Public Sans" pitchFamily="34" charset="0"/>
                <a:ea typeface="Public Sans" pitchFamily="34" charset="-122"/>
                <a:cs typeface="Public Sans" pitchFamily="34" charset="-120"/>
              </a:rPr>
              <a:t>“I'm a right-wing guy, I'm not changing my opinions. But I'm not a schmuck.”</a:t>
            </a:r>
            <a:endParaRPr lang="en-US" sz="1200" dirty="0"/>
          </a:p>
        </p:txBody>
      </p:sp>
      <p:sp>
        <p:nvSpPr>
          <p:cNvPr id="21" name="text-514"/>
          <p:cNvSpPr txBox="1"/>
          <p:nvPr/>
        </p:nvSpPr>
        <p:spPr>
          <a:xfrm>
            <a:off x="7556500" y="4966295"/>
            <a:ext cx="3776345" cy="190500"/>
          </a:xfrm>
          <a:prstGeom prst="rect">
            <a:avLst/>
          </a:prstGeom>
          <a:noFill/>
          <a:ln/>
        </p:spPr>
        <p:txBody>
          <a:bodyPr wrap="square" lIns="0" tIns="0" rIns="0" bIns="0" rtlCol="0" anchor="t"/>
          <a:lstStyle/>
          <a:p>
            <a:pPr algn="l" indent="0" marL="0">
              <a:lnSpc>
                <a:spcPts val="1500"/>
              </a:lnSpc>
              <a:buNone/>
            </a:pPr>
            <a:r>
              <a:rPr lang="en-US" sz="1200" dirty="0">
                <a:solidFill>
                  <a:srgbClr val="E2AD6E"/>
                </a:solidFill>
                <a:latin typeface="Public Sans" pitchFamily="34" charset="0"/>
                <a:ea typeface="Public Sans" pitchFamily="34" charset="-122"/>
                <a:cs typeface="Public Sans" pitchFamily="34" charset="-120"/>
              </a:rPr>
              <a:t>Naftali Bennett (ToI, Jun 23, 2026)</a:t>
            </a:r>
            <a:endParaRPr lang="en-US" sz="1200" dirty="0"/>
          </a:p>
        </p:txBody>
      </p:sp>
      <p:sp>
        <p:nvSpPr>
          <p:cNvPr id="22" name="text-515"/>
          <p:cNvSpPr txBox="1"/>
          <p:nvPr/>
        </p:nvSpPr>
        <p:spPr>
          <a:xfrm>
            <a:off x="812800" y="6253559"/>
            <a:ext cx="10762996" cy="19804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ToI Nov 30 2025, Apr 26, Jun 23 &amp; Sep 6–7 2026 · JPost Aug 1 &amp; 30 2026 · Ynet Sep 16 &amp; 22 2026 · IDI Jun 28 2026 · polls Sep 28–Oct 2 2026</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EFE4"/>
        </a:solidFill>
      </p:bgPr>
    </p:bg>
    <p:spTree>
      <p:nvGrpSpPr>
        <p:cNvPr id="1" name=""/>
        <p:cNvGrpSpPr/>
        <p:nvPr/>
      </p:nvGrpSpPr>
      <p:grpSpPr>
        <a:xfrm>
          <a:off x="0" y="0"/>
          <a:ext cx="0" cy="0"/>
          <a:chOff x="0" y="0"/>
          <a:chExt cx="0" cy="0"/>
        </a:xfrm>
      </p:grpSpPr>
      <p:sp>
        <p:nvSpPr>
          <p:cNvPr id="2" name="text-516"/>
          <p:cNvSpPr txBox="1"/>
          <p:nvPr/>
        </p:nvSpPr>
        <p:spPr>
          <a:xfrm>
            <a:off x="812800" y="812800"/>
            <a:ext cx="10762996" cy="206375"/>
          </a:xfrm>
          <a:prstGeom prst="rect">
            <a:avLst/>
          </a:prstGeom>
          <a:noFill/>
          <a:ln/>
        </p:spPr>
        <p:txBody>
          <a:bodyPr wrap="square" lIns="0" tIns="0" rIns="0" bIns="0" rtlCol="0" anchor="t"/>
          <a:lstStyle/>
          <a:p>
            <a:pPr algn="l" indent="0" marL="0">
              <a:lnSpc>
                <a:spcPts val="1625"/>
              </a:lnSpc>
              <a:buNone/>
            </a:pPr>
            <a:r>
              <a:rPr lang="en-US" sz="1300" b="1" dirty="0">
                <a:solidFill>
                  <a:srgbClr val="9A541A"/>
                </a:solidFill>
                <a:latin typeface="Public Sans" pitchFamily="34" charset="0"/>
                <a:ea typeface="Public Sans" pitchFamily="34" charset="-122"/>
                <a:cs typeface="Public Sans" pitchFamily="34" charset="-120"/>
              </a:rPr>
              <a:t>Zionist opposition · Yair Golan · Seats in latest polls: 8–11</a:t>
            </a:r>
            <a:endParaRPr lang="en-US" sz="1300" dirty="0"/>
          </a:p>
        </p:txBody>
      </p:sp>
      <p:sp>
        <p:nvSpPr>
          <p:cNvPr id="3" name="text-517"/>
          <p:cNvSpPr txBox="1"/>
          <p:nvPr/>
        </p:nvSpPr>
        <p:spPr>
          <a:xfrm>
            <a:off x="812800" y="1108075"/>
            <a:ext cx="10762996" cy="419100"/>
          </a:xfrm>
          <a:prstGeom prst="rect">
            <a:avLst/>
          </a:prstGeom>
          <a:noFill/>
          <a:ln/>
        </p:spPr>
        <p:txBody>
          <a:bodyPr wrap="square" lIns="0" tIns="0" rIns="0" bIns="0" rtlCol="0" anchor="t"/>
          <a:lstStyle/>
          <a:p>
            <a:pPr algn="l" indent="0" marL="0">
              <a:lnSpc>
                <a:spcPts val="3300"/>
              </a:lnSpc>
              <a:buNone/>
            </a:pPr>
            <a:r>
              <a:rPr lang="en-US" sz="3000" dirty="0">
                <a:solidFill>
                  <a:srgbClr val="15253D"/>
                </a:solidFill>
                <a:latin typeface="Libre Baskerville" pitchFamily="34" charset="0"/>
                <a:ea typeface="Libre Baskerville" pitchFamily="34" charset="-122"/>
                <a:cs typeface="Libre Baskerville" pitchFamily="34" charset="-120"/>
              </a:rPr>
              <a:t>The Democrats</a:t>
            </a:r>
            <a:pPr algn="l" indent="0" marL="0">
              <a:lnSpc>
                <a:spcPts val="3300"/>
              </a:lnSpc>
              <a:buNone/>
            </a:pPr>
            <a:r>
              <a:rPr lang="en-US" sz="3000" dirty="0">
                <a:solidFill>
                  <a:srgbClr val="7A8592"/>
                </a:solidFill>
                <a:latin typeface="Libre Baskerville" pitchFamily="34" charset="0"/>
                <a:ea typeface="Libre Baskerville" pitchFamily="34" charset="-122"/>
                <a:cs typeface="Libre Baskerville" pitchFamily="34" charset="-120"/>
              </a:rPr>
              <a:t> — HaDemokratim</a:t>
            </a:r>
            <a:endParaRPr lang="en-US" sz="3000" dirty="0"/>
          </a:p>
        </p:txBody>
      </p:sp>
      <p:sp>
        <p:nvSpPr>
          <p:cNvPr id="4" name="text-518"/>
          <p:cNvSpPr txBox="1"/>
          <p:nvPr/>
        </p:nvSpPr>
        <p:spPr>
          <a:xfrm>
            <a:off x="812800" y="1616075"/>
            <a:ext cx="6483350"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Who they are</a:t>
            </a:r>
            <a:endParaRPr lang="en-US" sz="1400" dirty="0"/>
          </a:p>
        </p:txBody>
      </p:sp>
      <p:sp>
        <p:nvSpPr>
          <p:cNvPr id="5" name="text-519"/>
          <p:cNvSpPr txBox="1"/>
          <p:nvPr/>
        </p:nvSpPr>
        <p:spPr>
          <a:xfrm>
            <a:off x="812800" y="1842095"/>
            <a:ext cx="6483350" cy="381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Labor (1968; PMs Meir, Rabin, Peres) and Meretz (1992), joined under Golan in 2024. A partial merger: each keeps its own institutions (IDI). Protest leaders joined in 2026.</a:t>
            </a:r>
            <a:endParaRPr lang="en-US" sz="1200" dirty="0"/>
          </a:p>
        </p:txBody>
      </p:sp>
      <p:sp>
        <p:nvSpPr>
          <p:cNvPr id="6" name="text-520"/>
          <p:cNvSpPr txBox="1"/>
          <p:nvPr/>
        </p:nvSpPr>
        <p:spPr>
          <a:xfrm>
            <a:off x="812800" y="2324695"/>
            <a:ext cx="6483350"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Who votes for them</a:t>
            </a:r>
            <a:endParaRPr lang="en-US" sz="1400" dirty="0"/>
          </a:p>
        </p:txBody>
      </p:sp>
      <p:sp>
        <p:nvSpPr>
          <p:cNvPr id="7" name="text-521"/>
          <p:cNvSpPr txBox="1"/>
          <p:nvPr/>
        </p:nvSpPr>
        <p:spPr>
          <a:xfrm>
            <a:off x="812800" y="2550716"/>
            <a:ext cx="6483350" cy="381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2022: Labor 3.69%, 4 seats; Meretz 3.16%, 0 seats, its first time out. Together 16% of the secular vote (IDI).</a:t>
            </a:r>
            <a:endParaRPr lang="en-US" sz="1200" dirty="0"/>
          </a:p>
        </p:txBody>
      </p:sp>
      <p:sp>
        <p:nvSpPr>
          <p:cNvPr id="8" name="text-522"/>
          <p:cNvSpPr txBox="1"/>
          <p:nvPr/>
        </p:nvSpPr>
        <p:spPr>
          <a:xfrm>
            <a:off x="812800" y="3033316"/>
            <a:ext cx="6483350"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What they’re running on</a:t>
            </a:r>
            <a:endParaRPr lang="en-US" sz="1400" dirty="0"/>
          </a:p>
        </p:txBody>
      </p:sp>
      <p:graphicFrame>
        <p:nvGraphicFramePr>
          <p:cNvPr id="24" name="table-523"/>
          <p:cNvGraphicFramePr>
            <a:graphicFrameLocks noGrp="1"/>
          </p:cNvGraphicFramePr>
          <p:nvPr>
            <p:extLst>
              <p:ext uri="{D42A27DB-BD31-4B8C-83A1-F6EECF244321}">
                <p14:modId xmlns:p14="http://schemas.microsoft.com/office/powerpoint/2010/main" val="1579011935"/>
              </p:ext>
            </p:extLst>
          </p:nvPr>
        </p:nvGraphicFramePr>
        <p:xfrm>
          <a:off x="812800" y="3284736"/>
          <a:ext cx="6350000" cy="914400"/>
        </p:xfrm>
        <a:graphic>
          <a:graphicData uri="http://schemas.openxmlformats.org/drawingml/2006/table">
            <a:tbl>
              <a:tblPr/>
              <a:tblGrid>
                <a:gridCol w="1522413"/>
                <a:gridCol w="4821238"/>
              </a:tblGrid>
              <a:tr h="316210">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Haredi draft</a:t>
                      </a:r>
                      <a:endParaRPr lang="en-US" sz="1200" dirty="0">
                        <a:latin typeface="Public Sans" charset="0"/>
                        <a:ea typeface="Public Sans" charset="0"/>
                        <a:cs typeface="Public Sans" charset="0"/>
                      </a:endParaRPr>
                    </a:p>
                  </a:txBody>
                  <a:tcPr marL="88900" marR="88900" marT="63500" marB="6350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9D1C1"/>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Universal service; benefits go to those who serve</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9D1C1"/>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Courts</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Opposes the 2023 overhaul; fix delays, add judges</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The war &amp; Gaza</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“Topple the Hamas regime” (IDI)</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West Bank</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Opposes annexation; defund outposts</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Religion &amp; state</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Civil marriage; amend the Nation-State Law</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Economy</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Lower living costs; better social services</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Netanyahu's trial</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“Zero criminal defendants” in its government</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r>
            </a:tbl>
          </a:graphicData>
        </a:graphic>
      </p:graphicFrame>
      <p:sp>
        <p:nvSpPr>
          <p:cNvPr id="10" name="shape-524"/>
          <p:cNvSpPr/>
          <p:nvPr/>
        </p:nvSpPr>
        <p:spPr>
          <a:xfrm>
            <a:off x="7416800" y="1616075"/>
            <a:ext cx="3962400" cy="822920"/>
          </a:xfrm>
          <a:prstGeom prst="roundRect">
            <a:avLst>
              <a:gd name="adj" fmla="val 9260"/>
            </a:avLst>
          </a:prstGeom>
          <a:solidFill>
            <a:srgbClr val="FBF8F1"/>
          </a:solidFill>
          <a:ln w="6350">
            <a:solidFill>
              <a:srgbClr val="D9D1C1"/>
            </a:solidFill>
            <a:prstDash val="solid"/>
          </a:ln>
        </p:spPr>
      </p:sp>
      <p:sp>
        <p:nvSpPr>
          <p:cNvPr id="11" name="text-525"/>
          <p:cNvSpPr txBox="1"/>
          <p:nvPr/>
        </p:nvSpPr>
        <p:spPr>
          <a:xfrm>
            <a:off x="7562850" y="1711325"/>
            <a:ext cx="3763455"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Yair Golan · b. 1962, Rishon LeZion</a:t>
            </a:r>
            <a:endParaRPr lang="en-US" sz="1400" dirty="0"/>
          </a:p>
        </p:txBody>
      </p:sp>
      <p:sp>
        <p:nvSpPr>
          <p:cNvPr id="12" name="text-526"/>
          <p:cNvSpPr txBox="1"/>
          <p:nvPr/>
        </p:nvSpPr>
        <p:spPr>
          <a:xfrm>
            <a:off x="7562850" y="1962745"/>
            <a:ext cx="3763455" cy="381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Deputy chief of staff 2014–17. On Oct 7 went south himself and rescued Nova survivors.</a:t>
            </a:r>
            <a:endParaRPr lang="en-US" sz="1200" dirty="0"/>
          </a:p>
        </p:txBody>
      </p:sp>
      <p:sp>
        <p:nvSpPr>
          <p:cNvPr id="13" name="shape-527"/>
          <p:cNvSpPr/>
          <p:nvPr/>
        </p:nvSpPr>
        <p:spPr>
          <a:xfrm>
            <a:off x="7416800" y="2515195"/>
            <a:ext cx="3962400" cy="990600"/>
          </a:xfrm>
          <a:prstGeom prst="roundRect">
            <a:avLst>
              <a:gd name="adj" fmla="val 7692"/>
            </a:avLst>
          </a:prstGeom>
          <a:solidFill>
            <a:srgbClr val="FBF8F1"/>
          </a:solidFill>
          <a:ln w="6350">
            <a:solidFill>
              <a:srgbClr val="D9D1C1"/>
            </a:solidFill>
            <a:prstDash val="solid"/>
          </a:ln>
        </p:spPr>
      </p:sp>
      <p:sp>
        <p:nvSpPr>
          <p:cNvPr id="14" name="text-528"/>
          <p:cNvSpPr txBox="1"/>
          <p:nvPr/>
        </p:nvSpPr>
        <p:spPr>
          <a:xfrm>
            <a:off x="7562850" y="2610445"/>
            <a:ext cx="3763455"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9A541A"/>
                </a:solidFill>
                <a:latin typeface="Public Sans" pitchFamily="34" charset="0"/>
                <a:ea typeface="Public Sans" pitchFamily="34" charset="-122"/>
                <a:cs typeface="Public Sans" pitchFamily="34" charset="-120"/>
              </a:rPr>
              <a:t>ON THE LIST</a:t>
            </a:r>
            <a:endParaRPr lang="en-US" sz="1200" dirty="0"/>
          </a:p>
        </p:txBody>
      </p:sp>
      <p:sp>
        <p:nvSpPr>
          <p:cNvPr id="15" name="text-529"/>
          <p:cNvSpPr txBox="1"/>
          <p:nvPr/>
        </p:nvSpPr>
        <p:spPr>
          <a:xfrm>
            <a:off x="7562850" y="2839045"/>
            <a:ext cx="3763455"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2 · Naama Lazimi</a:t>
            </a:r>
            <a:endParaRPr lang="en-US" sz="1200" dirty="0"/>
          </a:p>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3 · Gilad Kariv</a:t>
            </a:r>
            <a:endParaRPr lang="en-US" sz="1200" dirty="0"/>
          </a:p>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9 · Moshe Radman, protest leader</a:t>
            </a:r>
            <a:endParaRPr lang="en-US" sz="1200" dirty="0"/>
          </a:p>
        </p:txBody>
      </p:sp>
      <p:sp>
        <p:nvSpPr>
          <p:cNvPr id="16" name="shape-530"/>
          <p:cNvSpPr/>
          <p:nvPr/>
        </p:nvSpPr>
        <p:spPr>
          <a:xfrm>
            <a:off x="7416800" y="3581995"/>
            <a:ext cx="3962400" cy="800100"/>
          </a:xfrm>
          <a:prstGeom prst="roundRect">
            <a:avLst>
              <a:gd name="adj" fmla="val 9524"/>
            </a:avLst>
          </a:prstGeom>
          <a:solidFill>
            <a:srgbClr val="FBF8F1"/>
          </a:solidFill>
          <a:ln w="6350">
            <a:solidFill>
              <a:srgbClr val="D9D1C1"/>
            </a:solidFill>
            <a:prstDash val="solid"/>
          </a:ln>
        </p:spPr>
      </p:sp>
      <p:sp>
        <p:nvSpPr>
          <p:cNvPr id="17" name="text-531"/>
          <p:cNvSpPr txBox="1"/>
          <p:nvPr/>
        </p:nvSpPr>
        <p:spPr>
          <a:xfrm>
            <a:off x="7562850" y="3677245"/>
            <a:ext cx="3763455"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9A541A"/>
                </a:solidFill>
                <a:latin typeface="Public Sans" pitchFamily="34" charset="0"/>
                <a:ea typeface="Public Sans" pitchFamily="34" charset="-122"/>
                <a:cs typeface="Public Sans" pitchFamily="34" charset="-120"/>
              </a:rPr>
              <a:t>COALITION</a:t>
            </a:r>
            <a:endParaRPr lang="en-US" sz="1200" dirty="0"/>
          </a:p>
        </p:txBody>
      </p:sp>
      <p:sp>
        <p:nvSpPr>
          <p:cNvPr id="18" name="text-532"/>
          <p:cNvSpPr txBox="1"/>
          <p:nvPr/>
        </p:nvSpPr>
        <p:spPr>
          <a:xfrm>
            <a:off x="7562850" y="3905845"/>
            <a:ext cx="3763455" cy="381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No Likud, no Haredi parties. Open to an Arab party in government. Surplus partner: Yashar!</a:t>
            </a:r>
            <a:endParaRPr lang="en-US" sz="1200" dirty="0"/>
          </a:p>
        </p:txBody>
      </p:sp>
      <p:sp>
        <p:nvSpPr>
          <p:cNvPr id="19" name="shape-533"/>
          <p:cNvSpPr/>
          <p:nvPr/>
        </p:nvSpPr>
        <p:spPr>
          <a:xfrm>
            <a:off x="7416800" y="4458295"/>
            <a:ext cx="3962400" cy="977900"/>
          </a:xfrm>
          <a:prstGeom prst="roundRect">
            <a:avLst>
              <a:gd name="adj" fmla="val 7792"/>
            </a:avLst>
          </a:prstGeom>
          <a:solidFill>
            <a:srgbClr val="15253D"/>
          </a:solidFill>
          <a:ln/>
        </p:spPr>
      </p:sp>
      <p:sp>
        <p:nvSpPr>
          <p:cNvPr id="20" name="text-534"/>
          <p:cNvSpPr txBox="1"/>
          <p:nvPr/>
        </p:nvSpPr>
        <p:spPr>
          <a:xfrm>
            <a:off x="7556500" y="4547195"/>
            <a:ext cx="3776345" cy="381000"/>
          </a:xfrm>
          <a:prstGeom prst="rect">
            <a:avLst/>
          </a:prstGeom>
          <a:noFill/>
          <a:ln/>
        </p:spPr>
        <p:txBody>
          <a:bodyPr wrap="square" lIns="0" tIns="0" rIns="0" bIns="0" rtlCol="0" anchor="t"/>
          <a:lstStyle/>
          <a:p>
            <a:pPr algn="l" indent="0" marL="0">
              <a:lnSpc>
                <a:spcPts val="1500"/>
              </a:lnSpc>
              <a:buNone/>
            </a:pPr>
            <a:r>
              <a:rPr lang="en-US" sz="1200" i="1" dirty="0">
                <a:solidFill>
                  <a:srgbClr val="F4EFE4"/>
                </a:solidFill>
                <a:latin typeface="Public Sans" pitchFamily="34" charset="0"/>
                <a:ea typeface="Public Sans" pitchFamily="34" charset="-122"/>
                <a:cs typeface="Public Sans" pitchFamily="34" charset="-120"/>
              </a:rPr>
              <a:t>“Jewish-Arab partnership in government is a positive thing. That is absolutely our future.”</a:t>
            </a:r>
            <a:endParaRPr lang="en-US" sz="1200" dirty="0"/>
          </a:p>
        </p:txBody>
      </p:sp>
      <p:sp>
        <p:nvSpPr>
          <p:cNvPr id="21" name="text-535"/>
          <p:cNvSpPr txBox="1"/>
          <p:nvPr/>
        </p:nvSpPr>
        <p:spPr>
          <a:xfrm>
            <a:off x="7556500" y="4966295"/>
            <a:ext cx="3776345" cy="381000"/>
          </a:xfrm>
          <a:prstGeom prst="rect">
            <a:avLst/>
          </a:prstGeom>
          <a:noFill/>
          <a:ln/>
        </p:spPr>
        <p:txBody>
          <a:bodyPr wrap="square" lIns="0" tIns="0" rIns="0" bIns="0" rtlCol="0" anchor="t"/>
          <a:lstStyle/>
          <a:p>
            <a:pPr algn="l" indent="0" marL="0">
              <a:lnSpc>
                <a:spcPts val="1500"/>
              </a:lnSpc>
              <a:buNone/>
            </a:pPr>
            <a:r>
              <a:rPr lang="en-US" sz="1200" dirty="0">
                <a:solidFill>
                  <a:srgbClr val="E2AD6E"/>
                </a:solidFill>
                <a:latin typeface="Public Sans" pitchFamily="34" charset="0"/>
                <a:ea typeface="Public Sans" pitchFamily="34" charset="-122"/>
                <a:cs typeface="Public Sans" pitchFamily="34" charset="-120"/>
              </a:rPr>
              <a:t>The Democrats’ statement, as reported by ToI, Oct 3, 2026 (speaker not named in the report)</a:t>
            </a:r>
            <a:endParaRPr lang="en-US" sz="1200" dirty="0"/>
          </a:p>
        </p:txBody>
      </p:sp>
      <p:sp>
        <p:nvSpPr>
          <p:cNvPr id="22" name="text-536"/>
          <p:cNvSpPr txBox="1"/>
          <p:nvPr/>
        </p:nvSpPr>
        <p:spPr>
          <a:xfrm>
            <a:off x="812800" y="6253559"/>
            <a:ext cx="10762996" cy="19804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IDI party page · ToI Aug 5, Sep 27 &amp; Oct 3 2026 · Ynet Sep 16 &amp; 22 2026 · JPost Jul 21 &amp; Oct 1 2026 · polls Sep 28–Oct 2 2026</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EFE4"/>
        </a:solidFill>
      </p:bgPr>
    </p:bg>
    <p:spTree>
      <p:nvGrpSpPr>
        <p:cNvPr id="1" name=""/>
        <p:cNvGrpSpPr/>
        <p:nvPr/>
      </p:nvGrpSpPr>
      <p:grpSpPr>
        <a:xfrm>
          <a:off x="0" y="0"/>
          <a:ext cx="0" cy="0"/>
          <a:chOff x="0" y="0"/>
          <a:chExt cx="0" cy="0"/>
        </a:xfrm>
      </p:grpSpPr>
      <p:sp>
        <p:nvSpPr>
          <p:cNvPr id="2" name="text-537"/>
          <p:cNvSpPr txBox="1"/>
          <p:nvPr/>
        </p:nvSpPr>
        <p:spPr>
          <a:xfrm>
            <a:off x="812800" y="812800"/>
            <a:ext cx="10762996" cy="206375"/>
          </a:xfrm>
          <a:prstGeom prst="rect">
            <a:avLst/>
          </a:prstGeom>
          <a:noFill/>
          <a:ln/>
        </p:spPr>
        <p:txBody>
          <a:bodyPr wrap="square" lIns="0" tIns="0" rIns="0" bIns="0" rtlCol="0" anchor="t"/>
          <a:lstStyle/>
          <a:p>
            <a:pPr algn="l" indent="0" marL="0">
              <a:lnSpc>
                <a:spcPts val="1625"/>
              </a:lnSpc>
              <a:buNone/>
            </a:pPr>
            <a:r>
              <a:rPr lang="en-US" sz="1300" b="1" dirty="0">
                <a:solidFill>
                  <a:srgbClr val="9A541A"/>
                </a:solidFill>
                <a:latin typeface="Public Sans" pitchFamily="34" charset="0"/>
                <a:ea typeface="Public Sans" pitchFamily="34" charset="-122"/>
                <a:cs typeface="Public Sans" pitchFamily="34" charset="-120"/>
              </a:rPr>
              <a:t>Zionist opposition · Avigdor Lieberman · Seats in latest polls: 6–10</a:t>
            </a:r>
            <a:endParaRPr lang="en-US" sz="1300" dirty="0"/>
          </a:p>
        </p:txBody>
      </p:sp>
      <p:sp>
        <p:nvSpPr>
          <p:cNvPr id="3" name="text-538"/>
          <p:cNvSpPr txBox="1"/>
          <p:nvPr/>
        </p:nvSpPr>
        <p:spPr>
          <a:xfrm>
            <a:off x="812800" y="1108075"/>
            <a:ext cx="10762996" cy="419100"/>
          </a:xfrm>
          <a:prstGeom prst="rect">
            <a:avLst/>
          </a:prstGeom>
          <a:noFill/>
          <a:ln/>
        </p:spPr>
        <p:txBody>
          <a:bodyPr wrap="square" lIns="0" tIns="0" rIns="0" bIns="0" rtlCol="0" anchor="t"/>
          <a:lstStyle/>
          <a:p>
            <a:pPr algn="l" indent="0" marL="0">
              <a:lnSpc>
                <a:spcPts val="3300"/>
              </a:lnSpc>
              <a:buNone/>
            </a:pPr>
            <a:r>
              <a:rPr lang="en-US" sz="3000" dirty="0">
                <a:solidFill>
                  <a:srgbClr val="15253D"/>
                </a:solidFill>
                <a:latin typeface="Libre Baskerville" pitchFamily="34" charset="0"/>
                <a:ea typeface="Libre Baskerville" pitchFamily="34" charset="-122"/>
                <a:cs typeface="Libre Baskerville" pitchFamily="34" charset="-120"/>
              </a:rPr>
              <a:t>Yisrael Beiteinu</a:t>
            </a:r>
            <a:pPr algn="l" indent="0" marL="0">
              <a:lnSpc>
                <a:spcPts val="3300"/>
              </a:lnSpc>
              <a:buNone/>
            </a:pPr>
            <a:r>
              <a:rPr lang="en-US" sz="3000" dirty="0">
                <a:solidFill>
                  <a:srgbClr val="7A8592"/>
                </a:solidFill>
                <a:latin typeface="Libre Baskerville" pitchFamily="34" charset="0"/>
                <a:ea typeface="Libre Baskerville" pitchFamily="34" charset="-122"/>
                <a:cs typeface="Libre Baskerville" pitchFamily="34" charset="-120"/>
              </a:rPr>
              <a:t> — Israel Our Home</a:t>
            </a:r>
            <a:endParaRPr lang="en-US" sz="3000" dirty="0"/>
          </a:p>
        </p:txBody>
      </p:sp>
      <p:sp>
        <p:nvSpPr>
          <p:cNvPr id="4" name="text-539"/>
          <p:cNvSpPr txBox="1"/>
          <p:nvPr/>
        </p:nvSpPr>
        <p:spPr>
          <a:xfrm>
            <a:off x="812800" y="1616075"/>
            <a:ext cx="6483350"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Who they are</a:t>
            </a:r>
            <a:endParaRPr lang="en-US" sz="1400" dirty="0"/>
          </a:p>
        </p:txBody>
      </p:sp>
      <p:sp>
        <p:nvSpPr>
          <p:cNvPr id="5" name="text-540"/>
          <p:cNvSpPr txBox="1"/>
          <p:nvPr/>
        </p:nvSpPr>
        <p:spPr>
          <a:xfrm>
            <a:off x="812800" y="1842095"/>
            <a:ext cx="6483350" cy="381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Founded 1999 for immigrants from the former Soviet Union; peak of 15 seats in 2009. Lieberman's April 2019 refusal over the draft law set off five elections.</a:t>
            </a:r>
            <a:endParaRPr lang="en-US" sz="1200" dirty="0"/>
          </a:p>
        </p:txBody>
      </p:sp>
      <p:sp>
        <p:nvSpPr>
          <p:cNvPr id="6" name="text-541"/>
          <p:cNvSpPr txBox="1"/>
          <p:nvPr/>
        </p:nvSpPr>
        <p:spPr>
          <a:xfrm>
            <a:off x="812800" y="2324695"/>
            <a:ext cx="6483350"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Who votes for them</a:t>
            </a:r>
            <a:endParaRPr lang="en-US" sz="1400" dirty="0"/>
          </a:p>
        </p:txBody>
      </p:sp>
      <p:sp>
        <p:nvSpPr>
          <p:cNvPr id="7" name="text-542"/>
          <p:cNvSpPr txBox="1"/>
          <p:nvPr/>
        </p:nvSpPr>
        <p:spPr>
          <a:xfrm>
            <a:off x="812800" y="2550716"/>
            <a:ext cx="6483350" cy="381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23% of Russian-speakers (Lazar, Dec 2025). 2022: 213,687 votes, 4.48%, 6 seats; between 5 and 8 seats in each election since 2015 (6, 5, 8, 7, 7, 6 — our reading of the results).</a:t>
            </a:r>
            <a:endParaRPr lang="en-US" sz="1200" dirty="0"/>
          </a:p>
        </p:txBody>
      </p:sp>
      <p:sp>
        <p:nvSpPr>
          <p:cNvPr id="8" name="text-543"/>
          <p:cNvSpPr txBox="1"/>
          <p:nvPr/>
        </p:nvSpPr>
        <p:spPr>
          <a:xfrm>
            <a:off x="812800" y="3033316"/>
            <a:ext cx="6483350"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What they’re running on</a:t>
            </a:r>
            <a:endParaRPr lang="en-US" sz="1400" dirty="0"/>
          </a:p>
        </p:txBody>
      </p:sp>
      <p:graphicFrame>
        <p:nvGraphicFramePr>
          <p:cNvPr id="25" name="table-544"/>
          <p:cNvGraphicFramePr>
            <a:graphicFrameLocks noGrp="1"/>
          </p:cNvGraphicFramePr>
          <p:nvPr>
            <p:extLst>
              <p:ext uri="{D42A27DB-BD31-4B8C-83A1-F6EECF244321}">
                <p14:modId xmlns:p14="http://schemas.microsoft.com/office/powerpoint/2010/main" val="1579011935"/>
              </p:ext>
            </p:extLst>
          </p:nvPr>
        </p:nvGraphicFramePr>
        <p:xfrm>
          <a:off x="812800" y="3284736"/>
          <a:ext cx="6350000" cy="914400"/>
        </p:xfrm>
        <a:graphic>
          <a:graphicData uri="http://schemas.openxmlformats.org/drawingml/2006/table">
            <a:tbl>
              <a:tblPr/>
              <a:tblGrid>
                <a:gridCol w="1522413"/>
                <a:gridCol w="4821238"/>
              </a:tblGrid>
              <a:tr h="316210">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Haredi draft</a:t>
                      </a:r>
                      <a:endParaRPr lang="en-US" sz="1200" dirty="0">
                        <a:latin typeface="Public Sans" charset="0"/>
                        <a:ea typeface="Public Sans" charset="0"/>
                        <a:cs typeface="Public Sans" charset="0"/>
                      </a:endParaRPr>
                    </a:p>
                  </a:txBody>
                  <a:tcPr marL="88900" marR="88900" marT="63500" marB="6350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9D1C1"/>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Everyone at 18; sanctions include travel bans</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9D1C1"/>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Courts</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A written constitution, put to a referendum</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The war &amp; Gaza</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Board of Peace plan is “a capitulation to terror”</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West Bank</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“The Palestinian Authority must be dismantled”</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Religion &amp; state</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Civil marriage; local Shabbat choice; core curriculum</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Economy</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“Right-wing fiscal positions” (IDI)</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Netanyahu's trial</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“A state in exchange for a pardon” (Feb 2026)</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r>
            </a:tbl>
          </a:graphicData>
        </a:graphic>
      </p:graphicFrame>
      <p:sp>
        <p:nvSpPr>
          <p:cNvPr id="10" name="shape-545"/>
          <p:cNvSpPr/>
          <p:nvPr/>
        </p:nvSpPr>
        <p:spPr>
          <a:xfrm>
            <a:off x="7416800" y="1616075"/>
            <a:ext cx="3962400" cy="822920"/>
          </a:xfrm>
          <a:prstGeom prst="roundRect">
            <a:avLst>
              <a:gd name="adj" fmla="val 9260"/>
            </a:avLst>
          </a:prstGeom>
          <a:solidFill>
            <a:srgbClr val="FBF8F1"/>
          </a:solidFill>
          <a:ln w="6350">
            <a:solidFill>
              <a:srgbClr val="D9D1C1"/>
            </a:solidFill>
            <a:prstDash val="solid"/>
          </a:ln>
        </p:spPr>
      </p:sp>
      <p:sp>
        <p:nvSpPr>
          <p:cNvPr id="11" name="text-546"/>
          <p:cNvSpPr txBox="1"/>
          <p:nvPr/>
        </p:nvSpPr>
        <p:spPr>
          <a:xfrm>
            <a:off x="7562850" y="1711325"/>
            <a:ext cx="3763455"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Avigdor Lieberman · b. 1958</a:t>
            </a:r>
            <a:endParaRPr lang="en-US" sz="1400" dirty="0"/>
          </a:p>
        </p:txBody>
      </p:sp>
      <p:sp>
        <p:nvSpPr>
          <p:cNvPr id="12" name="text-547"/>
          <p:cNvSpPr txBox="1"/>
          <p:nvPr/>
        </p:nvSpPr>
        <p:spPr>
          <a:xfrm>
            <a:off x="7562850" y="1962745"/>
            <a:ext cx="3763455" cy="381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Born in Chișinău; immigrated 1978. Defense minister 2016–18; lives in Nokdim.</a:t>
            </a:r>
            <a:endParaRPr lang="en-US" sz="1200" dirty="0"/>
          </a:p>
        </p:txBody>
      </p:sp>
      <p:sp>
        <p:nvSpPr>
          <p:cNvPr id="13" name="shape-548"/>
          <p:cNvSpPr/>
          <p:nvPr/>
        </p:nvSpPr>
        <p:spPr>
          <a:xfrm>
            <a:off x="7416800" y="2515195"/>
            <a:ext cx="3962400" cy="990600"/>
          </a:xfrm>
          <a:prstGeom prst="roundRect">
            <a:avLst>
              <a:gd name="adj" fmla="val 7692"/>
            </a:avLst>
          </a:prstGeom>
          <a:solidFill>
            <a:srgbClr val="FBF8F1"/>
          </a:solidFill>
          <a:ln w="6350">
            <a:solidFill>
              <a:srgbClr val="D9D1C1"/>
            </a:solidFill>
            <a:prstDash val="solid"/>
          </a:ln>
        </p:spPr>
      </p:sp>
      <p:sp>
        <p:nvSpPr>
          <p:cNvPr id="14" name="text-549"/>
          <p:cNvSpPr txBox="1"/>
          <p:nvPr/>
        </p:nvSpPr>
        <p:spPr>
          <a:xfrm>
            <a:off x="7562850" y="2610445"/>
            <a:ext cx="3763455"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9A541A"/>
                </a:solidFill>
                <a:latin typeface="Public Sans" pitchFamily="34" charset="0"/>
                <a:ea typeface="Public Sans" pitchFamily="34" charset="-122"/>
                <a:cs typeface="Public Sans" pitchFamily="34" charset="-120"/>
              </a:rPr>
              <a:t>ON THE LIST</a:t>
            </a:r>
            <a:endParaRPr lang="en-US" sz="1200" dirty="0"/>
          </a:p>
        </p:txBody>
      </p:sp>
      <p:sp>
        <p:nvSpPr>
          <p:cNvPr id="15" name="text-550"/>
          <p:cNvSpPr txBox="1"/>
          <p:nvPr/>
        </p:nvSpPr>
        <p:spPr>
          <a:xfrm>
            <a:off x="7562850" y="2839045"/>
            <a:ext cx="3763455"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2 · Rafi Ben Shitrit, ex-mayor</a:t>
            </a:r>
            <a:endParaRPr lang="en-US" sz="1200" dirty="0"/>
          </a:p>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6 · Sharon Sharabi, Eli's brother</a:t>
            </a:r>
            <a:endParaRPr lang="en-US" sz="1200" dirty="0"/>
          </a:p>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10 · Dan Illouz, ex-Likud MK</a:t>
            </a:r>
            <a:endParaRPr lang="en-US" sz="1200" dirty="0"/>
          </a:p>
        </p:txBody>
      </p:sp>
      <p:sp>
        <p:nvSpPr>
          <p:cNvPr id="16" name="shape-551"/>
          <p:cNvSpPr/>
          <p:nvPr/>
        </p:nvSpPr>
        <p:spPr>
          <a:xfrm>
            <a:off x="7416800" y="3581995"/>
            <a:ext cx="3962400" cy="800100"/>
          </a:xfrm>
          <a:prstGeom prst="roundRect">
            <a:avLst>
              <a:gd name="adj" fmla="val 9524"/>
            </a:avLst>
          </a:prstGeom>
          <a:solidFill>
            <a:srgbClr val="FBF8F1"/>
          </a:solidFill>
          <a:ln w="6350">
            <a:solidFill>
              <a:srgbClr val="D9D1C1"/>
            </a:solidFill>
            <a:prstDash val="solid"/>
          </a:ln>
        </p:spPr>
      </p:sp>
      <p:sp>
        <p:nvSpPr>
          <p:cNvPr id="17" name="text-552"/>
          <p:cNvSpPr txBox="1"/>
          <p:nvPr/>
        </p:nvSpPr>
        <p:spPr>
          <a:xfrm>
            <a:off x="7562850" y="3677245"/>
            <a:ext cx="3763455"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9A541A"/>
                </a:solidFill>
                <a:latin typeface="Public Sans" pitchFamily="34" charset="0"/>
                <a:ea typeface="Public Sans" pitchFamily="34" charset="-122"/>
                <a:cs typeface="Public Sans" pitchFamily="34" charset="-120"/>
              </a:rPr>
              <a:t>COALITION</a:t>
            </a:r>
            <a:endParaRPr lang="en-US" sz="1200" dirty="0"/>
          </a:p>
        </p:txBody>
      </p:sp>
      <p:sp>
        <p:nvSpPr>
          <p:cNvPr id="18" name="text-553"/>
          <p:cNvSpPr txBox="1"/>
          <p:nvPr/>
        </p:nvSpPr>
        <p:spPr>
          <a:xfrm>
            <a:off x="7562850" y="3905845"/>
            <a:ext cx="3763455" cy="381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No Netanyahu, no Arab or Haredi parties. Surplus partner: B'Yachad.</a:t>
            </a:r>
            <a:endParaRPr lang="en-US" sz="1200" dirty="0"/>
          </a:p>
        </p:txBody>
      </p:sp>
      <p:sp>
        <p:nvSpPr>
          <p:cNvPr id="19" name="shape-554"/>
          <p:cNvSpPr/>
          <p:nvPr/>
        </p:nvSpPr>
        <p:spPr>
          <a:xfrm>
            <a:off x="7416800" y="4458295"/>
            <a:ext cx="3962400" cy="596900"/>
          </a:xfrm>
          <a:prstGeom prst="roundRect">
            <a:avLst>
              <a:gd name="adj" fmla="val 12766"/>
            </a:avLst>
          </a:prstGeom>
          <a:solidFill>
            <a:srgbClr val="15253D"/>
          </a:solidFill>
          <a:ln/>
        </p:spPr>
      </p:sp>
      <p:sp>
        <p:nvSpPr>
          <p:cNvPr id="20" name="text-555"/>
          <p:cNvSpPr txBox="1"/>
          <p:nvPr/>
        </p:nvSpPr>
        <p:spPr>
          <a:xfrm>
            <a:off x="7556500" y="4547195"/>
            <a:ext cx="3776345" cy="190500"/>
          </a:xfrm>
          <a:prstGeom prst="rect">
            <a:avLst/>
          </a:prstGeom>
          <a:noFill/>
          <a:ln/>
        </p:spPr>
        <p:txBody>
          <a:bodyPr wrap="square" lIns="0" tIns="0" rIns="0" bIns="0" rtlCol="0" anchor="t"/>
          <a:lstStyle/>
          <a:p>
            <a:pPr algn="l" indent="0" marL="0">
              <a:lnSpc>
                <a:spcPts val="1500"/>
              </a:lnSpc>
              <a:buNone/>
            </a:pPr>
            <a:r>
              <a:rPr lang="en-US" sz="1200" i="1" dirty="0">
                <a:solidFill>
                  <a:srgbClr val="F4EFE4"/>
                </a:solidFill>
                <a:latin typeface="Public Sans" pitchFamily="34" charset="0"/>
                <a:ea typeface="Public Sans" pitchFamily="34" charset="-122"/>
                <a:cs typeface="Public Sans" pitchFamily="34" charset="-120"/>
              </a:rPr>
              <a:t>“We are the Likud of yesteryear.”</a:t>
            </a:r>
            <a:endParaRPr lang="en-US" sz="1200" dirty="0"/>
          </a:p>
        </p:txBody>
      </p:sp>
      <p:sp>
        <p:nvSpPr>
          <p:cNvPr id="21" name="text-556"/>
          <p:cNvSpPr txBox="1"/>
          <p:nvPr/>
        </p:nvSpPr>
        <p:spPr>
          <a:xfrm>
            <a:off x="7556500" y="4775795"/>
            <a:ext cx="3776345" cy="190500"/>
          </a:xfrm>
          <a:prstGeom prst="rect">
            <a:avLst/>
          </a:prstGeom>
          <a:noFill/>
          <a:ln/>
        </p:spPr>
        <p:txBody>
          <a:bodyPr wrap="square" lIns="0" tIns="0" rIns="0" bIns="0" rtlCol="0" anchor="t"/>
          <a:lstStyle/>
          <a:p>
            <a:pPr algn="l" indent="0" marL="0">
              <a:lnSpc>
                <a:spcPts val="1500"/>
              </a:lnSpc>
              <a:buNone/>
            </a:pPr>
            <a:r>
              <a:rPr lang="en-US" sz="1200" dirty="0">
                <a:solidFill>
                  <a:srgbClr val="E2AD6E"/>
                </a:solidFill>
                <a:latin typeface="Public Sans" pitchFamily="34" charset="0"/>
                <a:ea typeface="Public Sans" pitchFamily="34" charset="-122"/>
                <a:cs typeface="Public Sans" pitchFamily="34" charset="-120"/>
              </a:rPr>
              <a:t>Campaign slogan (Ynet, Sep 27, 2026)</a:t>
            </a:r>
            <a:endParaRPr lang="en-US" sz="1200" dirty="0"/>
          </a:p>
        </p:txBody>
      </p:sp>
      <p:sp>
        <p:nvSpPr>
          <p:cNvPr id="22" name="text-557"/>
          <p:cNvSpPr txBox="1"/>
          <p:nvPr/>
        </p:nvSpPr>
        <p:spPr>
          <a:xfrm>
            <a:off x="812800" y="6253559"/>
            <a:ext cx="10762996" cy="19804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IDI party page · Lazar via JPost Dec 10 2025 · Ynet Feb 23, Sep 16, 22 &amp; 27 2026 · JPost Aug 12 &amp; Sep 28 2026 · polls Sep 28–Oct 2 2026</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EFE4"/>
        </a:solidFill>
      </p:bgPr>
    </p:bg>
    <p:spTree>
      <p:nvGrpSpPr>
        <p:cNvPr id="1" name=""/>
        <p:cNvGrpSpPr/>
        <p:nvPr/>
      </p:nvGrpSpPr>
      <p:grpSpPr>
        <a:xfrm>
          <a:off x="0" y="0"/>
          <a:ext cx="0" cy="0"/>
          <a:chOff x="0" y="0"/>
          <a:chExt cx="0" cy="0"/>
        </a:xfrm>
      </p:grpSpPr>
      <p:sp>
        <p:nvSpPr>
          <p:cNvPr id="2" name="shape-558"/>
          <p:cNvSpPr/>
          <p:nvPr/>
        </p:nvSpPr>
        <p:spPr>
          <a:xfrm>
            <a:off x="812800" y="812800"/>
            <a:ext cx="4424859" cy="223441"/>
          </a:xfrm>
          <a:prstGeom prst="roundRect">
            <a:avLst>
              <a:gd name="adj" fmla="val 17051"/>
            </a:avLst>
          </a:prstGeom>
          <a:solidFill>
            <a:srgbClr val="C4C7CB"/>
          </a:solidFill>
          <a:ln/>
        </p:spPr>
      </p:sp>
      <p:sp>
        <p:nvSpPr>
          <p:cNvPr id="3" name="text-559"/>
          <p:cNvSpPr txBox="1"/>
          <p:nvPr/>
        </p:nvSpPr>
        <p:spPr>
          <a:xfrm>
            <a:off x="812800" y="812800"/>
            <a:ext cx="4529331" cy="223441"/>
          </a:xfrm>
          <a:prstGeom prst="rect">
            <a:avLst/>
          </a:prstGeom>
          <a:noFill/>
          <a:ln/>
        </p:spPr>
        <p:txBody>
          <a:bodyPr wrap="square" lIns="88900" tIns="12700" rIns="88900" bIns="12700" rtlCol="0" anchor="t"/>
          <a:lstStyle/>
          <a:p>
            <a:pPr algn="l" indent="0" marL="0">
              <a:lnSpc>
                <a:spcPts val="1560"/>
              </a:lnSpc>
              <a:buNone/>
            </a:pPr>
            <a:r>
              <a:rPr lang="en-US" sz="1200" b="1" dirty="0">
                <a:solidFill>
                  <a:srgbClr val="15253D"/>
                </a:solidFill>
                <a:latin typeface="Public Sans" pitchFamily="34" charset="0"/>
                <a:ea typeface="Public Sans" pitchFamily="34" charset="-122"/>
                <a:cs typeface="Public Sans" pitchFamily="34" charset="-120"/>
              </a:rPr>
              <a:t>Between the blocs · Yoaz Hendel · Seats in latest polls: 0–5</a:t>
            </a:r>
            <a:endParaRPr lang="en-US" sz="1200" dirty="0"/>
          </a:p>
        </p:txBody>
      </p:sp>
      <p:sp>
        <p:nvSpPr>
          <p:cNvPr id="4" name="text-560"/>
          <p:cNvSpPr txBox="1"/>
          <p:nvPr/>
        </p:nvSpPr>
        <p:spPr>
          <a:xfrm>
            <a:off x="812800" y="1125141"/>
            <a:ext cx="10762996" cy="419100"/>
          </a:xfrm>
          <a:prstGeom prst="rect">
            <a:avLst/>
          </a:prstGeom>
          <a:noFill/>
          <a:ln/>
        </p:spPr>
        <p:txBody>
          <a:bodyPr wrap="square" lIns="0" tIns="0" rIns="0" bIns="0" rtlCol="0" anchor="t"/>
          <a:lstStyle/>
          <a:p>
            <a:pPr algn="l" indent="0" marL="0">
              <a:lnSpc>
                <a:spcPts val="3300"/>
              </a:lnSpc>
              <a:buNone/>
            </a:pPr>
            <a:r>
              <a:rPr lang="en-US" sz="3000" dirty="0">
                <a:solidFill>
                  <a:srgbClr val="15253D"/>
                </a:solidFill>
                <a:latin typeface="Libre Baskerville" pitchFamily="34" charset="0"/>
                <a:ea typeface="Libre Baskerville" pitchFamily="34" charset="-122"/>
                <a:cs typeface="Libre Baskerville" pitchFamily="34" charset="-120"/>
              </a:rPr>
              <a:t>Reservists–Economic Party</a:t>
            </a:r>
            <a:endParaRPr lang="en-US" sz="3000" dirty="0"/>
          </a:p>
        </p:txBody>
      </p:sp>
      <p:sp>
        <p:nvSpPr>
          <p:cNvPr id="5" name="text-561"/>
          <p:cNvSpPr txBox="1"/>
          <p:nvPr/>
        </p:nvSpPr>
        <p:spPr>
          <a:xfrm>
            <a:off x="812800" y="1633141"/>
            <a:ext cx="6483350" cy="213320"/>
          </a:xfrm>
          <a:prstGeom prst="rect">
            <a:avLst/>
          </a:prstGeom>
          <a:noFill/>
          <a:ln/>
        </p:spPr>
        <p:txBody>
          <a:bodyPr wrap="square" lIns="0" tIns="0" rIns="0" bIns="0" rtlCol="0" anchor="t"/>
          <a:lstStyle/>
          <a:p>
            <a:pPr algn="l" indent="0" marL="0">
              <a:lnSpc>
                <a:spcPts val="1680"/>
              </a:lnSpc>
              <a:buNone/>
            </a:pPr>
            <a:r>
              <a:rPr lang="en-US" sz="1400" b="1" dirty="0">
                <a:solidFill>
                  <a:srgbClr val="15253D"/>
                </a:solidFill>
                <a:latin typeface="Public Sans" pitchFamily="34" charset="0"/>
                <a:ea typeface="Public Sans" pitchFamily="34" charset="-122"/>
                <a:cs typeface="Public Sans" pitchFamily="34" charset="-120"/>
              </a:rPr>
              <a:t>Who they are</a:t>
            </a:r>
            <a:endParaRPr lang="en-US" sz="1400" dirty="0"/>
          </a:p>
        </p:txBody>
      </p:sp>
      <p:sp>
        <p:nvSpPr>
          <p:cNvPr id="6" name="text-562"/>
          <p:cNvSpPr txBox="1"/>
          <p:nvPr/>
        </p:nvSpPr>
        <p:spPr>
          <a:xfrm>
            <a:off x="812800" y="1859161"/>
            <a:ext cx="6483350"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Founded Sept 18, 2025 by Yoaz Hendel, a former communications minister. An alliance with Chili Tropper (July 2026) ended when Tropper left for Yashar on Sep 6. Now a technical list with Yaron Zelekha’s New Economic Party.</a:t>
            </a:r>
            <a:endParaRPr lang="en-US" sz="1200" dirty="0"/>
          </a:p>
        </p:txBody>
      </p:sp>
      <p:sp>
        <p:nvSpPr>
          <p:cNvPr id="7" name="text-563"/>
          <p:cNvSpPr txBox="1"/>
          <p:nvPr/>
        </p:nvSpPr>
        <p:spPr>
          <a:xfrm>
            <a:off x="812800" y="2506861"/>
            <a:ext cx="6483350" cy="213320"/>
          </a:xfrm>
          <a:prstGeom prst="rect">
            <a:avLst/>
          </a:prstGeom>
          <a:noFill/>
          <a:ln/>
        </p:spPr>
        <p:txBody>
          <a:bodyPr wrap="square" lIns="0" tIns="0" rIns="0" bIns="0" rtlCol="0" anchor="t"/>
          <a:lstStyle/>
          <a:p>
            <a:pPr algn="l" indent="0" marL="0">
              <a:lnSpc>
                <a:spcPts val="1680"/>
              </a:lnSpc>
              <a:buNone/>
            </a:pPr>
            <a:r>
              <a:rPr lang="en-US" sz="1400" b="1" dirty="0">
                <a:solidFill>
                  <a:srgbClr val="15253D"/>
                </a:solidFill>
                <a:latin typeface="Public Sans" pitchFamily="34" charset="0"/>
                <a:ea typeface="Public Sans" pitchFamily="34" charset="-122"/>
                <a:cs typeface="Public Sans" pitchFamily="34" charset="-120"/>
              </a:rPr>
              <a:t>Who votes for them</a:t>
            </a:r>
            <a:endParaRPr lang="en-US" sz="1400" dirty="0"/>
          </a:p>
        </p:txBody>
      </p:sp>
      <p:sp>
        <p:nvSpPr>
          <p:cNvPr id="8" name="text-564"/>
          <p:cNvSpPr txBox="1"/>
          <p:nvPr/>
        </p:nvSpPr>
        <p:spPr>
          <a:xfrm>
            <a:off x="812800" y="2732881"/>
            <a:ext cx="6483350" cy="381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No seats in 2022; Zelekha’s party took 0.29% then. Hendel pitches an alternative to a Haredi-backed or an Arab-backed government (Maariv). Sector data: not found.</a:t>
            </a:r>
            <a:endParaRPr lang="en-US" sz="1200" dirty="0"/>
          </a:p>
        </p:txBody>
      </p:sp>
      <p:sp>
        <p:nvSpPr>
          <p:cNvPr id="9" name="text-565"/>
          <p:cNvSpPr txBox="1"/>
          <p:nvPr/>
        </p:nvSpPr>
        <p:spPr>
          <a:xfrm>
            <a:off x="812800" y="3190081"/>
            <a:ext cx="6483350" cy="213320"/>
          </a:xfrm>
          <a:prstGeom prst="rect">
            <a:avLst/>
          </a:prstGeom>
          <a:noFill/>
          <a:ln/>
        </p:spPr>
        <p:txBody>
          <a:bodyPr wrap="square" lIns="0" tIns="0" rIns="0" bIns="0" rtlCol="0" anchor="t"/>
          <a:lstStyle/>
          <a:p>
            <a:pPr algn="l" indent="0" marL="0">
              <a:lnSpc>
                <a:spcPts val="1680"/>
              </a:lnSpc>
              <a:buNone/>
            </a:pPr>
            <a:r>
              <a:rPr lang="en-US" sz="1400" b="1" dirty="0">
                <a:solidFill>
                  <a:srgbClr val="15253D"/>
                </a:solidFill>
                <a:latin typeface="Public Sans" pitchFamily="34" charset="0"/>
                <a:ea typeface="Public Sans" pitchFamily="34" charset="-122"/>
                <a:cs typeface="Public Sans" pitchFamily="34" charset="-120"/>
              </a:rPr>
              <a:t>What they’re running on</a:t>
            </a:r>
            <a:endParaRPr lang="en-US" sz="1400" dirty="0"/>
          </a:p>
        </p:txBody>
      </p:sp>
      <p:graphicFrame>
        <p:nvGraphicFramePr>
          <p:cNvPr id="26" name="table-566"/>
          <p:cNvGraphicFramePr>
            <a:graphicFrameLocks noGrp="1"/>
          </p:cNvGraphicFramePr>
          <p:nvPr>
            <p:extLst>
              <p:ext uri="{D42A27DB-BD31-4B8C-83A1-F6EECF244321}">
                <p14:modId xmlns:p14="http://schemas.microsoft.com/office/powerpoint/2010/main" val="1579011935"/>
              </p:ext>
            </p:extLst>
          </p:nvPr>
        </p:nvGraphicFramePr>
        <p:xfrm>
          <a:off x="812800" y="3428802"/>
          <a:ext cx="6350000" cy="914400"/>
        </p:xfrm>
        <a:graphic>
          <a:graphicData uri="http://schemas.openxmlformats.org/drawingml/2006/table">
            <a:tbl>
              <a:tblPr/>
              <a:tblGrid>
                <a:gridCol w="1460500"/>
                <a:gridCol w="4889500"/>
              </a:tblGrid>
              <a:tr h="300236">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Haredi draft</a:t>
                      </a:r>
                      <a:endParaRPr lang="en-US" sz="1200" dirty="0">
                        <a:latin typeface="Public Sans" charset="0"/>
                        <a:ea typeface="Public Sans" charset="0"/>
                        <a:cs typeface="Public Sans" charset="0"/>
                      </a:endParaRPr>
                    </a:p>
                  </a:txBody>
                  <a:tcPr marL="76200" marR="76200" marT="38100" marB="38100" anchor="t">
                    <a:lnL w="0" cap="flat" cmpd="sng" algn="ctr">
                      <a:noFill/>
                    </a:lnL>
                    <a:lnR w="0" cap="flat" cmpd="sng" algn="ctr">
                      <a:noFill/>
                    </a:lnR>
                    <a:lnT w="0" cap="flat" cmpd="sng" algn="ctr">
                      <a:noFill/>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Draft law must pass before a government is sworn in</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0" cap="flat" cmpd="sng" algn="ctr">
                      <a:noFill/>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Courts</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Reform; 8-year term limits; a constitution</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4939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The war &amp; Gaza</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Wilf: “full perimeter control”; a “voluntary emigration directorate for Gaza”</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West Bank</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No Palestinian state; supports settlement</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Religion &amp; state</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No 2026 position found</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03411">
                <a:tc>
                  <a:txBody>
                    <a:bodyPr/>
                    <a:lstStyle/>
                    <a:p>
                      <a:pPr algn="l" indent="0" marL="0">
                        <a:lnSpc>
                          <a:spcPts val="1500"/>
                        </a:lnSpc>
                        <a:buNone/>
                      </a:pPr>
                      <a:r>
                        <a:rPr lang="en-US" sz="1200" dirty="0">
                          <a:solidFill>
                            <a:srgbClr val="9A541A"/>
                          </a:solidFill>
                          <a:latin typeface="Public Sans" pitchFamily="34" charset="0"/>
                          <a:ea typeface="Public Sans" pitchFamily="34" charset="-122"/>
                          <a:cs typeface="Public Sans" pitchFamily="34" charset="-120"/>
                        </a:rPr>
                        <a:t>Economy</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Zelekha: break up the monopolies that raise prices</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bl>
          </a:graphicData>
        </a:graphic>
      </p:graphicFrame>
      <p:sp>
        <p:nvSpPr>
          <p:cNvPr id="11" name="shape-567"/>
          <p:cNvSpPr/>
          <p:nvPr/>
        </p:nvSpPr>
        <p:spPr>
          <a:xfrm>
            <a:off x="7416800" y="1633141"/>
            <a:ext cx="3962400" cy="1191220"/>
          </a:xfrm>
          <a:prstGeom prst="roundRect">
            <a:avLst>
              <a:gd name="adj" fmla="val 6397"/>
            </a:avLst>
          </a:prstGeom>
          <a:solidFill>
            <a:srgbClr val="FBF8F1"/>
          </a:solidFill>
          <a:ln w="6350">
            <a:solidFill>
              <a:srgbClr val="D9D1C1"/>
            </a:solidFill>
            <a:prstDash val="solid"/>
          </a:ln>
        </p:spPr>
      </p:sp>
      <p:sp>
        <p:nvSpPr>
          <p:cNvPr id="12" name="text-568"/>
          <p:cNvSpPr txBox="1"/>
          <p:nvPr/>
        </p:nvSpPr>
        <p:spPr>
          <a:xfrm>
            <a:off x="7550150" y="1728391"/>
            <a:ext cx="3789236" cy="213320"/>
          </a:xfrm>
          <a:prstGeom prst="rect">
            <a:avLst/>
          </a:prstGeom>
          <a:noFill/>
          <a:ln/>
        </p:spPr>
        <p:txBody>
          <a:bodyPr wrap="square" lIns="0" tIns="0" rIns="0" bIns="0" rtlCol="0" anchor="t"/>
          <a:lstStyle/>
          <a:p>
            <a:pPr algn="l" indent="0" marL="0">
              <a:lnSpc>
                <a:spcPts val="1680"/>
              </a:lnSpc>
              <a:buNone/>
            </a:pPr>
            <a:r>
              <a:rPr lang="en-US" sz="1400" b="1" dirty="0">
                <a:solidFill>
                  <a:srgbClr val="15253D"/>
                </a:solidFill>
                <a:latin typeface="Public Sans" pitchFamily="34" charset="0"/>
                <a:ea typeface="Public Sans" pitchFamily="34" charset="-122"/>
                <a:cs typeface="Public Sans" pitchFamily="34" charset="-120"/>
              </a:rPr>
              <a:t>Yoaz Hendel</a:t>
            </a:r>
            <a:endParaRPr lang="en-US" sz="1400" dirty="0"/>
          </a:p>
        </p:txBody>
      </p:sp>
      <p:sp>
        <p:nvSpPr>
          <p:cNvPr id="13" name="text-569"/>
          <p:cNvSpPr txBox="1"/>
          <p:nvPr/>
        </p:nvSpPr>
        <p:spPr>
          <a:xfrm>
            <a:off x="7550150" y="1967111"/>
            <a:ext cx="3789236" cy="762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Born 1975, Petah Tikva; raised in Elkana. Shayetet 13; reserve lieutenant-colonel, commanded Battalion 8555 in the 2023 war. Communications minister 2020 and 2021–22.</a:t>
            </a:r>
            <a:endParaRPr lang="en-US" sz="1200" dirty="0"/>
          </a:p>
        </p:txBody>
      </p:sp>
      <p:sp>
        <p:nvSpPr>
          <p:cNvPr id="14" name="shape-570"/>
          <p:cNvSpPr/>
          <p:nvPr/>
        </p:nvSpPr>
        <p:spPr>
          <a:xfrm>
            <a:off x="7416800" y="2900561"/>
            <a:ext cx="3962400" cy="977900"/>
          </a:xfrm>
          <a:prstGeom prst="roundRect">
            <a:avLst>
              <a:gd name="adj" fmla="val 7792"/>
            </a:avLst>
          </a:prstGeom>
          <a:solidFill>
            <a:srgbClr val="FBF8F1"/>
          </a:solidFill>
          <a:ln w="6350">
            <a:solidFill>
              <a:srgbClr val="D9D1C1"/>
            </a:solidFill>
            <a:prstDash val="solid"/>
          </a:ln>
        </p:spPr>
      </p:sp>
      <p:sp>
        <p:nvSpPr>
          <p:cNvPr id="15" name="text-571"/>
          <p:cNvSpPr txBox="1"/>
          <p:nvPr/>
        </p:nvSpPr>
        <p:spPr>
          <a:xfrm>
            <a:off x="7550150" y="2995811"/>
            <a:ext cx="3789236"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9A541A"/>
                </a:solidFill>
                <a:latin typeface="Public Sans" pitchFamily="34" charset="0"/>
                <a:ea typeface="Public Sans" pitchFamily="34" charset="-122"/>
                <a:cs typeface="Public Sans" pitchFamily="34" charset="-120"/>
              </a:rPr>
              <a:t>ON THE LIST</a:t>
            </a:r>
            <a:endParaRPr lang="en-US" sz="1200" dirty="0"/>
          </a:p>
        </p:txBody>
      </p:sp>
      <p:sp>
        <p:nvSpPr>
          <p:cNvPr id="16" name="text-572"/>
          <p:cNvSpPr txBox="1"/>
          <p:nvPr/>
        </p:nvSpPr>
        <p:spPr>
          <a:xfrm>
            <a:off x="7550150" y="3211711"/>
            <a:ext cx="3789236"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2 Prof. Yaron Zelekha, accountant-general 2003–07</a:t>
            </a:r>
            <a:endParaRPr lang="en-US" sz="1200" dirty="0"/>
          </a:p>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3 Einat Wilf, ex-Labor MK</a:t>
            </a:r>
            <a:endParaRPr lang="en-US" sz="1200" dirty="0"/>
          </a:p>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4 Haviv Volibovich</a:t>
            </a:r>
            <a:endParaRPr lang="en-US" sz="1200" dirty="0"/>
          </a:p>
        </p:txBody>
      </p:sp>
      <p:sp>
        <p:nvSpPr>
          <p:cNvPr id="17" name="shape-573"/>
          <p:cNvSpPr/>
          <p:nvPr/>
        </p:nvSpPr>
        <p:spPr>
          <a:xfrm>
            <a:off x="7416800" y="3954661"/>
            <a:ext cx="3962400" cy="977900"/>
          </a:xfrm>
          <a:prstGeom prst="roundRect">
            <a:avLst>
              <a:gd name="adj" fmla="val 7792"/>
            </a:avLst>
          </a:prstGeom>
          <a:solidFill>
            <a:srgbClr val="FBF8F1"/>
          </a:solidFill>
          <a:ln w="6350">
            <a:solidFill>
              <a:srgbClr val="D9D1C1"/>
            </a:solidFill>
            <a:prstDash val="solid"/>
          </a:ln>
        </p:spPr>
      </p:sp>
      <p:sp>
        <p:nvSpPr>
          <p:cNvPr id="18" name="text-574"/>
          <p:cNvSpPr txBox="1"/>
          <p:nvPr/>
        </p:nvSpPr>
        <p:spPr>
          <a:xfrm>
            <a:off x="7550150" y="4049911"/>
            <a:ext cx="3789236"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9A541A"/>
                </a:solidFill>
                <a:latin typeface="Public Sans" pitchFamily="34" charset="0"/>
                <a:ea typeface="Public Sans" pitchFamily="34" charset="-122"/>
                <a:cs typeface="Public Sans" pitchFamily="34" charset="-120"/>
              </a:rPr>
              <a:t>COALITION</a:t>
            </a:r>
            <a:endParaRPr lang="en-US" sz="1200" dirty="0"/>
          </a:p>
        </p:txBody>
      </p:sp>
      <p:sp>
        <p:nvSpPr>
          <p:cNvPr id="19" name="text-575"/>
          <p:cNvSpPr txBox="1"/>
          <p:nvPr/>
        </p:nvSpPr>
        <p:spPr>
          <a:xfrm>
            <a:off x="7550150" y="4265811"/>
            <a:ext cx="3789236"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A Zionist government only: no Haredi or Arab parties. On Netanyahu, Hendel’s statements conflict. Surplus partner: unconfirmed.</a:t>
            </a:r>
            <a:endParaRPr lang="en-US" sz="1200" dirty="0"/>
          </a:p>
        </p:txBody>
      </p:sp>
      <p:sp>
        <p:nvSpPr>
          <p:cNvPr id="20" name="shape-576"/>
          <p:cNvSpPr/>
          <p:nvPr/>
        </p:nvSpPr>
        <p:spPr>
          <a:xfrm>
            <a:off x="7416800" y="5008761"/>
            <a:ext cx="3962400" cy="992981"/>
          </a:xfrm>
          <a:prstGeom prst="roundRect">
            <a:avLst>
              <a:gd name="adj" fmla="val 7674"/>
            </a:avLst>
          </a:prstGeom>
          <a:solidFill>
            <a:srgbClr val="FBF8F1"/>
          </a:solidFill>
          <a:ln w="6350">
            <a:solidFill>
              <a:srgbClr val="D9D1C1"/>
            </a:solidFill>
            <a:prstDash val="solid"/>
          </a:ln>
        </p:spPr>
      </p:sp>
      <p:sp>
        <p:nvSpPr>
          <p:cNvPr id="21" name="rule-577"/>
          <p:cNvSpPr/>
          <p:nvPr/>
        </p:nvSpPr>
        <p:spPr>
          <a:xfrm>
            <a:off x="7416800" y="5008761"/>
            <a:ext cx="38100" cy="992981"/>
          </a:xfrm>
          <a:prstGeom prst="rect">
            <a:avLst/>
          </a:prstGeom>
          <a:solidFill>
            <a:srgbClr val="8C939B"/>
          </a:solidFill>
          <a:ln/>
        </p:spPr>
      </p:sp>
      <p:sp>
        <p:nvSpPr>
          <p:cNvPr id="22" name="text-578"/>
          <p:cNvSpPr txBox="1"/>
          <p:nvPr/>
        </p:nvSpPr>
        <p:spPr>
          <a:xfrm>
            <a:off x="7581900" y="5104011"/>
            <a:ext cx="3757009" cy="396081"/>
          </a:xfrm>
          <a:prstGeom prst="rect">
            <a:avLst/>
          </a:prstGeom>
          <a:noFill/>
          <a:ln/>
        </p:spPr>
        <p:txBody>
          <a:bodyPr wrap="square" lIns="0" tIns="0" rIns="0" bIns="0" rtlCol="0" anchor="t"/>
          <a:lstStyle/>
          <a:p>
            <a:pPr algn="l" indent="0" marL="0">
              <a:lnSpc>
                <a:spcPts val="1560"/>
              </a:lnSpc>
              <a:buNone/>
            </a:pPr>
            <a:r>
              <a:rPr lang="en-US" sz="1200" i="1" dirty="0">
                <a:solidFill>
                  <a:srgbClr val="1B2634"/>
                </a:solidFill>
                <a:latin typeface="Public Sans" pitchFamily="34" charset="0"/>
                <a:ea typeface="Public Sans" pitchFamily="34" charset="-122"/>
                <a:cs typeface="Public Sans" pitchFamily="34" charset="-120"/>
              </a:rPr>
              <a:t>“Those who do not serve cannot vote or be elected to the Knesset.”</a:t>
            </a:r>
            <a:endParaRPr lang="en-US" sz="1200" dirty="0"/>
          </a:p>
        </p:txBody>
      </p:sp>
      <p:sp>
        <p:nvSpPr>
          <p:cNvPr id="23" name="text-579"/>
          <p:cNvSpPr txBox="1"/>
          <p:nvPr/>
        </p:nvSpPr>
        <p:spPr>
          <a:xfrm>
            <a:off x="7581900" y="5525492"/>
            <a:ext cx="3757009" cy="381000"/>
          </a:xfrm>
          <a:prstGeom prst="rect">
            <a:avLst/>
          </a:prstGeom>
          <a:noFill/>
          <a:ln/>
        </p:spPr>
        <p:txBody>
          <a:bodyPr wrap="square" lIns="0" tIns="0" rIns="0" bIns="0" rtlCol="0" anchor="t"/>
          <a:lstStyle/>
          <a:p>
            <a:pPr algn="l" indent="0" marL="0">
              <a:lnSpc>
                <a:spcPts val="1500"/>
              </a:lnSpc>
              <a:buNone/>
            </a:pPr>
            <a:r>
              <a:rPr lang="en-US" sz="1200" dirty="0">
                <a:solidFill>
                  <a:srgbClr val="4F5B69"/>
                </a:solidFill>
                <a:latin typeface="Public Sans" pitchFamily="34" charset="0"/>
                <a:ea typeface="Public Sans" pitchFamily="34" charset="-122"/>
                <a:cs typeface="Public Sans" pitchFamily="34" charset="-120"/>
              </a:rPr>
              <a:t>Reservists party website (themiluimnikim.org.il), read Oct 4, 2026</a:t>
            </a:r>
            <a:endParaRPr lang="en-US" sz="1200" dirty="0"/>
          </a:p>
        </p:txBody>
      </p:sp>
      <p:sp>
        <p:nvSpPr>
          <p:cNvPr id="24" name="text-580"/>
          <p:cNvSpPr txBox="1"/>
          <p:nvPr/>
        </p:nvSpPr>
        <p:spPr>
          <a:xfrm>
            <a:off x="812800" y="6253559"/>
            <a:ext cx="10762996" cy="19804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Maariv Sep 7 2026 · JPost Aug 11 &amp; 23 2026 · C14 Sep 7 2026 · Petek · party website · polls Sep 28–Oct 2 2026</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EFE4"/>
        </a:solidFill>
      </p:bgPr>
    </p:bg>
    <p:spTree>
      <p:nvGrpSpPr>
        <p:cNvPr id="1" name=""/>
        <p:cNvGrpSpPr/>
        <p:nvPr/>
      </p:nvGrpSpPr>
      <p:grpSpPr>
        <a:xfrm>
          <a:off x="0" y="0"/>
          <a:ext cx="0" cy="0"/>
          <a:chOff x="0" y="0"/>
          <a:chExt cx="0" cy="0"/>
        </a:xfrm>
      </p:grpSpPr>
      <p:sp>
        <p:nvSpPr>
          <p:cNvPr id="2" name="text-581"/>
          <p:cNvSpPr txBox="1"/>
          <p:nvPr/>
        </p:nvSpPr>
        <p:spPr>
          <a:xfrm>
            <a:off x="812800" y="812800"/>
            <a:ext cx="10762996" cy="206375"/>
          </a:xfrm>
          <a:prstGeom prst="rect">
            <a:avLst/>
          </a:prstGeom>
          <a:noFill/>
          <a:ln/>
        </p:spPr>
        <p:txBody>
          <a:bodyPr wrap="square" lIns="0" tIns="0" rIns="0" bIns="0" rtlCol="0" anchor="t"/>
          <a:lstStyle/>
          <a:p>
            <a:pPr algn="l" indent="0" marL="0">
              <a:lnSpc>
                <a:spcPts val="1625"/>
              </a:lnSpc>
              <a:buNone/>
            </a:pPr>
            <a:r>
              <a:rPr lang="en-US" sz="1300" b="1" dirty="0">
                <a:solidFill>
                  <a:srgbClr val="46698E"/>
                </a:solidFill>
                <a:latin typeface="Public Sans" pitchFamily="34" charset="0"/>
                <a:ea typeface="Public Sans" pitchFamily="34" charset="-122"/>
                <a:cs typeface="Public Sans" pitchFamily="34" charset="-120"/>
              </a:rPr>
              <a:t>Arab-led · Yousef Jabareen · Seats in latest polls: 7–9</a:t>
            </a:r>
            <a:endParaRPr lang="en-US" sz="1300" dirty="0"/>
          </a:p>
        </p:txBody>
      </p:sp>
      <p:sp>
        <p:nvSpPr>
          <p:cNvPr id="3" name="text-582"/>
          <p:cNvSpPr txBox="1"/>
          <p:nvPr/>
        </p:nvSpPr>
        <p:spPr>
          <a:xfrm>
            <a:off x="812800" y="1108075"/>
            <a:ext cx="10762996" cy="419100"/>
          </a:xfrm>
          <a:prstGeom prst="rect">
            <a:avLst/>
          </a:prstGeom>
          <a:noFill/>
          <a:ln/>
        </p:spPr>
        <p:txBody>
          <a:bodyPr wrap="square" lIns="0" tIns="0" rIns="0" bIns="0" rtlCol="0" anchor="t"/>
          <a:lstStyle/>
          <a:p>
            <a:pPr algn="l" indent="0" marL="0">
              <a:lnSpc>
                <a:spcPts val="3300"/>
              </a:lnSpc>
              <a:buNone/>
            </a:pPr>
            <a:r>
              <a:rPr lang="en-US" sz="3000" dirty="0">
                <a:solidFill>
                  <a:srgbClr val="15253D"/>
                </a:solidFill>
                <a:latin typeface="Libre Baskerville" pitchFamily="34" charset="0"/>
                <a:ea typeface="Libre Baskerville" pitchFamily="34" charset="-122"/>
                <a:cs typeface="Libre Baskerville" pitchFamily="34" charset="-120"/>
              </a:rPr>
              <a:t>The Joint List</a:t>
            </a:r>
            <a:pPr algn="l" indent="0" marL="0">
              <a:lnSpc>
                <a:spcPts val="3300"/>
              </a:lnSpc>
              <a:buNone/>
            </a:pPr>
            <a:r>
              <a:rPr lang="en-US" sz="3000" dirty="0">
                <a:solidFill>
                  <a:srgbClr val="7A8592"/>
                </a:solidFill>
                <a:latin typeface="Libre Baskerville" pitchFamily="34" charset="0"/>
                <a:ea typeface="Libre Baskerville" pitchFamily="34" charset="-122"/>
                <a:cs typeface="Libre Baskerville" pitchFamily="34" charset="-120"/>
              </a:rPr>
              <a:t> — Hadash–Ta'al–Balad</a:t>
            </a:r>
            <a:endParaRPr lang="en-US" sz="3000" dirty="0"/>
          </a:p>
        </p:txBody>
      </p:sp>
      <p:sp>
        <p:nvSpPr>
          <p:cNvPr id="4" name="text-583"/>
          <p:cNvSpPr txBox="1"/>
          <p:nvPr/>
        </p:nvSpPr>
        <p:spPr>
          <a:xfrm>
            <a:off x="812800" y="1616075"/>
            <a:ext cx="6483350"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Who they are</a:t>
            </a:r>
            <a:endParaRPr lang="en-US" sz="1400" dirty="0"/>
          </a:p>
        </p:txBody>
      </p:sp>
      <p:sp>
        <p:nvSpPr>
          <p:cNvPr id="5" name="text-584"/>
          <p:cNvSpPr txBox="1"/>
          <p:nvPr/>
        </p:nvSpPr>
        <p:spPr>
          <a:xfrm>
            <a:off x="812800" y="1842095"/>
            <a:ext cx="6483350"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Formed 2015 by all four Arab-led parties; peak of 15 seats in 2020; split by 2021. Re-formed Aug 19, 2026 without Ra'am. Barred by the Elections Committee Sept 23; reinstated 9–0 by the Supreme Court Oct 2.</a:t>
            </a:r>
            <a:endParaRPr lang="en-US" sz="1200" dirty="0"/>
          </a:p>
        </p:txBody>
      </p:sp>
      <p:sp>
        <p:nvSpPr>
          <p:cNvPr id="6" name="text-585"/>
          <p:cNvSpPr txBox="1"/>
          <p:nvPr/>
        </p:nvSpPr>
        <p:spPr>
          <a:xfrm>
            <a:off x="812800" y="2515195"/>
            <a:ext cx="6483350"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Who votes for them</a:t>
            </a:r>
            <a:endParaRPr lang="en-US" sz="1400" dirty="0"/>
          </a:p>
        </p:txBody>
      </p:sp>
      <p:sp>
        <p:nvSpPr>
          <p:cNvPr id="7" name="text-586"/>
          <p:cNvSpPr txBox="1"/>
          <p:nvPr/>
        </p:nvSpPr>
        <p:spPr>
          <a:xfrm>
            <a:off x="812800" y="2741216"/>
            <a:ext cx="6483350" cy="381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2022 in Arab and Druze towns: Hadash–Ta'al 28.8%, Balad 21.7% (IDI). Nationally: Hadash–Ta'al 3.75%, 5 seats; Balad 2.91%, no seats.</a:t>
            </a:r>
            <a:endParaRPr lang="en-US" sz="1200" dirty="0"/>
          </a:p>
        </p:txBody>
      </p:sp>
      <p:sp>
        <p:nvSpPr>
          <p:cNvPr id="8" name="text-587"/>
          <p:cNvSpPr txBox="1"/>
          <p:nvPr/>
        </p:nvSpPr>
        <p:spPr>
          <a:xfrm>
            <a:off x="812800" y="3223816"/>
            <a:ext cx="6483350"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What they’re running on</a:t>
            </a:r>
            <a:endParaRPr lang="en-US" sz="1400" dirty="0"/>
          </a:p>
        </p:txBody>
      </p:sp>
      <p:graphicFrame>
        <p:nvGraphicFramePr>
          <p:cNvPr id="27" name="table-588"/>
          <p:cNvGraphicFramePr>
            <a:graphicFrameLocks noGrp="1"/>
          </p:cNvGraphicFramePr>
          <p:nvPr>
            <p:extLst>
              <p:ext uri="{D42A27DB-BD31-4B8C-83A1-F6EECF244321}">
                <p14:modId xmlns:p14="http://schemas.microsoft.com/office/powerpoint/2010/main" val="1579011935"/>
              </p:ext>
            </p:extLst>
          </p:nvPr>
        </p:nvGraphicFramePr>
        <p:xfrm>
          <a:off x="812800" y="3475236"/>
          <a:ext cx="6350000" cy="914400"/>
        </p:xfrm>
        <a:graphic>
          <a:graphicData uri="http://schemas.openxmlformats.org/drawingml/2006/table">
            <a:tbl>
              <a:tblPr/>
              <a:tblGrid>
                <a:gridCol w="1522413"/>
                <a:gridCol w="4821238"/>
              </a:tblGrid>
              <a:tr h="316210">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Haredi draft</a:t>
                      </a:r>
                      <a:endParaRPr lang="en-US" sz="1200" dirty="0">
                        <a:latin typeface="Public Sans" charset="0"/>
                        <a:ea typeface="Public Sans" charset="0"/>
                        <a:cs typeface="Public Sans" charset="0"/>
                      </a:endParaRPr>
                    </a:p>
                  </a:txBody>
                  <a:tcPr marL="88900" marR="88900" marT="63500" marB="6350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9D1C1"/>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No 2026 position found</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9D1C1"/>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Courts</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No 2026 position found</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The war &amp; Gaza</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“End Gaza destruction” (New Arab)</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47863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West Bank</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A Palestinian state alongside Israel; “stop settlement expansion” (New Arab)</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Religion &amp; state</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No 2026 position found</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Economy</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c>
                  <a:txBody>
                    <a:bodyPr/>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No 2026 position found</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r>
            </a:tbl>
          </a:graphicData>
        </a:graphic>
      </p:graphicFrame>
      <p:sp>
        <p:nvSpPr>
          <p:cNvPr id="10" name="shape-589"/>
          <p:cNvSpPr/>
          <p:nvPr/>
        </p:nvSpPr>
        <p:spPr>
          <a:xfrm>
            <a:off x="7416800" y="1616075"/>
            <a:ext cx="3962400" cy="1013420"/>
          </a:xfrm>
          <a:prstGeom prst="roundRect">
            <a:avLst>
              <a:gd name="adj" fmla="val 7519"/>
            </a:avLst>
          </a:prstGeom>
          <a:solidFill>
            <a:srgbClr val="FBF8F1"/>
          </a:solidFill>
          <a:ln w="6350">
            <a:solidFill>
              <a:srgbClr val="D9D1C1"/>
            </a:solidFill>
            <a:prstDash val="solid"/>
          </a:ln>
        </p:spPr>
      </p:sp>
      <p:sp>
        <p:nvSpPr>
          <p:cNvPr id="11" name="text-590"/>
          <p:cNvSpPr txBox="1"/>
          <p:nvPr/>
        </p:nvSpPr>
        <p:spPr>
          <a:xfrm>
            <a:off x="7562850" y="1711325"/>
            <a:ext cx="3763455"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Yousef Jabareen · b. 1972</a:t>
            </a:r>
            <a:endParaRPr lang="en-US" sz="1400" dirty="0"/>
          </a:p>
        </p:txBody>
      </p:sp>
      <p:sp>
        <p:nvSpPr>
          <p:cNvPr id="12" name="text-591"/>
          <p:cNvSpPr txBox="1"/>
          <p:nvPr/>
        </p:nvSpPr>
        <p:spPr>
          <a:xfrm>
            <a:off x="7562850" y="1962745"/>
            <a:ext cx="3763455"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From Umm al-Fahm; constitutional-law scholar. Hadash chair since May 2026, replacing Ayman Odeh.</a:t>
            </a:r>
            <a:endParaRPr lang="en-US" sz="1200" dirty="0"/>
          </a:p>
        </p:txBody>
      </p:sp>
      <p:sp>
        <p:nvSpPr>
          <p:cNvPr id="13" name="shape-592"/>
          <p:cNvSpPr/>
          <p:nvPr/>
        </p:nvSpPr>
        <p:spPr>
          <a:xfrm>
            <a:off x="7416800" y="2705695"/>
            <a:ext cx="3962400" cy="1181100"/>
          </a:xfrm>
          <a:prstGeom prst="roundRect">
            <a:avLst>
              <a:gd name="adj" fmla="val 6452"/>
            </a:avLst>
          </a:prstGeom>
          <a:solidFill>
            <a:srgbClr val="FBF8F1"/>
          </a:solidFill>
          <a:ln w="6350">
            <a:solidFill>
              <a:srgbClr val="D9D1C1"/>
            </a:solidFill>
            <a:prstDash val="solid"/>
          </a:ln>
        </p:spPr>
      </p:sp>
      <p:sp>
        <p:nvSpPr>
          <p:cNvPr id="14" name="text-593"/>
          <p:cNvSpPr txBox="1"/>
          <p:nvPr/>
        </p:nvSpPr>
        <p:spPr>
          <a:xfrm>
            <a:off x="7562850" y="2800945"/>
            <a:ext cx="3763455"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46698E"/>
                </a:solidFill>
                <a:latin typeface="Public Sans" pitchFamily="34" charset="0"/>
                <a:ea typeface="Public Sans" pitchFamily="34" charset="-122"/>
                <a:cs typeface="Public Sans" pitchFamily="34" charset="-120"/>
              </a:rPr>
              <a:t>ON THE LIST</a:t>
            </a:r>
            <a:endParaRPr lang="en-US" sz="1200" dirty="0"/>
          </a:p>
        </p:txBody>
      </p:sp>
      <p:sp>
        <p:nvSpPr>
          <p:cNvPr id="15" name="text-594"/>
          <p:cNvSpPr txBox="1"/>
          <p:nvPr/>
        </p:nvSpPr>
        <p:spPr>
          <a:xfrm>
            <a:off x="7562850" y="3029545"/>
            <a:ext cx="3763455" cy="762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2 · Ahmad Tibi (Ta'al)</a:t>
            </a:r>
            <a:endParaRPr lang="en-US" sz="1200" dirty="0"/>
          </a:p>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3 · Sami Abu Shehadeh, withdrew</a:t>
            </a:r>
            <a:endParaRPr lang="en-US" sz="1200" dirty="0"/>
          </a:p>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6 · Ofer Cassif (per The New Arab, Sep 9; slot order differs by source)</a:t>
            </a:r>
            <a:endParaRPr lang="en-US" sz="1200" dirty="0"/>
          </a:p>
        </p:txBody>
      </p:sp>
      <p:sp>
        <p:nvSpPr>
          <p:cNvPr id="16" name="shape-595"/>
          <p:cNvSpPr/>
          <p:nvPr/>
        </p:nvSpPr>
        <p:spPr>
          <a:xfrm>
            <a:off x="7416800" y="3962995"/>
            <a:ext cx="3962400" cy="800100"/>
          </a:xfrm>
          <a:prstGeom prst="roundRect">
            <a:avLst>
              <a:gd name="adj" fmla="val 9524"/>
            </a:avLst>
          </a:prstGeom>
          <a:solidFill>
            <a:srgbClr val="FBF8F1"/>
          </a:solidFill>
          <a:ln w="6350">
            <a:solidFill>
              <a:srgbClr val="D9D1C1"/>
            </a:solidFill>
            <a:prstDash val="solid"/>
          </a:ln>
        </p:spPr>
      </p:sp>
      <p:sp>
        <p:nvSpPr>
          <p:cNvPr id="17" name="text-596"/>
          <p:cNvSpPr txBox="1"/>
          <p:nvPr/>
        </p:nvSpPr>
        <p:spPr>
          <a:xfrm>
            <a:off x="7562850" y="4058245"/>
            <a:ext cx="3763455"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46698E"/>
                </a:solidFill>
                <a:latin typeface="Public Sans" pitchFamily="34" charset="0"/>
                <a:ea typeface="Public Sans" pitchFamily="34" charset="-122"/>
                <a:cs typeface="Public Sans" pitchFamily="34" charset="-120"/>
              </a:rPr>
              <a:t>COALITION</a:t>
            </a:r>
            <a:endParaRPr lang="en-US" sz="1200" dirty="0"/>
          </a:p>
        </p:txBody>
      </p:sp>
      <p:sp>
        <p:nvSpPr>
          <p:cNvPr id="18" name="text-597"/>
          <p:cNvSpPr txBox="1"/>
          <p:nvPr/>
        </p:nvSpPr>
        <p:spPr>
          <a:xfrm>
            <a:off x="7562850" y="4286845"/>
            <a:ext cx="3763455" cy="381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Won't join Netanyahu. Sets conditions for backing an Eisenkot bloc. Surplus partner: Ra'am.</a:t>
            </a:r>
            <a:endParaRPr lang="en-US" sz="1200" dirty="0"/>
          </a:p>
        </p:txBody>
      </p:sp>
      <p:sp>
        <p:nvSpPr>
          <p:cNvPr id="19" name="shape-598"/>
          <p:cNvSpPr/>
          <p:nvPr/>
        </p:nvSpPr>
        <p:spPr>
          <a:xfrm>
            <a:off x="7416800" y="4839295"/>
            <a:ext cx="3962400" cy="977900"/>
          </a:xfrm>
          <a:prstGeom prst="roundRect">
            <a:avLst>
              <a:gd name="adj" fmla="val 7792"/>
            </a:avLst>
          </a:prstGeom>
          <a:solidFill>
            <a:srgbClr val="15253D"/>
          </a:solidFill>
          <a:ln/>
        </p:spPr>
      </p:sp>
      <p:sp>
        <p:nvSpPr>
          <p:cNvPr id="20" name="text-599"/>
          <p:cNvSpPr txBox="1"/>
          <p:nvPr/>
        </p:nvSpPr>
        <p:spPr>
          <a:xfrm>
            <a:off x="7556500" y="4928195"/>
            <a:ext cx="3776345" cy="381000"/>
          </a:xfrm>
          <a:prstGeom prst="rect">
            <a:avLst/>
          </a:prstGeom>
          <a:noFill/>
          <a:ln/>
        </p:spPr>
        <p:txBody>
          <a:bodyPr wrap="square" lIns="0" tIns="0" rIns="0" bIns="0" rtlCol="0" anchor="t"/>
          <a:lstStyle/>
          <a:p>
            <a:pPr algn="l" indent="0" marL="0">
              <a:lnSpc>
                <a:spcPts val="1500"/>
              </a:lnSpc>
              <a:buNone/>
            </a:pPr>
            <a:r>
              <a:rPr lang="en-US" sz="1200" i="1" dirty="0">
                <a:solidFill>
                  <a:srgbClr val="F4EFE4"/>
                </a:solidFill>
                <a:latin typeface="Public Sans" pitchFamily="34" charset="0"/>
                <a:ea typeface="Public Sans" pitchFamily="34" charset="-122"/>
                <a:cs typeface="Public Sans" pitchFamily="34" charset="-120"/>
              </a:rPr>
              <a:t>“We agreed on the Joint List because the interests of our people are greater than any disagreement.”</a:t>
            </a:r>
            <a:endParaRPr lang="en-US" sz="1200" dirty="0"/>
          </a:p>
        </p:txBody>
      </p:sp>
      <p:sp>
        <p:nvSpPr>
          <p:cNvPr id="21" name="text-600"/>
          <p:cNvSpPr txBox="1"/>
          <p:nvPr/>
        </p:nvSpPr>
        <p:spPr>
          <a:xfrm>
            <a:off x="7556500" y="5347295"/>
            <a:ext cx="3776345" cy="381000"/>
          </a:xfrm>
          <a:prstGeom prst="rect">
            <a:avLst/>
          </a:prstGeom>
          <a:noFill/>
          <a:ln/>
        </p:spPr>
        <p:txBody>
          <a:bodyPr wrap="square" lIns="0" tIns="0" rIns="0" bIns="0" rtlCol="0" anchor="t"/>
          <a:lstStyle/>
          <a:p>
            <a:pPr algn="l" indent="0" marL="0">
              <a:lnSpc>
                <a:spcPts val="1500"/>
              </a:lnSpc>
              <a:buNone/>
            </a:pPr>
            <a:r>
              <a:rPr lang="en-US" sz="1200" dirty="0">
                <a:solidFill>
                  <a:srgbClr val="E2AD6E"/>
                </a:solidFill>
                <a:latin typeface="Public Sans" pitchFamily="34" charset="0"/>
                <a:ea typeface="Public Sans" pitchFamily="34" charset="-122"/>
                <a:cs typeface="Public Sans" pitchFamily="34" charset="-120"/>
              </a:rPr>
              <a:t>Yousef Jabareen, on the Aug 19 deal (outlet not recorded)</a:t>
            </a:r>
            <a:endParaRPr lang="en-US" sz="1200" dirty="0"/>
          </a:p>
        </p:txBody>
      </p:sp>
      <p:sp>
        <p:nvSpPr>
          <p:cNvPr id="22" name="text-601"/>
          <p:cNvSpPr txBox="1"/>
          <p:nvPr/>
        </p:nvSpPr>
        <p:spPr>
          <a:xfrm>
            <a:off x="812800" y="6253559"/>
            <a:ext cx="10762996" cy="19804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IDI Dec 25 2022 · ToI May 16 &amp; Sep 23 2026 · JPost Aug 19 &amp; Oct 2 2026 · New Arab Sep 9 2026 · polls Sep 28–Oct 2 2026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EFE4"/>
        </a:solidFill>
      </p:bgPr>
    </p:bg>
    <p:spTree>
      <p:nvGrpSpPr>
        <p:cNvPr id="1" name=""/>
        <p:cNvGrpSpPr/>
        <p:nvPr/>
      </p:nvGrpSpPr>
      <p:grpSpPr>
        <a:xfrm>
          <a:off x="0" y="0"/>
          <a:ext cx="0" cy="0"/>
          <a:chOff x="0" y="0"/>
          <a:chExt cx="0" cy="0"/>
        </a:xfrm>
      </p:grpSpPr>
      <p:sp>
        <p:nvSpPr>
          <p:cNvPr id="2" name="text-602"/>
          <p:cNvSpPr txBox="1"/>
          <p:nvPr/>
        </p:nvSpPr>
        <p:spPr>
          <a:xfrm>
            <a:off x="812800" y="812800"/>
            <a:ext cx="10762996" cy="206375"/>
          </a:xfrm>
          <a:prstGeom prst="rect">
            <a:avLst/>
          </a:prstGeom>
          <a:noFill/>
          <a:ln/>
        </p:spPr>
        <p:txBody>
          <a:bodyPr wrap="square" lIns="0" tIns="0" rIns="0" bIns="0" rtlCol="0" anchor="t"/>
          <a:lstStyle/>
          <a:p>
            <a:pPr algn="l" indent="0" marL="0">
              <a:lnSpc>
                <a:spcPts val="1625"/>
              </a:lnSpc>
              <a:buNone/>
            </a:pPr>
            <a:r>
              <a:rPr lang="en-US" sz="1300" b="1" dirty="0">
                <a:solidFill>
                  <a:srgbClr val="46698E"/>
                </a:solidFill>
                <a:latin typeface="Public Sans" pitchFamily="34" charset="0"/>
                <a:ea typeface="Public Sans" pitchFamily="34" charset="-122"/>
                <a:cs typeface="Public Sans" pitchFamily="34" charset="-120"/>
              </a:rPr>
              <a:t>Arab-led · Mansour Abbas · Seats in latest polls: 5 in all five</a:t>
            </a:r>
            <a:endParaRPr lang="en-US" sz="1300" dirty="0"/>
          </a:p>
        </p:txBody>
      </p:sp>
      <p:sp>
        <p:nvSpPr>
          <p:cNvPr id="3" name="text-603"/>
          <p:cNvSpPr txBox="1"/>
          <p:nvPr/>
        </p:nvSpPr>
        <p:spPr>
          <a:xfrm>
            <a:off x="812800" y="1108075"/>
            <a:ext cx="10762996" cy="419100"/>
          </a:xfrm>
          <a:prstGeom prst="rect">
            <a:avLst/>
          </a:prstGeom>
          <a:noFill/>
          <a:ln/>
        </p:spPr>
        <p:txBody>
          <a:bodyPr wrap="square" lIns="0" tIns="0" rIns="0" bIns="0" rtlCol="0" anchor="t"/>
          <a:lstStyle/>
          <a:p>
            <a:pPr algn="l" indent="0" marL="0">
              <a:lnSpc>
                <a:spcPts val="3300"/>
              </a:lnSpc>
              <a:buNone/>
            </a:pPr>
            <a:r>
              <a:rPr lang="en-US" sz="3000" dirty="0">
                <a:solidFill>
                  <a:srgbClr val="15253D"/>
                </a:solidFill>
                <a:latin typeface="Libre Baskerville" pitchFamily="34" charset="0"/>
                <a:ea typeface="Libre Baskerville" pitchFamily="34" charset="-122"/>
                <a:cs typeface="Libre Baskerville" pitchFamily="34" charset="-120"/>
              </a:rPr>
              <a:t>Ra'am</a:t>
            </a:r>
            <a:pPr algn="l" indent="0" marL="0">
              <a:lnSpc>
                <a:spcPts val="3300"/>
              </a:lnSpc>
              <a:buNone/>
            </a:pPr>
            <a:r>
              <a:rPr lang="en-US" sz="3000" dirty="0">
                <a:solidFill>
                  <a:srgbClr val="7A8592"/>
                </a:solidFill>
                <a:latin typeface="Libre Baskerville" pitchFamily="34" charset="0"/>
                <a:ea typeface="Libre Baskerville" pitchFamily="34" charset="-122"/>
                <a:cs typeface="Libre Baskerville" pitchFamily="34" charset="-120"/>
              </a:rPr>
              <a:t> — United Arab List</a:t>
            </a:r>
            <a:endParaRPr lang="en-US" sz="3000" dirty="0"/>
          </a:p>
        </p:txBody>
      </p:sp>
      <p:sp>
        <p:nvSpPr>
          <p:cNvPr id="4" name="text-604"/>
          <p:cNvSpPr txBox="1"/>
          <p:nvPr/>
        </p:nvSpPr>
        <p:spPr>
          <a:xfrm>
            <a:off x="812800" y="1616075"/>
            <a:ext cx="6483350"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Who they are</a:t>
            </a:r>
            <a:endParaRPr lang="en-US" sz="1400" dirty="0"/>
          </a:p>
        </p:txBody>
      </p:sp>
      <p:sp>
        <p:nvSpPr>
          <p:cNvPr id="5" name="text-605"/>
          <p:cNvSpPr txBox="1"/>
          <p:nvPr/>
        </p:nvSpPr>
        <p:spPr>
          <a:xfrm>
            <a:off x="812800" y="1842095"/>
            <a:ext cx="6483350"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Founded 1996 as the political wing of the Islamic Movement's Southern Branch. In 2021, the first independent Arab party in an Israeli government. Says its split from the movement's Shura Council was complete in July 2026.</a:t>
            </a:r>
            <a:endParaRPr lang="en-US" sz="1200" dirty="0"/>
          </a:p>
        </p:txBody>
      </p:sp>
      <p:sp>
        <p:nvSpPr>
          <p:cNvPr id="6" name="text-606"/>
          <p:cNvSpPr txBox="1"/>
          <p:nvPr/>
        </p:nvSpPr>
        <p:spPr>
          <a:xfrm>
            <a:off x="812800" y="2515195"/>
            <a:ext cx="6483350"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Who votes for them</a:t>
            </a:r>
            <a:endParaRPr lang="en-US" sz="1400" dirty="0"/>
          </a:p>
        </p:txBody>
      </p:sp>
      <p:sp>
        <p:nvSpPr>
          <p:cNvPr id="7" name="text-607"/>
          <p:cNvSpPr txBox="1"/>
          <p:nvPr/>
        </p:nvSpPr>
        <p:spPr>
          <a:xfrm>
            <a:off x="812800" y="2741216"/>
            <a:ext cx="6483350" cy="381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2022: 4.07%, 5 seats; 35.2% of the Arab and Druze vote, 73.9% in the Negev (IDI). Strongholds: Negev and Triangle.</a:t>
            </a:r>
            <a:endParaRPr lang="en-US" sz="1200" dirty="0"/>
          </a:p>
        </p:txBody>
      </p:sp>
      <p:sp>
        <p:nvSpPr>
          <p:cNvPr id="8" name="text-608"/>
          <p:cNvSpPr txBox="1"/>
          <p:nvPr/>
        </p:nvSpPr>
        <p:spPr>
          <a:xfrm>
            <a:off x="812800" y="3223816"/>
            <a:ext cx="6483350"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What they’re running on</a:t>
            </a:r>
            <a:endParaRPr lang="en-US" sz="1400" dirty="0"/>
          </a:p>
        </p:txBody>
      </p:sp>
      <p:graphicFrame>
        <p:nvGraphicFramePr>
          <p:cNvPr id="28" name="table-609"/>
          <p:cNvGraphicFramePr>
            <a:graphicFrameLocks noGrp="1"/>
          </p:cNvGraphicFramePr>
          <p:nvPr>
            <p:extLst>
              <p:ext uri="{D42A27DB-BD31-4B8C-83A1-F6EECF244321}">
                <p14:modId xmlns:p14="http://schemas.microsoft.com/office/powerpoint/2010/main" val="1579011935"/>
              </p:ext>
            </p:extLst>
          </p:nvPr>
        </p:nvGraphicFramePr>
        <p:xfrm>
          <a:off x="812800" y="3475236"/>
          <a:ext cx="6350000" cy="914400"/>
        </p:xfrm>
        <a:graphic>
          <a:graphicData uri="http://schemas.openxmlformats.org/drawingml/2006/table">
            <a:tbl>
              <a:tblPr/>
              <a:tblGrid>
                <a:gridCol w="1522413"/>
                <a:gridCol w="4821238"/>
              </a:tblGrid>
              <a:tr h="316210">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Haredi draft</a:t>
                      </a:r>
                      <a:endParaRPr lang="en-US" sz="1200" dirty="0">
                        <a:latin typeface="Public Sans" charset="0"/>
                        <a:ea typeface="Public Sans" charset="0"/>
                        <a:cs typeface="Public Sans" charset="0"/>
                      </a:endParaRPr>
                    </a:p>
                  </a:txBody>
                  <a:tcPr marL="88900" marR="88900" marT="63500" marB="6350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9D1C1"/>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No 2026 position found</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9D1C1"/>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Courts</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No 2026 position found</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66149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The war &amp; Gaza</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Asked on Kan (Jul 28) if Hamas is a terror group to be destroyed: “I don't want to give you a straight answer… I have a straight answer; I just don't want to say it”</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West Bank</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Wants Israel and the US to recognize Palestine</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47863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Religion &amp; state</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“Israel was born as a Jewish state, and it will remain so” (earlier statement, date not recorded)</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295771">
                <a:tc>
                  <a:txBody>
                    <a:bodyPr/>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Economy</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c>
                  <a:txBody>
                    <a:bodyPr/>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Budgets, planning, housing and jobs for Arab towns</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r>
            </a:tbl>
          </a:graphicData>
        </a:graphic>
      </p:graphicFrame>
      <p:sp>
        <p:nvSpPr>
          <p:cNvPr id="10" name="shape-610"/>
          <p:cNvSpPr/>
          <p:nvPr/>
        </p:nvSpPr>
        <p:spPr>
          <a:xfrm>
            <a:off x="7416800" y="1616075"/>
            <a:ext cx="3962400" cy="822920"/>
          </a:xfrm>
          <a:prstGeom prst="roundRect">
            <a:avLst>
              <a:gd name="adj" fmla="val 9260"/>
            </a:avLst>
          </a:prstGeom>
          <a:solidFill>
            <a:srgbClr val="FBF8F1"/>
          </a:solidFill>
          <a:ln w="6350">
            <a:solidFill>
              <a:srgbClr val="D9D1C1"/>
            </a:solidFill>
            <a:prstDash val="solid"/>
          </a:ln>
        </p:spPr>
      </p:sp>
      <p:sp>
        <p:nvSpPr>
          <p:cNvPr id="11" name="text-611"/>
          <p:cNvSpPr txBox="1"/>
          <p:nvPr/>
        </p:nvSpPr>
        <p:spPr>
          <a:xfrm>
            <a:off x="7562850" y="1711325"/>
            <a:ext cx="3763455" cy="213320"/>
          </a:xfrm>
          <a:prstGeom prst="rect">
            <a:avLst/>
          </a:prstGeom>
          <a:noFill/>
          <a:ln/>
        </p:spPr>
        <p:txBody>
          <a:bodyPr wrap="square" lIns="0" tIns="0" rIns="0" bIns="0" rtlCol="0" anchor="t"/>
          <a:lstStyle/>
          <a:p>
            <a:pPr algn="l" indent="0" marL="0">
              <a:lnSpc>
                <a:spcPts val="1680"/>
              </a:lnSpc>
              <a:buNone/>
            </a:pPr>
            <a:r>
              <a:rPr lang="en-US" sz="1400" dirty="0">
                <a:solidFill>
                  <a:srgbClr val="15253D"/>
                </a:solidFill>
                <a:latin typeface="Libre Baskerville" pitchFamily="34" charset="0"/>
                <a:ea typeface="Libre Baskerville" pitchFamily="34" charset="-122"/>
                <a:cs typeface="Libre Baskerville" pitchFamily="34" charset="-120"/>
              </a:rPr>
              <a:t>Mansour Abbas · b. 1974, Maghar</a:t>
            </a:r>
            <a:endParaRPr lang="en-US" sz="1400" dirty="0"/>
          </a:p>
        </p:txBody>
      </p:sp>
      <p:sp>
        <p:nvSpPr>
          <p:cNvPr id="12" name="text-612"/>
          <p:cNvSpPr txBox="1"/>
          <p:nvPr/>
        </p:nvSpPr>
        <p:spPr>
          <a:xfrm>
            <a:off x="7562850" y="1962745"/>
            <a:ext cx="3763455" cy="381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Dentist and imam. Ra'am chair since 2018, MK since 2019.</a:t>
            </a:r>
            <a:endParaRPr lang="en-US" sz="1200" dirty="0"/>
          </a:p>
        </p:txBody>
      </p:sp>
      <p:sp>
        <p:nvSpPr>
          <p:cNvPr id="13" name="shape-613"/>
          <p:cNvSpPr/>
          <p:nvPr/>
        </p:nvSpPr>
        <p:spPr>
          <a:xfrm>
            <a:off x="7416800" y="2515195"/>
            <a:ext cx="3962400" cy="990600"/>
          </a:xfrm>
          <a:prstGeom prst="roundRect">
            <a:avLst>
              <a:gd name="adj" fmla="val 7692"/>
            </a:avLst>
          </a:prstGeom>
          <a:solidFill>
            <a:srgbClr val="FBF8F1"/>
          </a:solidFill>
          <a:ln w="6350">
            <a:solidFill>
              <a:srgbClr val="D9D1C1"/>
            </a:solidFill>
            <a:prstDash val="solid"/>
          </a:ln>
        </p:spPr>
      </p:sp>
      <p:sp>
        <p:nvSpPr>
          <p:cNvPr id="14" name="text-614"/>
          <p:cNvSpPr txBox="1"/>
          <p:nvPr/>
        </p:nvSpPr>
        <p:spPr>
          <a:xfrm>
            <a:off x="7562850" y="2610445"/>
            <a:ext cx="3763455"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46698E"/>
                </a:solidFill>
                <a:latin typeface="Public Sans" pitchFamily="34" charset="0"/>
                <a:ea typeface="Public Sans" pitchFamily="34" charset="-122"/>
                <a:cs typeface="Public Sans" pitchFamily="34" charset="-120"/>
              </a:rPr>
              <a:t>ON THE LIST</a:t>
            </a:r>
            <a:endParaRPr lang="en-US" sz="1200" dirty="0"/>
          </a:p>
        </p:txBody>
      </p:sp>
      <p:sp>
        <p:nvSpPr>
          <p:cNvPr id="15" name="text-615"/>
          <p:cNvSpPr txBox="1"/>
          <p:nvPr/>
        </p:nvSpPr>
        <p:spPr>
          <a:xfrm>
            <a:off x="7562850" y="2839045"/>
            <a:ext cx="3763455" cy="5715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2 · Yoav Segalovitz, Jewish former police commander</a:t>
            </a:r>
            <a:endParaRPr lang="en-US" sz="1200" dirty="0"/>
          </a:p>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Also on the slate: Walid Taha, Iman Khatib-Yassin</a:t>
            </a:r>
            <a:endParaRPr lang="en-US" sz="1200" dirty="0"/>
          </a:p>
        </p:txBody>
      </p:sp>
      <p:sp>
        <p:nvSpPr>
          <p:cNvPr id="16" name="shape-616"/>
          <p:cNvSpPr/>
          <p:nvPr/>
        </p:nvSpPr>
        <p:spPr>
          <a:xfrm>
            <a:off x="7416800" y="3581995"/>
            <a:ext cx="3962400" cy="800100"/>
          </a:xfrm>
          <a:prstGeom prst="roundRect">
            <a:avLst>
              <a:gd name="adj" fmla="val 9524"/>
            </a:avLst>
          </a:prstGeom>
          <a:solidFill>
            <a:srgbClr val="FBF8F1"/>
          </a:solidFill>
          <a:ln w="6350">
            <a:solidFill>
              <a:srgbClr val="D9D1C1"/>
            </a:solidFill>
            <a:prstDash val="solid"/>
          </a:ln>
        </p:spPr>
      </p:sp>
      <p:sp>
        <p:nvSpPr>
          <p:cNvPr id="17" name="text-617"/>
          <p:cNvSpPr txBox="1"/>
          <p:nvPr/>
        </p:nvSpPr>
        <p:spPr>
          <a:xfrm>
            <a:off x="7562850" y="3677245"/>
            <a:ext cx="3763455" cy="190500"/>
          </a:xfrm>
          <a:prstGeom prst="rect">
            <a:avLst/>
          </a:prstGeom>
          <a:noFill/>
          <a:ln/>
        </p:spPr>
        <p:txBody>
          <a:bodyPr wrap="square" lIns="0" tIns="0" rIns="0" bIns="0" rtlCol="0" anchor="t"/>
          <a:lstStyle/>
          <a:p>
            <a:pPr algn="l" indent="0" marL="0">
              <a:lnSpc>
                <a:spcPts val="1500"/>
              </a:lnSpc>
              <a:buNone/>
            </a:pPr>
            <a:r>
              <a:rPr lang="en-US" sz="1200" b="1" spc="100" kern="0" dirty="0">
                <a:solidFill>
                  <a:srgbClr val="46698E"/>
                </a:solidFill>
                <a:latin typeface="Public Sans" pitchFamily="34" charset="0"/>
                <a:ea typeface="Public Sans" pitchFamily="34" charset="-122"/>
                <a:cs typeface="Public Sans" pitchFamily="34" charset="-120"/>
              </a:rPr>
              <a:t>COALITION</a:t>
            </a:r>
            <a:endParaRPr lang="en-US" sz="1200" dirty="0"/>
          </a:p>
        </p:txBody>
      </p:sp>
      <p:sp>
        <p:nvSpPr>
          <p:cNvPr id="18" name="text-618"/>
          <p:cNvSpPr txBox="1"/>
          <p:nvPr/>
        </p:nvSpPr>
        <p:spPr>
          <a:xfrm>
            <a:off x="7562850" y="3905845"/>
            <a:ext cx="3763455" cy="381000"/>
          </a:xfrm>
          <a:prstGeom prst="rect">
            <a:avLst/>
          </a:prstGeom>
          <a:noFill/>
          <a:ln/>
        </p:spPr>
        <p:txBody>
          <a:bodyPr wrap="square" lIns="0" tIns="0" rIns="0" bIns="0" rtlCol="0" anchor="t"/>
          <a:lstStyle/>
          <a:p>
            <a:pPr algn="l" indent="0" marL="0">
              <a:lnSpc>
                <a:spcPts val="1500"/>
              </a:lnSpc>
              <a:buNone/>
            </a:pPr>
            <a:r>
              <a:rPr lang="en-US" sz="1200" dirty="0">
                <a:solidFill>
                  <a:srgbClr val="1B2634"/>
                </a:solidFill>
                <a:latin typeface="Public Sans" pitchFamily="34" charset="0"/>
                <a:ea typeface="Public Sans" pitchFamily="34" charset="-122"/>
                <a:cs typeface="Public Sans" pitchFamily="34" charset="-120"/>
              </a:rPr>
              <a:t>Open to any coalition, Likud-led included. Eisenkot says no. Surplus partner: the Joint List.</a:t>
            </a:r>
            <a:endParaRPr lang="en-US" sz="1200" dirty="0"/>
          </a:p>
        </p:txBody>
      </p:sp>
      <p:sp>
        <p:nvSpPr>
          <p:cNvPr id="19" name="shape-619"/>
          <p:cNvSpPr/>
          <p:nvPr/>
        </p:nvSpPr>
        <p:spPr>
          <a:xfrm>
            <a:off x="7416800" y="4458295"/>
            <a:ext cx="3962400" cy="977900"/>
          </a:xfrm>
          <a:prstGeom prst="roundRect">
            <a:avLst>
              <a:gd name="adj" fmla="val 7792"/>
            </a:avLst>
          </a:prstGeom>
          <a:solidFill>
            <a:srgbClr val="15253D"/>
          </a:solidFill>
          <a:ln/>
        </p:spPr>
      </p:sp>
      <p:sp>
        <p:nvSpPr>
          <p:cNvPr id="20" name="text-620"/>
          <p:cNvSpPr txBox="1"/>
          <p:nvPr/>
        </p:nvSpPr>
        <p:spPr>
          <a:xfrm>
            <a:off x="7556500" y="4547195"/>
            <a:ext cx="3776345" cy="381000"/>
          </a:xfrm>
          <a:prstGeom prst="rect">
            <a:avLst/>
          </a:prstGeom>
          <a:noFill/>
          <a:ln/>
        </p:spPr>
        <p:txBody>
          <a:bodyPr wrap="square" lIns="0" tIns="0" rIns="0" bIns="0" rtlCol="0" anchor="t"/>
          <a:lstStyle/>
          <a:p>
            <a:pPr algn="l" indent="0" marL="0">
              <a:lnSpc>
                <a:spcPts val="1500"/>
              </a:lnSpc>
              <a:buNone/>
            </a:pPr>
            <a:r>
              <a:rPr lang="en-US" sz="1200" i="1" dirty="0">
                <a:solidFill>
                  <a:srgbClr val="F4EFE4"/>
                </a:solidFill>
                <a:latin typeface="Public Sans" pitchFamily="34" charset="0"/>
                <a:ea typeface="Public Sans" pitchFamily="34" charset="-122"/>
                <a:cs typeface="Public Sans" pitchFamily="34" charset="-120"/>
              </a:rPr>
              <a:t>“I am going to an Arab party. They are not coming to me.”</a:t>
            </a:r>
            <a:endParaRPr lang="en-US" sz="1200" dirty="0"/>
          </a:p>
        </p:txBody>
      </p:sp>
      <p:sp>
        <p:nvSpPr>
          <p:cNvPr id="21" name="text-621"/>
          <p:cNvSpPr txBox="1"/>
          <p:nvPr/>
        </p:nvSpPr>
        <p:spPr>
          <a:xfrm>
            <a:off x="7556500" y="4966295"/>
            <a:ext cx="3776345" cy="381000"/>
          </a:xfrm>
          <a:prstGeom prst="rect">
            <a:avLst/>
          </a:prstGeom>
          <a:noFill/>
          <a:ln/>
        </p:spPr>
        <p:txBody>
          <a:bodyPr wrap="square" lIns="0" tIns="0" rIns="0" bIns="0" rtlCol="0" anchor="t"/>
          <a:lstStyle/>
          <a:p>
            <a:pPr algn="l" indent="0" marL="0">
              <a:lnSpc>
                <a:spcPts val="1500"/>
              </a:lnSpc>
              <a:buNone/>
            </a:pPr>
            <a:r>
              <a:rPr lang="en-US" sz="1200" dirty="0">
                <a:solidFill>
                  <a:srgbClr val="E2AD6E"/>
                </a:solidFill>
                <a:latin typeface="Public Sans" pitchFamily="34" charset="0"/>
                <a:ea typeface="Public Sans" pitchFamily="34" charset="-122"/>
                <a:cs typeface="Public Sans" pitchFamily="34" charset="-120"/>
              </a:rPr>
              <a:t>Yoav Segalovitz, on joining (Aug 2026; outlet not recorded)</a:t>
            </a:r>
            <a:endParaRPr lang="en-US" sz="1200" dirty="0"/>
          </a:p>
        </p:txBody>
      </p:sp>
      <p:sp>
        <p:nvSpPr>
          <p:cNvPr id="22" name="text-622"/>
          <p:cNvSpPr txBox="1"/>
          <p:nvPr/>
        </p:nvSpPr>
        <p:spPr>
          <a:xfrm>
            <a:off x="812800" y="6253559"/>
            <a:ext cx="10762996" cy="19804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IDI Dec 25 2022 · ToI Dec 7 2025, Aug 31 &amp; Sep 23 2026 · JPost Aug 31 2026 · INN Jul 28 2026 · polls Sep 28–Oct 2 2026</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EFE4"/>
        </a:solidFill>
      </p:bgPr>
    </p:bg>
    <p:spTree>
      <p:nvGrpSpPr>
        <p:cNvPr id="1" name=""/>
        <p:cNvGrpSpPr/>
        <p:nvPr/>
      </p:nvGrpSpPr>
      <p:grpSpPr>
        <a:xfrm>
          <a:off x="0" y="0"/>
          <a:ext cx="0" cy="0"/>
          <a:chOff x="0" y="0"/>
          <a:chExt cx="0" cy="0"/>
        </a:xfrm>
      </p:grpSpPr>
      <p:sp>
        <p:nvSpPr>
          <p:cNvPr id="2" name="text-623"/>
          <p:cNvSpPr txBox="1"/>
          <p:nvPr/>
        </p:nvSpPr>
        <p:spPr>
          <a:xfrm>
            <a:off x="812800" y="812800"/>
            <a:ext cx="10762996"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The map by bloc</a:t>
            </a:r>
            <a:endParaRPr lang="en-US" sz="3200" dirty="0"/>
          </a:p>
        </p:txBody>
      </p:sp>
      <p:sp>
        <p:nvSpPr>
          <p:cNvPr id="3" name="shape-624"/>
          <p:cNvSpPr/>
          <p:nvPr/>
        </p:nvSpPr>
        <p:spPr>
          <a:xfrm>
            <a:off x="812800" y="1412180"/>
            <a:ext cx="10566400" cy="182860"/>
          </a:xfrm>
          <a:prstGeom prst="rect">
            <a:avLst/>
          </a:prstGeom>
          <a:solidFill>
            <a:srgbClr val="15253D"/>
          </a:solidFill>
          <a:ln/>
        </p:spPr>
      </p:sp>
      <p:sp>
        <p:nvSpPr>
          <p:cNvPr id="4" name="text-625"/>
          <p:cNvSpPr txBox="1"/>
          <p:nvPr/>
        </p:nvSpPr>
        <p:spPr>
          <a:xfrm>
            <a:off x="914400" y="1412180"/>
            <a:ext cx="3851875" cy="182860"/>
          </a:xfrm>
          <a:prstGeom prst="rect">
            <a:avLst/>
          </a:prstGeom>
          <a:noFill/>
          <a:ln/>
        </p:spPr>
        <p:txBody>
          <a:bodyPr wrap="square" lIns="0" tIns="0" rIns="0" bIns="0" rtlCol="0" anchor="t"/>
          <a:lstStyle/>
          <a:p>
            <a:pPr algn="l" indent="0" marL="0">
              <a:lnSpc>
                <a:spcPts val="1440"/>
              </a:lnSpc>
              <a:buNone/>
            </a:pPr>
            <a:r>
              <a:rPr lang="en-US" sz="1200" b="1" dirty="0">
                <a:solidFill>
                  <a:srgbClr val="F4EFE4"/>
                </a:solidFill>
                <a:latin typeface="Public Sans" pitchFamily="34" charset="0"/>
                <a:ea typeface="Public Sans" pitchFamily="34" charset="-122"/>
                <a:cs typeface="Public Sans" pitchFamily="34" charset="-120"/>
              </a:rPr>
              <a:t>Netanyahu bloc · 51–54 seats in the four latest polls</a:t>
            </a:r>
            <a:endParaRPr lang="en-US" sz="1200" dirty="0"/>
          </a:p>
        </p:txBody>
      </p:sp>
      <p:sp>
        <p:nvSpPr>
          <p:cNvPr id="5" name="rule-627"/>
          <p:cNvSpPr/>
          <p:nvPr/>
        </p:nvSpPr>
        <p:spPr>
          <a:xfrm>
            <a:off x="812800" y="1777901"/>
            <a:ext cx="10566400" cy="6350"/>
          </a:xfrm>
          <a:prstGeom prst="rect">
            <a:avLst/>
          </a:prstGeom>
          <a:solidFill>
            <a:srgbClr val="D9D1C1"/>
          </a:solidFill>
          <a:ln/>
        </p:spPr>
      </p:sp>
      <p:sp>
        <p:nvSpPr>
          <p:cNvPr id="6" name="text-628"/>
          <p:cNvSpPr txBox="1"/>
          <p:nvPr/>
        </p:nvSpPr>
        <p:spPr>
          <a:xfrm>
            <a:off x="914400" y="1595041"/>
            <a:ext cx="2306828" cy="182860"/>
          </a:xfrm>
          <a:prstGeom prst="rect">
            <a:avLst/>
          </a:prstGeom>
          <a:noFill/>
          <a:ln/>
        </p:spPr>
        <p:txBody>
          <a:bodyPr wrap="none" lIns="0" tIns="0" rIns="0" bIns="0" rtlCol="0" anchor="t"/>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Likud</a:t>
            </a:r>
            <a:endParaRPr lang="en-US" sz="1200" dirty="0"/>
          </a:p>
        </p:txBody>
      </p:sp>
      <p:sp>
        <p:nvSpPr>
          <p:cNvPr id="7" name="text-629"/>
          <p:cNvSpPr txBox="1"/>
          <p:nvPr/>
        </p:nvSpPr>
        <p:spPr>
          <a:xfrm>
            <a:off x="3251200" y="1595041"/>
            <a:ext cx="2203704"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Netanyahu</a:t>
            </a:r>
            <a:endParaRPr lang="en-US" sz="1200" dirty="0"/>
          </a:p>
        </p:txBody>
      </p:sp>
      <p:sp>
        <p:nvSpPr>
          <p:cNvPr id="8" name="shape-630"/>
          <p:cNvSpPr/>
          <p:nvPr/>
        </p:nvSpPr>
        <p:spPr>
          <a:xfrm>
            <a:off x="5486400" y="1622921"/>
            <a:ext cx="1143000" cy="127000"/>
          </a:xfrm>
          <a:prstGeom prst="rect">
            <a:avLst/>
          </a:prstGeom>
          <a:solidFill>
            <a:srgbClr val="15253D"/>
          </a:solidFill>
          <a:ln/>
        </p:spPr>
      </p:sp>
      <p:sp>
        <p:nvSpPr>
          <p:cNvPr id="9" name="text-631"/>
          <p:cNvSpPr txBox="1"/>
          <p:nvPr/>
        </p:nvSpPr>
        <p:spPr>
          <a:xfrm>
            <a:off x="6705600" y="1595041"/>
            <a:ext cx="438713"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19–21</a:t>
            </a:r>
            <a:endParaRPr lang="en-US" sz="1200" dirty="0"/>
          </a:p>
        </p:txBody>
      </p:sp>
      <p:sp>
        <p:nvSpPr>
          <p:cNvPr id="10" name="text-632"/>
          <p:cNvSpPr txBox="1"/>
          <p:nvPr/>
        </p:nvSpPr>
        <p:spPr>
          <a:xfrm>
            <a:off x="7366000" y="1595041"/>
            <a:ext cx="4008374" cy="182860"/>
          </a:xfrm>
          <a:prstGeom prst="rect">
            <a:avLst/>
          </a:prstGeom>
          <a:noFill/>
          <a:ln/>
        </p:spPr>
        <p:txBody>
          <a:bodyPr wrap="square" lIns="0" tIns="0" rIns="0" bIns="0" rtlCol="0" anchor="t"/>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Channel 14 polls: 30–32</a:t>
            </a:r>
            <a:endParaRPr lang="en-US" sz="1200" dirty="0"/>
          </a:p>
        </p:txBody>
      </p:sp>
      <p:sp>
        <p:nvSpPr>
          <p:cNvPr id="11" name="rule-634"/>
          <p:cNvSpPr/>
          <p:nvPr/>
        </p:nvSpPr>
        <p:spPr>
          <a:xfrm>
            <a:off x="812800" y="1967111"/>
            <a:ext cx="10566400" cy="6350"/>
          </a:xfrm>
          <a:prstGeom prst="rect">
            <a:avLst/>
          </a:prstGeom>
          <a:solidFill>
            <a:srgbClr val="D9D1C1"/>
          </a:solidFill>
          <a:ln/>
        </p:spPr>
      </p:sp>
      <p:sp>
        <p:nvSpPr>
          <p:cNvPr id="12" name="text-635"/>
          <p:cNvSpPr txBox="1"/>
          <p:nvPr/>
        </p:nvSpPr>
        <p:spPr>
          <a:xfrm>
            <a:off x="914400" y="1784251"/>
            <a:ext cx="2306828" cy="182860"/>
          </a:xfrm>
          <a:prstGeom prst="rect">
            <a:avLst/>
          </a:prstGeom>
          <a:noFill/>
          <a:ln/>
        </p:spPr>
        <p:txBody>
          <a:bodyPr wrap="none" lIns="0" tIns="0" rIns="0" bIns="0" rtlCol="0" anchor="t"/>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Shas</a:t>
            </a:r>
            <a:endParaRPr lang="en-US" sz="1200" dirty="0"/>
          </a:p>
        </p:txBody>
      </p:sp>
      <p:sp>
        <p:nvSpPr>
          <p:cNvPr id="13" name="text-636"/>
          <p:cNvSpPr txBox="1"/>
          <p:nvPr/>
        </p:nvSpPr>
        <p:spPr>
          <a:xfrm>
            <a:off x="3251200" y="1784251"/>
            <a:ext cx="2203704"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Deri</a:t>
            </a:r>
            <a:endParaRPr lang="en-US" sz="1200" dirty="0"/>
          </a:p>
        </p:txBody>
      </p:sp>
      <p:sp>
        <p:nvSpPr>
          <p:cNvPr id="14" name="shape-637"/>
          <p:cNvSpPr/>
          <p:nvPr/>
        </p:nvSpPr>
        <p:spPr>
          <a:xfrm>
            <a:off x="5486400" y="1812131"/>
            <a:ext cx="438150" cy="127000"/>
          </a:xfrm>
          <a:prstGeom prst="rect">
            <a:avLst/>
          </a:prstGeom>
          <a:solidFill>
            <a:srgbClr val="15253D"/>
          </a:solidFill>
          <a:ln/>
        </p:spPr>
      </p:sp>
      <p:sp>
        <p:nvSpPr>
          <p:cNvPr id="15" name="text-638"/>
          <p:cNvSpPr txBox="1"/>
          <p:nvPr/>
        </p:nvSpPr>
        <p:spPr>
          <a:xfrm>
            <a:off x="6000750" y="1784251"/>
            <a:ext cx="313534"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7–9</a:t>
            </a:r>
            <a:endParaRPr lang="en-US" sz="1200" dirty="0"/>
          </a:p>
        </p:txBody>
      </p:sp>
      <p:sp>
        <p:nvSpPr>
          <p:cNvPr id="16" name="text-639"/>
          <p:cNvSpPr txBox="1"/>
          <p:nvPr/>
        </p:nvSpPr>
        <p:spPr>
          <a:xfrm>
            <a:off x="7366000" y="1784251"/>
            <a:ext cx="4008374" cy="182860"/>
          </a:xfrm>
          <a:prstGeom prst="rect">
            <a:avLst/>
          </a:prstGeom>
          <a:noFill/>
          <a:ln/>
        </p:spPr>
        <p:txBody>
          <a:bodyPr wrap="square" lIns="0" tIns="0" rIns="0" bIns="0" rtlCol="0" anchor="t"/>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Reservist Dror Amos at no. 6</a:t>
            </a:r>
            <a:endParaRPr lang="en-US" sz="1200" dirty="0"/>
          </a:p>
        </p:txBody>
      </p:sp>
      <p:sp>
        <p:nvSpPr>
          <p:cNvPr id="17" name="rule-641"/>
          <p:cNvSpPr/>
          <p:nvPr/>
        </p:nvSpPr>
        <p:spPr>
          <a:xfrm>
            <a:off x="812800" y="2156321"/>
            <a:ext cx="10566400" cy="6350"/>
          </a:xfrm>
          <a:prstGeom prst="rect">
            <a:avLst/>
          </a:prstGeom>
          <a:solidFill>
            <a:srgbClr val="D9D1C1"/>
          </a:solidFill>
          <a:ln/>
        </p:spPr>
      </p:sp>
      <p:sp>
        <p:nvSpPr>
          <p:cNvPr id="18" name="text-642"/>
          <p:cNvSpPr txBox="1"/>
          <p:nvPr/>
        </p:nvSpPr>
        <p:spPr>
          <a:xfrm>
            <a:off x="914400" y="1973461"/>
            <a:ext cx="2306828" cy="182860"/>
          </a:xfrm>
          <a:prstGeom prst="rect">
            <a:avLst/>
          </a:prstGeom>
          <a:noFill/>
          <a:ln/>
        </p:spPr>
        <p:txBody>
          <a:bodyPr wrap="none" lIns="0" tIns="0" rIns="0" bIns="0" rtlCol="0" anchor="t"/>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United Torah Judaism</a:t>
            </a:r>
            <a:endParaRPr lang="en-US" sz="1200" dirty="0"/>
          </a:p>
        </p:txBody>
      </p:sp>
      <p:sp>
        <p:nvSpPr>
          <p:cNvPr id="19" name="text-643"/>
          <p:cNvSpPr txBox="1"/>
          <p:nvPr/>
        </p:nvSpPr>
        <p:spPr>
          <a:xfrm>
            <a:off x="3251200" y="1973461"/>
            <a:ext cx="2203704"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Asher; Goldknopf no. 2</a:t>
            </a:r>
            <a:endParaRPr lang="en-US" sz="1200" dirty="0"/>
          </a:p>
        </p:txBody>
      </p:sp>
      <p:sp>
        <p:nvSpPr>
          <p:cNvPr id="20" name="shape-644"/>
          <p:cNvSpPr/>
          <p:nvPr/>
        </p:nvSpPr>
        <p:spPr>
          <a:xfrm>
            <a:off x="5486400" y="2001341"/>
            <a:ext cx="438150" cy="127000"/>
          </a:xfrm>
          <a:prstGeom prst="rect">
            <a:avLst/>
          </a:prstGeom>
          <a:solidFill>
            <a:srgbClr val="15253D"/>
          </a:solidFill>
          <a:ln/>
        </p:spPr>
      </p:sp>
      <p:sp>
        <p:nvSpPr>
          <p:cNvPr id="21" name="text-645"/>
          <p:cNvSpPr txBox="1"/>
          <p:nvPr/>
        </p:nvSpPr>
        <p:spPr>
          <a:xfrm>
            <a:off x="6000750" y="1973461"/>
            <a:ext cx="317058"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7–8</a:t>
            </a:r>
            <a:endParaRPr lang="en-US" sz="1200" dirty="0"/>
          </a:p>
        </p:txBody>
      </p:sp>
      <p:sp>
        <p:nvSpPr>
          <p:cNvPr id="22" name="text-646"/>
          <p:cNvSpPr txBox="1"/>
          <p:nvPr/>
        </p:nvSpPr>
        <p:spPr>
          <a:xfrm>
            <a:off x="7366000" y="1973461"/>
            <a:ext cx="4008374" cy="182860"/>
          </a:xfrm>
          <a:prstGeom prst="rect">
            <a:avLst/>
          </a:prstGeom>
          <a:noFill/>
          <a:ln/>
        </p:spPr>
        <p:txBody>
          <a:bodyPr wrap="square" lIns="0" tIns="0" rIns="0" bIns="0" rtlCol="0" anchor="t"/>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Not split; Porush's new faction at no. 4</a:t>
            </a:r>
            <a:endParaRPr lang="en-US" sz="1200" dirty="0"/>
          </a:p>
        </p:txBody>
      </p:sp>
      <p:sp>
        <p:nvSpPr>
          <p:cNvPr id="23" name="rule-648"/>
          <p:cNvSpPr/>
          <p:nvPr/>
        </p:nvSpPr>
        <p:spPr>
          <a:xfrm>
            <a:off x="812800" y="2345531"/>
            <a:ext cx="10566400" cy="6350"/>
          </a:xfrm>
          <a:prstGeom prst="rect">
            <a:avLst/>
          </a:prstGeom>
          <a:solidFill>
            <a:srgbClr val="D9D1C1"/>
          </a:solidFill>
          <a:ln/>
        </p:spPr>
      </p:sp>
      <p:sp>
        <p:nvSpPr>
          <p:cNvPr id="24" name="text-649"/>
          <p:cNvSpPr txBox="1"/>
          <p:nvPr/>
        </p:nvSpPr>
        <p:spPr>
          <a:xfrm>
            <a:off x="914400" y="2162671"/>
            <a:ext cx="2306828" cy="182860"/>
          </a:xfrm>
          <a:prstGeom prst="rect">
            <a:avLst/>
          </a:prstGeom>
          <a:noFill/>
          <a:ln/>
        </p:spPr>
        <p:txBody>
          <a:bodyPr wrap="none" lIns="0" tIns="0" rIns="0" bIns="0" rtlCol="0" anchor="t"/>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Religious Zionism–Zehut</a:t>
            </a:r>
            <a:endParaRPr lang="en-US" sz="1200" dirty="0"/>
          </a:p>
        </p:txBody>
      </p:sp>
      <p:sp>
        <p:nvSpPr>
          <p:cNvPr id="25" name="text-650"/>
          <p:cNvSpPr txBox="1"/>
          <p:nvPr/>
        </p:nvSpPr>
        <p:spPr>
          <a:xfrm>
            <a:off x="3251200" y="2162671"/>
            <a:ext cx="2203704"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Smotrich, with Feiglin</a:t>
            </a:r>
            <a:endParaRPr lang="en-US" sz="1200" dirty="0"/>
          </a:p>
        </p:txBody>
      </p:sp>
      <p:sp>
        <p:nvSpPr>
          <p:cNvPr id="26" name="shape-651"/>
          <p:cNvSpPr/>
          <p:nvPr/>
        </p:nvSpPr>
        <p:spPr>
          <a:xfrm>
            <a:off x="5486400" y="2190552"/>
            <a:ext cx="330200" cy="127000"/>
          </a:xfrm>
          <a:prstGeom prst="rect">
            <a:avLst/>
          </a:prstGeom>
          <a:solidFill>
            <a:srgbClr val="15253D"/>
          </a:solidFill>
          <a:ln/>
        </p:spPr>
      </p:sp>
      <p:sp>
        <p:nvSpPr>
          <p:cNvPr id="27" name="text-652"/>
          <p:cNvSpPr txBox="1"/>
          <p:nvPr/>
        </p:nvSpPr>
        <p:spPr>
          <a:xfrm>
            <a:off x="5892800" y="2162671"/>
            <a:ext cx="298025"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5–7</a:t>
            </a:r>
            <a:endParaRPr lang="en-US" sz="1200" dirty="0"/>
          </a:p>
        </p:txBody>
      </p:sp>
      <p:sp>
        <p:nvSpPr>
          <p:cNvPr id="28" name="text-653"/>
          <p:cNvSpPr txBox="1"/>
          <p:nvPr/>
        </p:nvSpPr>
        <p:spPr>
          <a:xfrm>
            <a:off x="7366000" y="2162671"/>
            <a:ext cx="4008374" cy="182860"/>
          </a:xfrm>
          <a:prstGeom prst="rect">
            <a:avLst/>
          </a:prstGeom>
          <a:noFill/>
          <a:ln/>
        </p:spPr>
        <p:txBody>
          <a:bodyPr wrap="square" lIns="0" tIns="0" rIns="0" bIns="0" rtlCol="0" anchor="t"/>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Two parties on one list</a:t>
            </a:r>
            <a:endParaRPr lang="en-US" sz="1200" dirty="0"/>
          </a:p>
        </p:txBody>
      </p:sp>
      <p:sp>
        <p:nvSpPr>
          <p:cNvPr id="29" name="rule-655"/>
          <p:cNvSpPr/>
          <p:nvPr/>
        </p:nvSpPr>
        <p:spPr>
          <a:xfrm>
            <a:off x="812800" y="2717602"/>
            <a:ext cx="10566400" cy="6350"/>
          </a:xfrm>
          <a:prstGeom prst="rect">
            <a:avLst/>
          </a:prstGeom>
          <a:solidFill>
            <a:srgbClr val="D9D1C1"/>
          </a:solidFill>
          <a:ln/>
        </p:spPr>
      </p:sp>
      <p:sp>
        <p:nvSpPr>
          <p:cNvPr id="30" name="text-656"/>
          <p:cNvSpPr txBox="1"/>
          <p:nvPr/>
        </p:nvSpPr>
        <p:spPr>
          <a:xfrm>
            <a:off x="914400" y="2443262"/>
            <a:ext cx="2306828" cy="182860"/>
          </a:xfrm>
          <a:prstGeom prst="rect">
            <a:avLst/>
          </a:prstGeom>
          <a:noFill/>
          <a:ln/>
        </p:spPr>
        <p:txBody>
          <a:bodyPr wrap="none" lIns="0" tIns="0" rIns="0" bIns="0" rtlCol="0" anchor="t"/>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Otzma Yehudit</a:t>
            </a:r>
            <a:endParaRPr lang="en-US" sz="1200" dirty="0"/>
          </a:p>
        </p:txBody>
      </p:sp>
      <p:sp>
        <p:nvSpPr>
          <p:cNvPr id="31" name="text-657"/>
          <p:cNvSpPr txBox="1"/>
          <p:nvPr/>
        </p:nvSpPr>
        <p:spPr>
          <a:xfrm>
            <a:off x="3251200" y="2443262"/>
            <a:ext cx="2203704"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Ben-Gvir</a:t>
            </a:r>
            <a:endParaRPr lang="en-US" sz="1200" dirty="0"/>
          </a:p>
        </p:txBody>
      </p:sp>
      <p:sp>
        <p:nvSpPr>
          <p:cNvPr id="32" name="shape-658"/>
          <p:cNvSpPr/>
          <p:nvPr/>
        </p:nvSpPr>
        <p:spPr>
          <a:xfrm>
            <a:off x="5486400" y="2471142"/>
            <a:ext cx="431800" cy="127000"/>
          </a:xfrm>
          <a:prstGeom prst="rect">
            <a:avLst/>
          </a:prstGeom>
          <a:solidFill>
            <a:srgbClr val="15253D"/>
          </a:solidFill>
          <a:ln/>
        </p:spPr>
      </p:sp>
      <p:sp>
        <p:nvSpPr>
          <p:cNvPr id="33" name="text-659"/>
          <p:cNvSpPr txBox="1"/>
          <p:nvPr/>
        </p:nvSpPr>
        <p:spPr>
          <a:xfrm>
            <a:off x="5994400" y="2443262"/>
            <a:ext cx="316857"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6–9</a:t>
            </a:r>
            <a:endParaRPr lang="en-US" sz="1200" dirty="0"/>
          </a:p>
        </p:txBody>
      </p:sp>
      <p:sp>
        <p:nvSpPr>
          <p:cNvPr id="34" name="text-660"/>
          <p:cNvSpPr txBox="1"/>
          <p:nvPr/>
        </p:nvSpPr>
        <p:spPr>
          <a:xfrm>
            <a:off x="7366000" y="2351881"/>
            <a:ext cx="4008374" cy="365720"/>
          </a:xfrm>
          <a:prstGeom prst="rect">
            <a:avLst/>
          </a:prstGeom>
          <a:noFill/>
          <a:ln/>
        </p:spPr>
        <p:txBody>
          <a:bodyPr wrap="square" lIns="0" tIns="0" rIns="0" bIns="0" rtlCol="0" anchor="t"/>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“Ideological heir to Kahane’s Kach” (Israel Policy Forum’s description)</a:t>
            </a:r>
            <a:endParaRPr lang="en-US" sz="1200" dirty="0"/>
          </a:p>
        </p:txBody>
      </p:sp>
      <p:sp>
        <p:nvSpPr>
          <p:cNvPr id="35" name="rule-662"/>
          <p:cNvSpPr/>
          <p:nvPr/>
        </p:nvSpPr>
        <p:spPr>
          <a:xfrm>
            <a:off x="812800" y="2906812"/>
            <a:ext cx="10566400" cy="6350"/>
          </a:xfrm>
          <a:prstGeom prst="rect">
            <a:avLst/>
          </a:prstGeom>
          <a:solidFill>
            <a:srgbClr val="D9D1C1"/>
          </a:solidFill>
          <a:ln/>
        </p:spPr>
      </p:sp>
      <p:sp>
        <p:nvSpPr>
          <p:cNvPr id="36" name="text-663"/>
          <p:cNvSpPr txBox="1"/>
          <p:nvPr/>
        </p:nvSpPr>
        <p:spPr>
          <a:xfrm>
            <a:off x="914400" y="2723952"/>
            <a:ext cx="2306828" cy="182860"/>
          </a:xfrm>
          <a:prstGeom prst="rect">
            <a:avLst/>
          </a:prstGeom>
          <a:noFill/>
          <a:ln/>
        </p:spPr>
        <p:txBody>
          <a:bodyPr wrap="none" lIns="0" tIns="0" rIns="0" bIns="0" rtlCol="0" anchor="t"/>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People of Israel</a:t>
            </a:r>
            <a:endParaRPr lang="en-US" sz="1200" dirty="0"/>
          </a:p>
        </p:txBody>
      </p:sp>
      <p:sp>
        <p:nvSpPr>
          <p:cNvPr id="37" name="text-664"/>
          <p:cNvSpPr txBox="1"/>
          <p:nvPr/>
        </p:nvSpPr>
        <p:spPr>
          <a:xfrm>
            <a:off x="3251200" y="2723952"/>
            <a:ext cx="2203704"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Winter</a:t>
            </a:r>
            <a:endParaRPr lang="en-US" sz="1200" dirty="0"/>
          </a:p>
        </p:txBody>
      </p:sp>
      <p:sp>
        <p:nvSpPr>
          <p:cNvPr id="38" name="shape-665"/>
          <p:cNvSpPr/>
          <p:nvPr/>
        </p:nvSpPr>
        <p:spPr>
          <a:xfrm>
            <a:off x="5486400" y="2751832"/>
            <a:ext cx="241300" cy="127000"/>
          </a:xfrm>
          <a:prstGeom prst="rect">
            <a:avLst/>
          </a:prstGeom>
          <a:solidFill>
            <a:srgbClr val="15253D"/>
          </a:solidFill>
          <a:ln/>
        </p:spPr>
      </p:sp>
      <p:sp>
        <p:nvSpPr>
          <p:cNvPr id="39" name="text-666"/>
          <p:cNvSpPr txBox="1"/>
          <p:nvPr/>
        </p:nvSpPr>
        <p:spPr>
          <a:xfrm>
            <a:off x="5803900" y="2723952"/>
            <a:ext cx="320281"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4–5</a:t>
            </a:r>
            <a:endParaRPr lang="en-US" sz="1200" dirty="0"/>
          </a:p>
        </p:txBody>
      </p:sp>
      <p:sp>
        <p:nvSpPr>
          <p:cNvPr id="40" name="text-667"/>
          <p:cNvSpPr txBox="1"/>
          <p:nvPr/>
        </p:nvSpPr>
        <p:spPr>
          <a:xfrm>
            <a:off x="7366000" y="2723952"/>
            <a:ext cx="4008374" cy="182860"/>
          </a:xfrm>
          <a:prstGeom prst="rect">
            <a:avLst/>
          </a:prstGeom>
          <a:noFill/>
          <a:ln/>
        </p:spPr>
        <p:txBody>
          <a:bodyPr wrap="square" lIns="0" tIns="0" rIns="0" bIns="0" rtlCol="0" anchor="t"/>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Haredi enlistment “without compromise”</a:t>
            </a:r>
            <a:endParaRPr lang="en-US" sz="1200" dirty="0"/>
          </a:p>
        </p:txBody>
      </p:sp>
      <p:sp>
        <p:nvSpPr>
          <p:cNvPr id="41" name="rule-669"/>
          <p:cNvSpPr/>
          <p:nvPr/>
        </p:nvSpPr>
        <p:spPr>
          <a:xfrm>
            <a:off x="812800" y="3096022"/>
            <a:ext cx="10566400" cy="6350"/>
          </a:xfrm>
          <a:prstGeom prst="rect">
            <a:avLst/>
          </a:prstGeom>
          <a:solidFill>
            <a:srgbClr val="D9D1C1"/>
          </a:solidFill>
          <a:ln/>
        </p:spPr>
      </p:sp>
      <p:sp>
        <p:nvSpPr>
          <p:cNvPr id="42" name="text-670"/>
          <p:cNvSpPr txBox="1"/>
          <p:nvPr/>
        </p:nvSpPr>
        <p:spPr>
          <a:xfrm>
            <a:off x="914400" y="2913162"/>
            <a:ext cx="2306828" cy="182860"/>
          </a:xfrm>
          <a:prstGeom prst="rect">
            <a:avLst/>
          </a:prstGeom>
          <a:noFill/>
          <a:ln/>
        </p:spPr>
        <p:txBody>
          <a:bodyPr wrap="none" lIns="0" tIns="0" rIns="0" bIns="0" rtlCol="0" anchor="t"/>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Noam</a:t>
            </a:r>
            <a:endParaRPr lang="en-US" sz="1200" dirty="0"/>
          </a:p>
        </p:txBody>
      </p:sp>
      <p:sp>
        <p:nvSpPr>
          <p:cNvPr id="43" name="text-671"/>
          <p:cNvSpPr txBox="1"/>
          <p:nvPr/>
        </p:nvSpPr>
        <p:spPr>
          <a:xfrm>
            <a:off x="3251200" y="2913162"/>
            <a:ext cx="2203704"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Maoz</a:t>
            </a:r>
            <a:endParaRPr lang="en-US" sz="1200" dirty="0"/>
          </a:p>
        </p:txBody>
      </p:sp>
      <p:sp>
        <p:nvSpPr>
          <p:cNvPr id="44" name="text-672"/>
          <p:cNvSpPr txBox="1"/>
          <p:nvPr/>
        </p:nvSpPr>
        <p:spPr>
          <a:xfrm>
            <a:off x="5486400" y="2913162"/>
            <a:ext cx="1055241" cy="182860"/>
          </a:xfrm>
          <a:prstGeom prst="rect">
            <a:avLst/>
          </a:prstGeom>
          <a:noFill/>
          <a:ln/>
        </p:spPr>
        <p:txBody>
          <a:bodyPr wrap="none" lIns="0" tIns="0" rIns="0" bIns="0" rtlCol="0" anchor="t"/>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no polls found</a:t>
            </a:r>
            <a:endParaRPr lang="en-US" sz="1200" dirty="0"/>
          </a:p>
        </p:txBody>
      </p:sp>
      <p:sp>
        <p:nvSpPr>
          <p:cNvPr id="45" name="text-673"/>
          <p:cNvSpPr txBox="1"/>
          <p:nvPr/>
        </p:nvSpPr>
        <p:spPr>
          <a:xfrm>
            <a:off x="7366000" y="2913162"/>
            <a:ext cx="4008374" cy="182860"/>
          </a:xfrm>
          <a:prstGeom prst="rect">
            <a:avLst/>
          </a:prstGeom>
          <a:noFill/>
          <a:ln/>
        </p:spPr>
        <p:txBody>
          <a:bodyPr wrap="square" lIns="0" tIns="0" rIns="0" bIns="0" rtlCol="0" anchor="t"/>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Running alone</a:t>
            </a:r>
            <a:endParaRPr lang="en-US" sz="1200" dirty="0"/>
          </a:p>
        </p:txBody>
      </p:sp>
      <p:sp>
        <p:nvSpPr>
          <p:cNvPr id="46" name="shape-674"/>
          <p:cNvSpPr/>
          <p:nvPr/>
        </p:nvSpPr>
        <p:spPr>
          <a:xfrm>
            <a:off x="812800" y="3102372"/>
            <a:ext cx="10566400" cy="182860"/>
          </a:xfrm>
          <a:prstGeom prst="rect">
            <a:avLst/>
          </a:prstGeom>
          <a:solidFill>
            <a:srgbClr val="D0904A"/>
          </a:solidFill>
          <a:ln/>
        </p:spPr>
      </p:sp>
      <p:sp>
        <p:nvSpPr>
          <p:cNvPr id="47" name="text-675"/>
          <p:cNvSpPr txBox="1"/>
          <p:nvPr/>
        </p:nvSpPr>
        <p:spPr>
          <a:xfrm>
            <a:off x="914400" y="3102372"/>
            <a:ext cx="2405219" cy="182860"/>
          </a:xfrm>
          <a:prstGeom prst="rect">
            <a:avLst/>
          </a:prstGeom>
          <a:noFill/>
          <a:ln/>
        </p:spPr>
        <p:txBody>
          <a:bodyPr wrap="square" lIns="0" tIns="0" rIns="0" bIns="0" rtlCol="0" anchor="t"/>
          <a:lstStyle/>
          <a:p>
            <a:pPr algn="l" indent="0" marL="0">
              <a:lnSpc>
                <a:spcPts val="1440"/>
              </a:lnSpc>
              <a:buNone/>
            </a:pPr>
            <a:r>
              <a:rPr lang="en-US" sz="1200" b="1" dirty="0">
                <a:solidFill>
                  <a:srgbClr val="15253D"/>
                </a:solidFill>
                <a:latin typeface="Public Sans" pitchFamily="34" charset="0"/>
                <a:ea typeface="Public Sans" pitchFamily="34" charset="-122"/>
                <a:cs typeface="Public Sans" pitchFamily="34" charset="-120"/>
              </a:rPr>
              <a:t>Zionist opposition · 49–53 seats</a:t>
            </a:r>
            <a:endParaRPr lang="en-US" sz="1200" dirty="0"/>
          </a:p>
        </p:txBody>
      </p:sp>
      <p:sp>
        <p:nvSpPr>
          <p:cNvPr id="48" name="rule-677"/>
          <p:cNvSpPr/>
          <p:nvPr/>
        </p:nvSpPr>
        <p:spPr>
          <a:xfrm>
            <a:off x="812800" y="3468092"/>
            <a:ext cx="10566400" cy="6350"/>
          </a:xfrm>
          <a:prstGeom prst="rect">
            <a:avLst/>
          </a:prstGeom>
          <a:solidFill>
            <a:srgbClr val="D9D1C1"/>
          </a:solidFill>
          <a:ln/>
        </p:spPr>
      </p:sp>
      <p:sp>
        <p:nvSpPr>
          <p:cNvPr id="49" name="text-678"/>
          <p:cNvSpPr txBox="1"/>
          <p:nvPr/>
        </p:nvSpPr>
        <p:spPr>
          <a:xfrm>
            <a:off x="914400" y="3285232"/>
            <a:ext cx="2306828" cy="182860"/>
          </a:xfrm>
          <a:prstGeom prst="rect">
            <a:avLst/>
          </a:prstGeom>
          <a:noFill/>
          <a:ln/>
        </p:spPr>
        <p:txBody>
          <a:bodyPr wrap="none" lIns="0" tIns="0" rIns="0" bIns="0" rtlCol="0" anchor="t"/>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Yashar!</a:t>
            </a:r>
            <a:endParaRPr lang="en-US" sz="1200" dirty="0"/>
          </a:p>
        </p:txBody>
      </p:sp>
      <p:sp>
        <p:nvSpPr>
          <p:cNvPr id="50" name="text-679"/>
          <p:cNvSpPr txBox="1"/>
          <p:nvPr/>
        </p:nvSpPr>
        <p:spPr>
          <a:xfrm>
            <a:off x="3251200" y="3285232"/>
            <a:ext cx="2203704"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Eisenkot</a:t>
            </a:r>
            <a:endParaRPr lang="en-US" sz="1200" dirty="0"/>
          </a:p>
        </p:txBody>
      </p:sp>
      <p:sp>
        <p:nvSpPr>
          <p:cNvPr id="51" name="shape-680"/>
          <p:cNvSpPr/>
          <p:nvPr/>
        </p:nvSpPr>
        <p:spPr>
          <a:xfrm>
            <a:off x="5486400" y="3313113"/>
            <a:ext cx="1231900" cy="127000"/>
          </a:xfrm>
          <a:prstGeom prst="rect">
            <a:avLst/>
          </a:prstGeom>
          <a:solidFill>
            <a:srgbClr val="D0904A"/>
          </a:solidFill>
          <a:ln/>
        </p:spPr>
      </p:sp>
      <p:sp>
        <p:nvSpPr>
          <p:cNvPr id="52" name="text-681"/>
          <p:cNvSpPr txBox="1"/>
          <p:nvPr/>
        </p:nvSpPr>
        <p:spPr>
          <a:xfrm>
            <a:off x="6794500" y="3285232"/>
            <a:ext cx="468824"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21–23</a:t>
            </a:r>
            <a:endParaRPr lang="en-US" sz="1200" dirty="0"/>
          </a:p>
        </p:txBody>
      </p:sp>
      <p:sp>
        <p:nvSpPr>
          <p:cNvPr id="53" name="text-682"/>
          <p:cNvSpPr txBox="1"/>
          <p:nvPr/>
        </p:nvSpPr>
        <p:spPr>
          <a:xfrm>
            <a:off x="7366000" y="3285232"/>
            <a:ext cx="4008374" cy="182860"/>
          </a:xfrm>
          <a:prstGeom prst="rect">
            <a:avLst/>
          </a:prstGeom>
          <a:noFill/>
          <a:ln/>
        </p:spPr>
        <p:txBody>
          <a:bodyPr wrap="square" lIns="0" tIns="0" rIns="0" bIns="0" rtlCol="0" anchor="t"/>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Pledges a state commission of inquiry</a:t>
            </a:r>
            <a:endParaRPr lang="en-US" sz="1200" dirty="0"/>
          </a:p>
        </p:txBody>
      </p:sp>
      <p:sp>
        <p:nvSpPr>
          <p:cNvPr id="54" name="rule-684"/>
          <p:cNvSpPr/>
          <p:nvPr/>
        </p:nvSpPr>
        <p:spPr>
          <a:xfrm>
            <a:off x="812800" y="3657302"/>
            <a:ext cx="10566400" cy="6350"/>
          </a:xfrm>
          <a:prstGeom prst="rect">
            <a:avLst/>
          </a:prstGeom>
          <a:solidFill>
            <a:srgbClr val="D9D1C1"/>
          </a:solidFill>
          <a:ln/>
        </p:spPr>
      </p:sp>
      <p:sp>
        <p:nvSpPr>
          <p:cNvPr id="55" name="text-685"/>
          <p:cNvSpPr txBox="1"/>
          <p:nvPr/>
        </p:nvSpPr>
        <p:spPr>
          <a:xfrm>
            <a:off x="914400" y="3474442"/>
            <a:ext cx="2306828" cy="182860"/>
          </a:xfrm>
          <a:prstGeom prst="rect">
            <a:avLst/>
          </a:prstGeom>
          <a:noFill/>
          <a:ln/>
        </p:spPr>
        <p:txBody>
          <a:bodyPr wrap="none" lIns="0" tIns="0" rIns="0" bIns="0" rtlCol="0" anchor="t"/>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B'Yachad</a:t>
            </a:r>
            <a:endParaRPr lang="en-US" sz="1200" dirty="0"/>
          </a:p>
        </p:txBody>
      </p:sp>
      <p:sp>
        <p:nvSpPr>
          <p:cNvPr id="56" name="text-686"/>
          <p:cNvSpPr txBox="1"/>
          <p:nvPr/>
        </p:nvSpPr>
        <p:spPr>
          <a:xfrm>
            <a:off x="3251200" y="3474442"/>
            <a:ext cx="2203704"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Bennett; Lapid no. 2</a:t>
            </a:r>
            <a:endParaRPr lang="en-US" sz="1200" dirty="0"/>
          </a:p>
        </p:txBody>
      </p:sp>
      <p:sp>
        <p:nvSpPr>
          <p:cNvPr id="57" name="shape-687"/>
          <p:cNvSpPr/>
          <p:nvPr/>
        </p:nvSpPr>
        <p:spPr>
          <a:xfrm>
            <a:off x="5486400" y="3502323"/>
            <a:ext cx="641350" cy="127000"/>
          </a:xfrm>
          <a:prstGeom prst="rect">
            <a:avLst/>
          </a:prstGeom>
          <a:solidFill>
            <a:srgbClr val="D0904A"/>
          </a:solidFill>
          <a:ln/>
        </p:spPr>
      </p:sp>
      <p:sp>
        <p:nvSpPr>
          <p:cNvPr id="58" name="text-688"/>
          <p:cNvSpPr txBox="1"/>
          <p:nvPr/>
        </p:nvSpPr>
        <p:spPr>
          <a:xfrm>
            <a:off x="6203950" y="3474442"/>
            <a:ext cx="430354"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10–13</a:t>
            </a:r>
            <a:endParaRPr lang="en-US" sz="1200" dirty="0"/>
          </a:p>
        </p:txBody>
      </p:sp>
      <p:sp>
        <p:nvSpPr>
          <p:cNvPr id="59" name="text-689"/>
          <p:cNvSpPr txBox="1"/>
          <p:nvPr/>
        </p:nvSpPr>
        <p:spPr>
          <a:xfrm>
            <a:off x="7366000" y="3474442"/>
            <a:ext cx="4008374" cy="182860"/>
          </a:xfrm>
          <a:prstGeom prst="rect">
            <a:avLst/>
          </a:prstGeom>
          <a:noFill/>
          <a:ln/>
        </p:spPr>
        <p:txBody>
          <a:bodyPr wrap="square" lIns="0" tIns="0" rIns="0" bIns="0" rtlCol="0" anchor="t"/>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Yesh Atid runs inside this list</a:t>
            </a:r>
            <a:endParaRPr lang="en-US" sz="1200" dirty="0"/>
          </a:p>
        </p:txBody>
      </p:sp>
      <p:sp>
        <p:nvSpPr>
          <p:cNvPr id="60" name="rule-691"/>
          <p:cNvSpPr/>
          <p:nvPr/>
        </p:nvSpPr>
        <p:spPr>
          <a:xfrm>
            <a:off x="812800" y="3846513"/>
            <a:ext cx="10566400" cy="6350"/>
          </a:xfrm>
          <a:prstGeom prst="rect">
            <a:avLst/>
          </a:prstGeom>
          <a:solidFill>
            <a:srgbClr val="D9D1C1"/>
          </a:solidFill>
          <a:ln/>
        </p:spPr>
      </p:sp>
      <p:sp>
        <p:nvSpPr>
          <p:cNvPr id="61" name="text-692"/>
          <p:cNvSpPr txBox="1"/>
          <p:nvPr/>
        </p:nvSpPr>
        <p:spPr>
          <a:xfrm>
            <a:off x="914400" y="3663652"/>
            <a:ext cx="2306828" cy="182860"/>
          </a:xfrm>
          <a:prstGeom prst="rect">
            <a:avLst/>
          </a:prstGeom>
          <a:noFill/>
          <a:ln/>
        </p:spPr>
        <p:txBody>
          <a:bodyPr wrap="none" lIns="0" tIns="0" rIns="0" bIns="0" rtlCol="0" anchor="t"/>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The Democrats</a:t>
            </a:r>
            <a:endParaRPr lang="en-US" sz="1200" dirty="0"/>
          </a:p>
        </p:txBody>
      </p:sp>
      <p:sp>
        <p:nvSpPr>
          <p:cNvPr id="62" name="text-693"/>
          <p:cNvSpPr txBox="1"/>
          <p:nvPr/>
        </p:nvSpPr>
        <p:spPr>
          <a:xfrm>
            <a:off x="3251200" y="3663652"/>
            <a:ext cx="2203704"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Golan</a:t>
            </a:r>
            <a:endParaRPr lang="en-US" sz="1200" dirty="0"/>
          </a:p>
        </p:txBody>
      </p:sp>
      <p:sp>
        <p:nvSpPr>
          <p:cNvPr id="63" name="shape-694"/>
          <p:cNvSpPr/>
          <p:nvPr/>
        </p:nvSpPr>
        <p:spPr>
          <a:xfrm>
            <a:off x="5486400" y="3691533"/>
            <a:ext cx="546100" cy="127000"/>
          </a:xfrm>
          <a:prstGeom prst="rect">
            <a:avLst/>
          </a:prstGeom>
          <a:solidFill>
            <a:srgbClr val="D0904A"/>
          </a:solidFill>
          <a:ln/>
        </p:spPr>
      </p:sp>
      <p:sp>
        <p:nvSpPr>
          <p:cNvPr id="64" name="text-695"/>
          <p:cNvSpPr txBox="1"/>
          <p:nvPr/>
        </p:nvSpPr>
        <p:spPr>
          <a:xfrm>
            <a:off x="6108700" y="3663652"/>
            <a:ext cx="338408"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8–11</a:t>
            </a:r>
            <a:endParaRPr lang="en-US" sz="1200" dirty="0"/>
          </a:p>
        </p:txBody>
      </p:sp>
      <p:sp>
        <p:nvSpPr>
          <p:cNvPr id="65" name="text-696"/>
          <p:cNvSpPr txBox="1"/>
          <p:nvPr/>
        </p:nvSpPr>
        <p:spPr>
          <a:xfrm>
            <a:off x="7366000" y="3663652"/>
            <a:ext cx="4008374" cy="182860"/>
          </a:xfrm>
          <a:prstGeom prst="rect">
            <a:avLst/>
          </a:prstGeom>
          <a:noFill/>
          <a:ln/>
        </p:spPr>
        <p:txBody>
          <a:bodyPr wrap="square" lIns="0" tIns="0" rIns="0" bIns="0" rtlCol="0" anchor="t"/>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Labor and Meretz; two states</a:t>
            </a:r>
            <a:endParaRPr lang="en-US" sz="1200" dirty="0"/>
          </a:p>
        </p:txBody>
      </p:sp>
      <p:sp>
        <p:nvSpPr>
          <p:cNvPr id="66" name="rule-698"/>
          <p:cNvSpPr/>
          <p:nvPr/>
        </p:nvSpPr>
        <p:spPr>
          <a:xfrm>
            <a:off x="812800" y="4035723"/>
            <a:ext cx="10566400" cy="6350"/>
          </a:xfrm>
          <a:prstGeom prst="rect">
            <a:avLst/>
          </a:prstGeom>
          <a:solidFill>
            <a:srgbClr val="D9D1C1"/>
          </a:solidFill>
          <a:ln/>
        </p:spPr>
      </p:sp>
      <p:sp>
        <p:nvSpPr>
          <p:cNvPr id="67" name="text-699"/>
          <p:cNvSpPr txBox="1"/>
          <p:nvPr/>
        </p:nvSpPr>
        <p:spPr>
          <a:xfrm>
            <a:off x="914400" y="3852863"/>
            <a:ext cx="2306828" cy="182860"/>
          </a:xfrm>
          <a:prstGeom prst="rect">
            <a:avLst/>
          </a:prstGeom>
          <a:noFill/>
          <a:ln/>
        </p:spPr>
        <p:txBody>
          <a:bodyPr wrap="none" lIns="0" tIns="0" rIns="0" bIns="0" rtlCol="0" anchor="t"/>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Yisrael Beiteinu</a:t>
            </a:r>
            <a:endParaRPr lang="en-US" sz="1200" dirty="0"/>
          </a:p>
        </p:txBody>
      </p:sp>
      <p:sp>
        <p:nvSpPr>
          <p:cNvPr id="68" name="text-700"/>
          <p:cNvSpPr txBox="1"/>
          <p:nvPr/>
        </p:nvSpPr>
        <p:spPr>
          <a:xfrm>
            <a:off x="3251200" y="3852863"/>
            <a:ext cx="2203704"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Lieberman</a:t>
            </a:r>
            <a:endParaRPr lang="en-US" sz="1200" dirty="0"/>
          </a:p>
        </p:txBody>
      </p:sp>
      <p:sp>
        <p:nvSpPr>
          <p:cNvPr id="69" name="shape-701"/>
          <p:cNvSpPr/>
          <p:nvPr/>
        </p:nvSpPr>
        <p:spPr>
          <a:xfrm>
            <a:off x="5486400" y="3880743"/>
            <a:ext cx="527050" cy="127000"/>
          </a:xfrm>
          <a:prstGeom prst="rect">
            <a:avLst/>
          </a:prstGeom>
          <a:solidFill>
            <a:srgbClr val="D0904A"/>
          </a:solidFill>
          <a:ln/>
        </p:spPr>
      </p:sp>
      <p:sp>
        <p:nvSpPr>
          <p:cNvPr id="70" name="text-702"/>
          <p:cNvSpPr txBox="1"/>
          <p:nvPr/>
        </p:nvSpPr>
        <p:spPr>
          <a:xfrm>
            <a:off x="6089650" y="3852863"/>
            <a:ext cx="366506"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9–10</a:t>
            </a:r>
            <a:endParaRPr lang="en-US" sz="1200" dirty="0"/>
          </a:p>
        </p:txBody>
      </p:sp>
      <p:sp>
        <p:nvSpPr>
          <p:cNvPr id="71" name="text-703"/>
          <p:cNvSpPr txBox="1"/>
          <p:nvPr/>
        </p:nvSpPr>
        <p:spPr>
          <a:xfrm>
            <a:off x="7366000" y="3852863"/>
            <a:ext cx="4008374" cy="182860"/>
          </a:xfrm>
          <a:prstGeom prst="rect">
            <a:avLst/>
          </a:prstGeom>
          <a:noFill/>
          <a:ln/>
        </p:spPr>
        <p:txBody>
          <a:bodyPr wrap="square" lIns="0" tIns="0" rIns="0" bIns="0" rtlCol="0" anchor="t"/>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Secular; the Haredi draft is its signature issue</a:t>
            </a:r>
            <a:endParaRPr lang="en-US" sz="1200" dirty="0"/>
          </a:p>
        </p:txBody>
      </p:sp>
      <p:sp>
        <p:nvSpPr>
          <p:cNvPr id="72" name="rule-705"/>
          <p:cNvSpPr/>
          <p:nvPr/>
        </p:nvSpPr>
        <p:spPr>
          <a:xfrm>
            <a:off x="812800" y="4224933"/>
            <a:ext cx="10566400" cy="6350"/>
          </a:xfrm>
          <a:prstGeom prst="rect">
            <a:avLst/>
          </a:prstGeom>
          <a:solidFill>
            <a:srgbClr val="D9D1C1"/>
          </a:solidFill>
          <a:ln/>
        </p:spPr>
      </p:sp>
      <p:sp>
        <p:nvSpPr>
          <p:cNvPr id="73" name="text-706"/>
          <p:cNvSpPr txBox="1"/>
          <p:nvPr/>
        </p:nvSpPr>
        <p:spPr>
          <a:xfrm>
            <a:off x="914400" y="4042073"/>
            <a:ext cx="2306828" cy="182860"/>
          </a:xfrm>
          <a:prstGeom prst="rect">
            <a:avLst/>
          </a:prstGeom>
          <a:noFill/>
          <a:ln/>
        </p:spPr>
        <p:txBody>
          <a:bodyPr wrap="none" lIns="0" tIns="0" rIns="0" bIns="0" rtlCol="0" anchor="t"/>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Blue and White</a:t>
            </a:r>
            <a:endParaRPr lang="en-US" sz="1200" dirty="0"/>
          </a:p>
        </p:txBody>
      </p:sp>
      <p:sp>
        <p:nvSpPr>
          <p:cNvPr id="74" name="text-707"/>
          <p:cNvSpPr txBox="1"/>
          <p:nvPr/>
        </p:nvSpPr>
        <p:spPr>
          <a:xfrm>
            <a:off x="3251200" y="4042073"/>
            <a:ext cx="2203704"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Gantz</a:t>
            </a:r>
            <a:endParaRPr lang="en-US" sz="1200" dirty="0"/>
          </a:p>
        </p:txBody>
      </p:sp>
      <p:sp>
        <p:nvSpPr>
          <p:cNvPr id="75" name="text-708"/>
          <p:cNvSpPr txBox="1"/>
          <p:nvPr/>
        </p:nvSpPr>
        <p:spPr>
          <a:xfrm>
            <a:off x="5486400" y="4042073"/>
            <a:ext cx="962691" cy="182860"/>
          </a:xfrm>
          <a:prstGeom prst="rect">
            <a:avLst/>
          </a:prstGeom>
          <a:noFill/>
          <a:ln/>
        </p:spPr>
        <p:txBody>
          <a:bodyPr wrap="none" lIns="0" tIns="0" rIns="0" bIns="0" rtlCol="0" anchor="t"/>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under 3.25%</a:t>
            </a:r>
            <a:endParaRPr lang="en-US" sz="1200" dirty="0"/>
          </a:p>
        </p:txBody>
      </p:sp>
      <p:sp>
        <p:nvSpPr>
          <p:cNvPr id="76" name="text-709"/>
          <p:cNvSpPr txBox="1"/>
          <p:nvPr/>
        </p:nvSpPr>
        <p:spPr>
          <a:xfrm>
            <a:off x="7366000" y="4042073"/>
            <a:ext cx="4008374" cy="182860"/>
          </a:xfrm>
          <a:prstGeom prst="rect">
            <a:avLst/>
          </a:prstGeom>
          <a:noFill/>
          <a:ln/>
        </p:spPr>
        <p:txBody>
          <a:bodyPr wrap="square" lIns="0" tIns="0" rIns="0" bIns="0" rtlCol="0" anchor="t"/>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Below the threshold in every poll</a:t>
            </a:r>
            <a:endParaRPr lang="en-US" sz="1200" dirty="0"/>
          </a:p>
        </p:txBody>
      </p:sp>
      <p:sp>
        <p:nvSpPr>
          <p:cNvPr id="77" name="shape-710"/>
          <p:cNvSpPr/>
          <p:nvPr/>
        </p:nvSpPr>
        <p:spPr>
          <a:xfrm>
            <a:off x="812800" y="4231283"/>
            <a:ext cx="10566400" cy="182860"/>
          </a:xfrm>
          <a:prstGeom prst="rect">
            <a:avLst/>
          </a:prstGeom>
          <a:solidFill>
            <a:srgbClr val="C4C7CB"/>
          </a:solidFill>
          <a:ln/>
        </p:spPr>
      </p:sp>
      <p:sp>
        <p:nvSpPr>
          <p:cNvPr id="78" name="text-711"/>
          <p:cNvSpPr txBox="1"/>
          <p:nvPr/>
        </p:nvSpPr>
        <p:spPr>
          <a:xfrm>
            <a:off x="914400" y="4231283"/>
            <a:ext cx="1395631" cy="182860"/>
          </a:xfrm>
          <a:prstGeom prst="rect">
            <a:avLst/>
          </a:prstGeom>
          <a:noFill/>
          <a:ln/>
        </p:spPr>
        <p:txBody>
          <a:bodyPr wrap="square" lIns="0" tIns="0" rIns="0" bIns="0" rtlCol="0" anchor="t"/>
          <a:lstStyle/>
          <a:p>
            <a:pPr algn="l" indent="0" marL="0">
              <a:lnSpc>
                <a:spcPts val="1440"/>
              </a:lnSpc>
              <a:buNone/>
            </a:pPr>
            <a:r>
              <a:rPr lang="en-US" sz="1200" b="1" dirty="0">
                <a:solidFill>
                  <a:srgbClr val="15253D"/>
                </a:solidFill>
                <a:latin typeface="Public Sans" pitchFamily="34" charset="0"/>
                <a:ea typeface="Public Sans" pitchFamily="34" charset="-122"/>
                <a:cs typeface="Public Sans" pitchFamily="34" charset="-120"/>
              </a:rPr>
              <a:t>Between the blocs</a:t>
            </a:r>
            <a:endParaRPr lang="en-US" sz="1200" dirty="0"/>
          </a:p>
        </p:txBody>
      </p:sp>
      <p:sp>
        <p:nvSpPr>
          <p:cNvPr id="79" name="rule-713"/>
          <p:cNvSpPr/>
          <p:nvPr/>
        </p:nvSpPr>
        <p:spPr>
          <a:xfrm>
            <a:off x="812800" y="4597003"/>
            <a:ext cx="10566400" cy="6350"/>
          </a:xfrm>
          <a:prstGeom prst="rect">
            <a:avLst/>
          </a:prstGeom>
          <a:solidFill>
            <a:srgbClr val="D9D1C1"/>
          </a:solidFill>
          <a:ln/>
        </p:spPr>
      </p:sp>
      <p:sp>
        <p:nvSpPr>
          <p:cNvPr id="80" name="text-714"/>
          <p:cNvSpPr txBox="1"/>
          <p:nvPr/>
        </p:nvSpPr>
        <p:spPr>
          <a:xfrm>
            <a:off x="914400" y="4414143"/>
            <a:ext cx="2306828" cy="182860"/>
          </a:xfrm>
          <a:prstGeom prst="rect">
            <a:avLst/>
          </a:prstGeom>
          <a:noFill/>
          <a:ln/>
        </p:spPr>
        <p:txBody>
          <a:bodyPr wrap="none" lIns="0" tIns="0" rIns="0" bIns="0" rtlCol="0" anchor="t"/>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Reservists–Economic Party</a:t>
            </a:r>
            <a:endParaRPr lang="en-US" sz="1200" dirty="0"/>
          </a:p>
        </p:txBody>
      </p:sp>
      <p:sp>
        <p:nvSpPr>
          <p:cNvPr id="81" name="text-715"/>
          <p:cNvSpPr txBox="1"/>
          <p:nvPr/>
        </p:nvSpPr>
        <p:spPr>
          <a:xfrm>
            <a:off x="3251200" y="4414143"/>
            <a:ext cx="2203704"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Hendel / Zelekha / Wilf</a:t>
            </a:r>
            <a:endParaRPr lang="en-US" sz="1200" dirty="0"/>
          </a:p>
        </p:txBody>
      </p:sp>
      <p:sp>
        <p:nvSpPr>
          <p:cNvPr id="82" name="shape-716"/>
          <p:cNvSpPr/>
          <p:nvPr/>
        </p:nvSpPr>
        <p:spPr>
          <a:xfrm>
            <a:off x="5486400" y="4442023"/>
            <a:ext cx="184150" cy="127000"/>
          </a:xfrm>
          <a:prstGeom prst="rect">
            <a:avLst/>
          </a:prstGeom>
          <a:solidFill>
            <a:srgbClr val="8C939B"/>
          </a:solidFill>
          <a:ln/>
        </p:spPr>
      </p:sp>
      <p:sp>
        <p:nvSpPr>
          <p:cNvPr id="83" name="text-717"/>
          <p:cNvSpPr txBox="1"/>
          <p:nvPr/>
        </p:nvSpPr>
        <p:spPr>
          <a:xfrm>
            <a:off x="5746750" y="4414143"/>
            <a:ext cx="317763"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0–5</a:t>
            </a:r>
            <a:endParaRPr lang="en-US" sz="1200" dirty="0"/>
          </a:p>
        </p:txBody>
      </p:sp>
      <p:sp>
        <p:nvSpPr>
          <p:cNvPr id="84" name="text-718"/>
          <p:cNvSpPr txBox="1"/>
          <p:nvPr/>
        </p:nvSpPr>
        <p:spPr>
          <a:xfrm>
            <a:off x="7366000" y="4414143"/>
            <a:ext cx="4008374" cy="182860"/>
          </a:xfrm>
          <a:prstGeom prst="rect">
            <a:avLst/>
          </a:prstGeom>
          <a:noFill/>
          <a:ln/>
        </p:spPr>
        <p:txBody>
          <a:bodyPr wrap="square" lIns="0" tIns="0" rIns="0" bIns="0" rtlCol="0" anchor="t"/>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Sources disagree on its bloc</a:t>
            </a:r>
            <a:endParaRPr lang="en-US" sz="1200" dirty="0"/>
          </a:p>
        </p:txBody>
      </p:sp>
      <p:sp>
        <p:nvSpPr>
          <p:cNvPr id="85" name="shape-719"/>
          <p:cNvSpPr/>
          <p:nvPr/>
        </p:nvSpPr>
        <p:spPr>
          <a:xfrm>
            <a:off x="812800" y="4603353"/>
            <a:ext cx="10566400" cy="182860"/>
          </a:xfrm>
          <a:prstGeom prst="rect">
            <a:avLst/>
          </a:prstGeom>
          <a:solidFill>
            <a:srgbClr val="46698E"/>
          </a:solidFill>
          <a:ln/>
        </p:spPr>
      </p:sp>
      <p:sp>
        <p:nvSpPr>
          <p:cNvPr id="86" name="text-720"/>
          <p:cNvSpPr txBox="1"/>
          <p:nvPr/>
        </p:nvSpPr>
        <p:spPr>
          <a:xfrm>
            <a:off x="914400" y="4603353"/>
            <a:ext cx="3520952" cy="182860"/>
          </a:xfrm>
          <a:prstGeom prst="rect">
            <a:avLst/>
          </a:prstGeom>
          <a:noFill/>
          <a:ln/>
        </p:spPr>
        <p:txBody>
          <a:bodyPr wrap="square" lIns="0" tIns="0" rIns="0" bIns="0" rtlCol="0" anchor="t"/>
          <a:lstStyle/>
          <a:p>
            <a:pPr algn="l" indent="0" marL="0">
              <a:lnSpc>
                <a:spcPts val="1440"/>
              </a:lnSpc>
              <a:buNone/>
            </a:pPr>
            <a:r>
              <a:rPr lang="en-US" sz="1200" b="1" dirty="0">
                <a:solidFill>
                  <a:srgbClr val="F4EFE4"/>
                </a:solidFill>
                <a:latin typeface="Public Sans" pitchFamily="34" charset="0"/>
                <a:ea typeface="Public Sans" pitchFamily="34" charset="-122"/>
                <a:cs typeface="Public Sans" pitchFamily="34" charset="-120"/>
              </a:rPr>
              <a:t>Arab-led lists · 12–14 seats · counted separately</a:t>
            </a:r>
            <a:endParaRPr lang="en-US" sz="1200" dirty="0"/>
          </a:p>
        </p:txBody>
      </p:sp>
      <p:sp>
        <p:nvSpPr>
          <p:cNvPr id="87" name="rule-722"/>
          <p:cNvSpPr/>
          <p:nvPr/>
        </p:nvSpPr>
        <p:spPr>
          <a:xfrm>
            <a:off x="812800" y="4969073"/>
            <a:ext cx="10566400" cy="6350"/>
          </a:xfrm>
          <a:prstGeom prst="rect">
            <a:avLst/>
          </a:prstGeom>
          <a:solidFill>
            <a:srgbClr val="D9D1C1"/>
          </a:solidFill>
          <a:ln/>
        </p:spPr>
      </p:sp>
      <p:sp>
        <p:nvSpPr>
          <p:cNvPr id="88" name="text-723"/>
          <p:cNvSpPr txBox="1"/>
          <p:nvPr/>
        </p:nvSpPr>
        <p:spPr>
          <a:xfrm>
            <a:off x="914400" y="4786213"/>
            <a:ext cx="2306828" cy="182860"/>
          </a:xfrm>
          <a:prstGeom prst="rect">
            <a:avLst/>
          </a:prstGeom>
          <a:noFill/>
          <a:ln/>
        </p:spPr>
        <p:txBody>
          <a:bodyPr wrap="none" lIns="0" tIns="0" rIns="0" bIns="0" rtlCol="0" anchor="t"/>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Joint List</a:t>
            </a:r>
            <a:endParaRPr lang="en-US" sz="1200" dirty="0"/>
          </a:p>
        </p:txBody>
      </p:sp>
      <p:sp>
        <p:nvSpPr>
          <p:cNvPr id="89" name="text-724"/>
          <p:cNvSpPr txBox="1"/>
          <p:nvPr/>
        </p:nvSpPr>
        <p:spPr>
          <a:xfrm>
            <a:off x="3251200" y="4786213"/>
            <a:ext cx="2203704"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Jabareen; Tibi no. 2</a:t>
            </a:r>
            <a:endParaRPr lang="en-US" sz="1200" dirty="0"/>
          </a:p>
        </p:txBody>
      </p:sp>
      <p:sp>
        <p:nvSpPr>
          <p:cNvPr id="90" name="shape-725"/>
          <p:cNvSpPr/>
          <p:nvPr/>
        </p:nvSpPr>
        <p:spPr>
          <a:xfrm>
            <a:off x="5486400" y="4814094"/>
            <a:ext cx="444500" cy="127000"/>
          </a:xfrm>
          <a:prstGeom prst="rect">
            <a:avLst/>
          </a:prstGeom>
          <a:solidFill>
            <a:srgbClr val="46698E"/>
          </a:solidFill>
          <a:ln/>
        </p:spPr>
      </p:sp>
      <p:sp>
        <p:nvSpPr>
          <p:cNvPr id="91" name="text-726"/>
          <p:cNvSpPr txBox="1"/>
          <p:nvPr/>
        </p:nvSpPr>
        <p:spPr>
          <a:xfrm>
            <a:off x="6007100" y="4786213"/>
            <a:ext cx="313534"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7–9</a:t>
            </a:r>
            <a:endParaRPr lang="en-US" sz="1200" dirty="0"/>
          </a:p>
        </p:txBody>
      </p:sp>
      <p:sp>
        <p:nvSpPr>
          <p:cNvPr id="92" name="text-727"/>
          <p:cNvSpPr txBox="1"/>
          <p:nvPr/>
        </p:nvSpPr>
        <p:spPr>
          <a:xfrm>
            <a:off x="7366000" y="4786213"/>
            <a:ext cx="4008374" cy="182860"/>
          </a:xfrm>
          <a:prstGeom prst="rect">
            <a:avLst/>
          </a:prstGeom>
          <a:noFill/>
          <a:ln/>
        </p:spPr>
        <p:txBody>
          <a:bodyPr wrap="square" lIns="0" tIns="0" rIns="0" bIns="0" rtlCol="0" anchor="t"/>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Hadash–Ta'al–Balad, re-formed Aug 19</a:t>
            </a:r>
            <a:endParaRPr lang="en-US" sz="1200" dirty="0"/>
          </a:p>
        </p:txBody>
      </p:sp>
      <p:sp>
        <p:nvSpPr>
          <p:cNvPr id="93" name="rule-729"/>
          <p:cNvSpPr/>
          <p:nvPr/>
        </p:nvSpPr>
        <p:spPr>
          <a:xfrm>
            <a:off x="812800" y="5158284"/>
            <a:ext cx="10566400" cy="6350"/>
          </a:xfrm>
          <a:prstGeom prst="rect">
            <a:avLst/>
          </a:prstGeom>
          <a:solidFill>
            <a:srgbClr val="D9D1C1"/>
          </a:solidFill>
          <a:ln/>
        </p:spPr>
      </p:sp>
      <p:sp>
        <p:nvSpPr>
          <p:cNvPr id="94" name="text-730"/>
          <p:cNvSpPr txBox="1"/>
          <p:nvPr/>
        </p:nvSpPr>
        <p:spPr>
          <a:xfrm>
            <a:off x="914400" y="4975423"/>
            <a:ext cx="2306828" cy="182860"/>
          </a:xfrm>
          <a:prstGeom prst="rect">
            <a:avLst/>
          </a:prstGeom>
          <a:noFill/>
          <a:ln/>
        </p:spPr>
        <p:txBody>
          <a:bodyPr wrap="none" lIns="0" tIns="0" rIns="0" bIns="0" rtlCol="0" anchor="t"/>
          <a:lstStyle/>
          <a:p>
            <a:pPr algn="l" indent="0" marL="0">
              <a:lnSpc>
                <a:spcPts val="1440"/>
              </a:lnSpc>
              <a:buNone/>
            </a:pPr>
            <a:r>
              <a:rPr lang="en-US" sz="1200" b="1" dirty="0">
                <a:solidFill>
                  <a:srgbClr val="1B2634"/>
                </a:solidFill>
                <a:latin typeface="Public Sans" pitchFamily="34" charset="0"/>
                <a:ea typeface="Public Sans" pitchFamily="34" charset="-122"/>
                <a:cs typeface="Public Sans" pitchFamily="34" charset="-120"/>
              </a:rPr>
              <a:t>Ra'am</a:t>
            </a:r>
            <a:endParaRPr lang="en-US" sz="1200" dirty="0"/>
          </a:p>
        </p:txBody>
      </p:sp>
      <p:sp>
        <p:nvSpPr>
          <p:cNvPr id="95" name="text-731"/>
          <p:cNvSpPr txBox="1"/>
          <p:nvPr/>
        </p:nvSpPr>
        <p:spPr>
          <a:xfrm>
            <a:off x="3251200" y="4975423"/>
            <a:ext cx="2203704"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Abbas; Segalovitz no. 2</a:t>
            </a:r>
            <a:endParaRPr lang="en-US" sz="1200" dirty="0"/>
          </a:p>
        </p:txBody>
      </p:sp>
      <p:sp>
        <p:nvSpPr>
          <p:cNvPr id="96" name="shape-732"/>
          <p:cNvSpPr/>
          <p:nvPr/>
        </p:nvSpPr>
        <p:spPr>
          <a:xfrm>
            <a:off x="5486400" y="5003304"/>
            <a:ext cx="285750" cy="127000"/>
          </a:xfrm>
          <a:prstGeom prst="rect">
            <a:avLst/>
          </a:prstGeom>
          <a:solidFill>
            <a:srgbClr val="46698E"/>
          </a:solidFill>
          <a:ln/>
        </p:spPr>
      </p:sp>
      <p:sp>
        <p:nvSpPr>
          <p:cNvPr id="97" name="text-733"/>
          <p:cNvSpPr txBox="1"/>
          <p:nvPr/>
        </p:nvSpPr>
        <p:spPr>
          <a:xfrm>
            <a:off x="5848350" y="4975423"/>
            <a:ext cx="137196" cy="182860"/>
          </a:xfrm>
          <a:prstGeom prst="rect">
            <a:avLst/>
          </a:prstGeom>
          <a:noFill/>
          <a:ln/>
        </p:spPr>
        <p:txBody>
          <a:bodyPr wrap="none" lIns="0" tIns="0" rIns="0" bIns="0" rtlCol="0" anchor="t"/>
          <a:lstStyle/>
          <a:p>
            <a:pPr algn="l" indent="0" marL="0">
              <a:lnSpc>
                <a:spcPts val="1440"/>
              </a:lnSpc>
              <a:buNone/>
            </a:pPr>
            <a:r>
              <a:rPr lang="en-US" sz="1200" dirty="0">
                <a:solidFill>
                  <a:srgbClr val="1B2634"/>
                </a:solidFill>
                <a:latin typeface="Public Sans" pitchFamily="34" charset="0"/>
                <a:ea typeface="Public Sans" pitchFamily="34" charset="-122"/>
                <a:cs typeface="Public Sans" pitchFamily="34" charset="-120"/>
              </a:rPr>
              <a:t>5</a:t>
            </a:r>
            <a:endParaRPr lang="en-US" sz="1200" dirty="0"/>
          </a:p>
        </p:txBody>
      </p:sp>
      <p:sp>
        <p:nvSpPr>
          <p:cNvPr id="98" name="text-734"/>
          <p:cNvSpPr txBox="1"/>
          <p:nvPr/>
        </p:nvSpPr>
        <p:spPr>
          <a:xfrm>
            <a:off x="7366000" y="4975423"/>
            <a:ext cx="4008374" cy="182860"/>
          </a:xfrm>
          <a:prstGeom prst="rect">
            <a:avLst/>
          </a:prstGeom>
          <a:noFill/>
          <a:ln/>
        </p:spPr>
        <p:txBody>
          <a:bodyPr wrap="square" lIns="0" tIns="0" rIns="0" bIns="0" rtlCol="0" anchor="t"/>
          <a:lstStyle/>
          <a:p>
            <a:pPr algn="l" indent="0" marL="0">
              <a:lnSpc>
                <a:spcPts val="1440"/>
              </a:lnSpc>
              <a:buNone/>
            </a:pPr>
            <a:r>
              <a:rPr lang="en-US" sz="1200" dirty="0">
                <a:solidFill>
                  <a:srgbClr val="4F5B69"/>
                </a:solidFill>
                <a:latin typeface="Public Sans" pitchFamily="34" charset="0"/>
                <a:ea typeface="Public Sans" pitchFamily="34" charset="-122"/>
                <a:cs typeface="Public Sans" pitchFamily="34" charset="-120"/>
              </a:rPr>
              <a:t>No. 2 is a Jewish former police commander</a:t>
            </a:r>
            <a:endParaRPr lang="en-US" sz="1200" dirty="0"/>
          </a:p>
        </p:txBody>
      </p:sp>
      <p:sp>
        <p:nvSpPr>
          <p:cNvPr id="99" name="text-735"/>
          <p:cNvSpPr txBox="1"/>
          <p:nvPr/>
        </p:nvSpPr>
        <p:spPr>
          <a:xfrm>
            <a:off x="812800" y="6253559"/>
            <a:ext cx="10762996" cy="19804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Seat ranges = low and high across the four polls on the next slide (Sep 28–Oct 2); bars = our average · Ch 13’s “below threshold” counted as 0</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EFE4"/>
        </a:solidFill>
      </p:bgPr>
    </p:bg>
    <p:spTree>
      <p:nvGrpSpPr>
        <p:cNvPr id="1" name=""/>
        <p:cNvGrpSpPr/>
        <p:nvPr/>
      </p:nvGrpSpPr>
      <p:grpSpPr>
        <a:xfrm>
          <a:off x="0" y="0"/>
          <a:ext cx="0" cy="0"/>
          <a:chOff x="0" y="0"/>
          <a:chExt cx="0" cy="0"/>
        </a:xfrm>
      </p:grpSpPr>
      <p:sp>
        <p:nvSpPr>
          <p:cNvPr id="2" name="text-736"/>
          <p:cNvSpPr txBox="1"/>
          <p:nvPr/>
        </p:nvSpPr>
        <p:spPr>
          <a:xfrm>
            <a:off x="812800" y="812800"/>
            <a:ext cx="10762996"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The polls</a:t>
            </a:r>
            <a:endParaRPr lang="en-US" sz="3200" dirty="0"/>
          </a:p>
        </p:txBody>
      </p:sp>
      <p:sp>
        <p:nvSpPr>
          <p:cNvPr id="3" name="text-737"/>
          <p:cNvSpPr txBox="1"/>
          <p:nvPr/>
        </p:nvSpPr>
        <p:spPr>
          <a:xfrm>
            <a:off x="812800" y="1513780"/>
            <a:ext cx="5297424" cy="274241"/>
          </a:xfrm>
          <a:prstGeom prst="rect">
            <a:avLst/>
          </a:prstGeom>
          <a:noFill/>
          <a:ln/>
        </p:spPr>
        <p:txBody>
          <a:bodyPr wrap="square" lIns="0" tIns="0" rIns="0" bIns="0" rtlCol="0" anchor="t"/>
          <a:lstStyle/>
          <a:p>
            <a:pPr algn="l" indent="0" marL="0">
              <a:lnSpc>
                <a:spcPts val="2160"/>
              </a:lnSpc>
              <a:buNone/>
            </a:pPr>
            <a:r>
              <a:rPr lang="en-US" sz="1800" dirty="0">
                <a:solidFill>
                  <a:srgbClr val="15253D"/>
                </a:solidFill>
                <a:latin typeface="Libre Baskerville" pitchFamily="34" charset="0"/>
                <a:ea typeface="Libre Baskerville" pitchFamily="34" charset="-122"/>
                <a:cs typeface="Libre Baskerville" pitchFamily="34" charset="-120"/>
              </a:rPr>
              <a:t>Netanyahu bloc</a:t>
            </a:r>
            <a:endParaRPr lang="en-US" sz="1800" dirty="0"/>
          </a:p>
        </p:txBody>
      </p:sp>
      <p:graphicFrame>
        <p:nvGraphicFramePr>
          <p:cNvPr id="30" name="table-738"/>
          <p:cNvGraphicFramePr>
            <a:graphicFrameLocks noGrp="1"/>
          </p:cNvGraphicFramePr>
          <p:nvPr>
            <p:extLst>
              <p:ext uri="{D42A27DB-BD31-4B8C-83A1-F6EECF244321}">
                <p14:modId xmlns:p14="http://schemas.microsoft.com/office/powerpoint/2010/main" val="1579011935"/>
              </p:ext>
            </p:extLst>
          </p:nvPr>
        </p:nvGraphicFramePr>
        <p:xfrm>
          <a:off x="812800" y="1889621"/>
          <a:ext cx="5181600" cy="914400"/>
        </p:xfrm>
        <a:graphic>
          <a:graphicData uri="http://schemas.openxmlformats.org/drawingml/2006/table">
            <a:tbl>
              <a:tblPr/>
              <a:tblGrid>
                <a:gridCol w="1863130"/>
                <a:gridCol w="827980"/>
                <a:gridCol w="827980"/>
                <a:gridCol w="827980"/>
                <a:gridCol w="828179"/>
              </a:tblGrid>
              <a:tr h="318591">
                <a:tc>
                  <a:txBody>
                    <a:bodyPr/>
                    <a:lstStyle/>
                    <a:p>
                      <a:pPr algn="l" indent="0" marL="0">
                        <a:lnSpc>
                          <a:spcPts val="1620"/>
                        </a:lnSpc>
                        <a:buNone/>
                      </a:pPr>
                      <a:r>
                        <a:rPr lang="en-US" sz="1200" b="1" dirty="0">
                          <a:solidFill>
                            <a:srgbClr val="F4EFE4"/>
                          </a:solidFill>
                          <a:latin typeface="Public Sans" pitchFamily="34" charset="0"/>
                          <a:ea typeface="Public Sans" pitchFamily="34" charset="-122"/>
                          <a:cs typeface="Public Sans" pitchFamily="34" charset="-120"/>
                        </a:rPr>
                        <a:t>List</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c>
                  <a:txBody>
                    <a:bodyPr/>
                    <a:lstStyle/>
                    <a:p>
                      <a:pPr algn="ctr" indent="0" marL="0">
                        <a:lnSpc>
                          <a:spcPts val="1620"/>
                        </a:lnSpc>
                        <a:buNone/>
                      </a:pPr>
                      <a:r>
                        <a:rPr lang="en-US" sz="1200" b="1" dirty="0">
                          <a:solidFill>
                            <a:srgbClr val="F4EFE4"/>
                          </a:solidFill>
                          <a:latin typeface="Public Sans" pitchFamily="34" charset="0"/>
                          <a:ea typeface="Public Sans" pitchFamily="34" charset="-122"/>
                          <a:cs typeface="Public Sans" pitchFamily="34" charset="-120"/>
                        </a:rPr>
                        <a:t>Maariv</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c>
                  <a:txBody>
                    <a:bodyPr/>
                    <a:lstStyle/>
                    <a:p>
                      <a:pPr algn="ctr" indent="0" marL="0">
                        <a:lnSpc>
                          <a:spcPts val="1620"/>
                        </a:lnSpc>
                        <a:buNone/>
                      </a:pPr>
                      <a:r>
                        <a:rPr lang="en-US" sz="1200" b="1" dirty="0">
                          <a:solidFill>
                            <a:srgbClr val="F4EFE4"/>
                          </a:solidFill>
                          <a:latin typeface="Public Sans" pitchFamily="34" charset="0"/>
                          <a:ea typeface="Public Sans" pitchFamily="34" charset="-122"/>
                          <a:cs typeface="Public Sans" pitchFamily="34" charset="-120"/>
                        </a:rPr>
                        <a:t>Ch 13</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c>
                  <a:txBody>
                    <a:bodyPr/>
                    <a:lstStyle/>
                    <a:p>
                      <a:pPr algn="ctr" indent="0" marL="0">
                        <a:lnSpc>
                          <a:spcPts val="1620"/>
                        </a:lnSpc>
                        <a:buNone/>
                      </a:pPr>
                      <a:r>
                        <a:rPr lang="en-US" sz="1200" b="1" dirty="0">
                          <a:solidFill>
                            <a:srgbClr val="F4EFE4"/>
                          </a:solidFill>
                          <a:latin typeface="Public Sans" pitchFamily="34" charset="0"/>
                          <a:ea typeface="Public Sans" pitchFamily="34" charset="-122"/>
                          <a:cs typeface="Public Sans" pitchFamily="34" charset="-120"/>
                        </a:rPr>
                        <a:t>Zman</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c>
                  <a:txBody>
                    <a:bodyPr/>
                    <a:lstStyle/>
                    <a:p>
                      <a:pPr algn="ctr" indent="0" marL="0">
                        <a:lnSpc>
                          <a:spcPts val="1620"/>
                        </a:lnSpc>
                        <a:buNone/>
                      </a:pPr>
                      <a:r>
                        <a:rPr lang="en-US" sz="1200" b="1" dirty="0">
                          <a:solidFill>
                            <a:srgbClr val="F4EFE4"/>
                          </a:solidFill>
                          <a:latin typeface="Public Sans" pitchFamily="34" charset="0"/>
                          <a:ea typeface="Public Sans" pitchFamily="34" charset="-122"/>
                          <a:cs typeface="Public Sans" pitchFamily="34" charset="-120"/>
                        </a:rPr>
                        <a:t>Kan</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r>
              <a:tr h="318591">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Likud</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19</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19</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21</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21</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18591">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Otzma Yehudit</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9</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8</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6</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7</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18591">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Shas</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7</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7</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9</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18591">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UTJ</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7</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8</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8</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18591">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Rel. Zionism–Zehut</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5</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7</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5</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6</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18591">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People of Israel</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4</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5</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4</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4</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18591">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Bloc total</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C6C0B3"/>
                      </a:solidFill>
                      <a:prstDash val="solid"/>
                      <a:round/>
                      <a:headEnd type="none" w="med" len="med"/>
                      <a:tailEnd type="none" w="med" len="med"/>
                    </a:lnT>
                    <a:lnB w="6350" cap="flat" cmpd="sng" algn="ctr">
                      <a:solidFill>
                        <a:srgbClr val="D9D1C1"/>
                      </a:solidFill>
                      <a:prstDash val="solid"/>
                      <a:round/>
                      <a:headEnd type="none" w="med" len="med"/>
                      <a:tailEnd type="none" w="med" len="med"/>
                    </a:lnB>
                    <a:solidFill>
                      <a:srgbClr val="E6DFD0"/>
                    </a:solidFill>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51</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C6C0B3"/>
                      </a:solidFill>
                      <a:prstDash val="solid"/>
                      <a:round/>
                      <a:headEnd type="none" w="med" len="med"/>
                      <a:tailEnd type="none" w="med" len="med"/>
                    </a:lnT>
                    <a:lnB w="6350" cap="flat" cmpd="sng" algn="ctr">
                      <a:solidFill>
                        <a:srgbClr val="D9D1C1"/>
                      </a:solidFill>
                      <a:prstDash val="solid"/>
                      <a:round/>
                      <a:headEnd type="none" w="med" len="med"/>
                      <a:tailEnd type="none" w="med" len="med"/>
                    </a:lnB>
                    <a:solidFill>
                      <a:srgbClr val="E6DFD0"/>
                    </a:solidFill>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54</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C6C0B3"/>
                      </a:solidFill>
                      <a:prstDash val="solid"/>
                      <a:round/>
                      <a:headEnd type="none" w="med" len="med"/>
                      <a:tailEnd type="none" w="med" len="med"/>
                    </a:lnT>
                    <a:lnB w="6350" cap="flat" cmpd="sng" algn="ctr">
                      <a:solidFill>
                        <a:srgbClr val="D9D1C1"/>
                      </a:solidFill>
                      <a:prstDash val="solid"/>
                      <a:round/>
                      <a:headEnd type="none" w="med" len="med"/>
                      <a:tailEnd type="none" w="med" len="med"/>
                    </a:lnB>
                    <a:solidFill>
                      <a:srgbClr val="E6DFD0"/>
                    </a:solidFill>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53</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C6C0B3"/>
                      </a:solidFill>
                      <a:prstDash val="solid"/>
                      <a:round/>
                      <a:headEnd type="none" w="med" len="med"/>
                      <a:tailEnd type="none" w="med" len="med"/>
                    </a:lnT>
                    <a:lnB w="6350" cap="flat" cmpd="sng" algn="ctr">
                      <a:solidFill>
                        <a:srgbClr val="D9D1C1"/>
                      </a:solidFill>
                      <a:prstDash val="solid"/>
                      <a:round/>
                      <a:headEnd type="none" w="med" len="med"/>
                      <a:tailEnd type="none" w="med" len="med"/>
                    </a:lnB>
                    <a:solidFill>
                      <a:srgbClr val="E6DFD0"/>
                    </a:solidFill>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52</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C6C0B3"/>
                      </a:solidFill>
                      <a:prstDash val="solid"/>
                      <a:round/>
                      <a:headEnd type="none" w="med" len="med"/>
                      <a:tailEnd type="none" w="med" len="med"/>
                    </a:lnT>
                    <a:lnB w="6350" cap="flat" cmpd="sng" algn="ctr">
                      <a:solidFill>
                        <a:srgbClr val="D9D1C1"/>
                      </a:solidFill>
                      <a:prstDash val="solid"/>
                      <a:round/>
                      <a:headEnd type="none" w="med" len="med"/>
                      <a:tailEnd type="none" w="med" len="med"/>
                    </a:lnB>
                    <a:solidFill>
                      <a:srgbClr val="E6DFD0"/>
                    </a:solidFill>
                  </a:tcPr>
                </a:tc>
              </a:tr>
            </a:tbl>
          </a:graphicData>
        </a:graphic>
      </p:graphicFrame>
      <p:sp>
        <p:nvSpPr>
          <p:cNvPr id="5" name="shape-739"/>
          <p:cNvSpPr/>
          <p:nvPr/>
        </p:nvSpPr>
        <p:spPr>
          <a:xfrm>
            <a:off x="812800" y="4546302"/>
            <a:ext cx="5181600" cy="1003201"/>
          </a:xfrm>
          <a:prstGeom prst="roundRect">
            <a:avLst>
              <a:gd name="adj" fmla="val 5064"/>
            </a:avLst>
          </a:prstGeom>
          <a:solidFill>
            <a:srgbClr val="FBF8F1"/>
          </a:solidFill>
          <a:ln w="6350">
            <a:solidFill>
              <a:srgbClr val="D9D1C1"/>
            </a:solidFill>
            <a:prstDash val="solid"/>
          </a:ln>
        </p:spPr>
      </p:sp>
      <p:sp>
        <p:nvSpPr>
          <p:cNvPr id="6" name="rule-740"/>
          <p:cNvSpPr/>
          <p:nvPr/>
        </p:nvSpPr>
        <p:spPr>
          <a:xfrm>
            <a:off x="812800" y="4546302"/>
            <a:ext cx="38100" cy="1003201"/>
          </a:xfrm>
          <a:prstGeom prst="rect">
            <a:avLst/>
          </a:prstGeom>
          <a:solidFill>
            <a:srgbClr val="D9D1C1"/>
          </a:solidFill>
          <a:ln/>
        </p:spPr>
      </p:sp>
      <p:sp>
        <p:nvSpPr>
          <p:cNvPr id="7" name="text-741"/>
          <p:cNvSpPr txBox="1"/>
          <p:nvPr/>
        </p:nvSpPr>
        <p:spPr>
          <a:xfrm>
            <a:off x="1028700" y="4679652"/>
            <a:ext cx="4891373" cy="480020"/>
          </a:xfrm>
          <a:prstGeom prst="rect">
            <a:avLst/>
          </a:prstGeom>
          <a:noFill/>
          <a:ln/>
        </p:spPr>
        <p:txBody>
          <a:bodyPr wrap="square" lIns="0" tIns="0" rIns="0" bIns="0" rtlCol="0" anchor="t"/>
          <a:lstStyle/>
          <a:p>
            <a:pPr algn="l" indent="0" marL="0">
              <a:lnSpc>
                <a:spcPts val="1890"/>
              </a:lnSpc>
              <a:buNone/>
            </a:pPr>
            <a:r>
              <a:rPr lang="en-US" sz="1400" b="1" dirty="0">
                <a:solidFill>
                  <a:srgbClr val="1B2634"/>
                </a:solidFill>
                <a:latin typeface="Public Sans" pitchFamily="34" charset="0"/>
                <a:ea typeface="Public Sans" pitchFamily="34" charset="-122"/>
                <a:cs typeface="Public Sans" pitchFamily="34" charset="-120"/>
              </a:rPr>
              <a:t>The outlier:</a:t>
            </a:r>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 Channel 14 (Sep 27) has Likud at 32 and the Netanyahu bloc at 63.</a:t>
            </a:r>
            <a:endParaRPr lang="en-US" sz="1400" dirty="0"/>
          </a:p>
        </p:txBody>
      </p:sp>
      <p:sp>
        <p:nvSpPr>
          <p:cNvPr id="8" name="text-742"/>
          <p:cNvSpPr txBox="1"/>
          <p:nvPr/>
        </p:nvSpPr>
        <p:spPr>
          <a:xfrm>
            <a:off x="1028700" y="5210473"/>
            <a:ext cx="4891373" cy="205680"/>
          </a:xfrm>
          <a:prstGeom prst="rect">
            <a:avLst/>
          </a:prstGeom>
          <a:noFill/>
          <a:ln/>
        </p:spPr>
        <p:txBody>
          <a:bodyPr wrap="square" lIns="0" tIns="0" rIns="0" bIns="0" rtlCol="0" anchor="t"/>
          <a:lstStyle/>
          <a:p>
            <a:pPr algn="l" indent="0" marL="0">
              <a:lnSpc>
                <a:spcPts val="1620"/>
              </a:lnSpc>
              <a:buNone/>
            </a:pPr>
            <a:r>
              <a:rPr lang="en-US" sz="1200" dirty="0">
                <a:solidFill>
                  <a:srgbClr val="4F5B69"/>
                </a:solidFill>
                <a:latin typeface="Public Sans" pitchFamily="34" charset="0"/>
                <a:ea typeface="Public Sans" pitchFamily="34" charset="-122"/>
                <a:cs typeface="Public Sans" pitchFamily="34" charset="-120"/>
              </a:rPr>
              <a:t>Kan did not report Shas and UTJ separately.</a:t>
            </a:r>
            <a:endParaRPr lang="en-US" sz="1200" dirty="0"/>
          </a:p>
        </p:txBody>
      </p:sp>
      <p:sp>
        <p:nvSpPr>
          <p:cNvPr id="9" name="text-743"/>
          <p:cNvSpPr txBox="1"/>
          <p:nvPr/>
        </p:nvSpPr>
        <p:spPr>
          <a:xfrm>
            <a:off x="6197600" y="1513780"/>
            <a:ext cx="5297424" cy="274241"/>
          </a:xfrm>
          <a:prstGeom prst="rect">
            <a:avLst/>
          </a:prstGeom>
          <a:noFill/>
          <a:ln/>
        </p:spPr>
        <p:txBody>
          <a:bodyPr wrap="square" lIns="0" tIns="0" rIns="0" bIns="0" rtlCol="0" anchor="t"/>
          <a:lstStyle/>
          <a:p>
            <a:pPr algn="l" indent="0" marL="0">
              <a:lnSpc>
                <a:spcPts val="2160"/>
              </a:lnSpc>
              <a:buNone/>
            </a:pPr>
            <a:r>
              <a:rPr lang="en-US" sz="1800" dirty="0">
                <a:solidFill>
                  <a:srgbClr val="15253D"/>
                </a:solidFill>
                <a:latin typeface="Libre Baskerville" pitchFamily="34" charset="0"/>
                <a:ea typeface="Libre Baskerville" pitchFamily="34" charset="-122"/>
                <a:cs typeface="Libre Baskerville" pitchFamily="34" charset="-120"/>
              </a:rPr>
              <a:t>Opposition, Arab-led, and between</a:t>
            </a:r>
            <a:endParaRPr lang="en-US" sz="1800" dirty="0"/>
          </a:p>
        </p:txBody>
      </p:sp>
      <p:graphicFrame>
        <p:nvGraphicFramePr>
          <p:cNvPr id="59" name="table-744"/>
          <p:cNvGraphicFramePr>
            <a:graphicFrameLocks noGrp="1"/>
          </p:cNvGraphicFramePr>
          <p:nvPr>
            <p:extLst>
              <p:ext uri="{D42A27DB-BD31-4B8C-83A1-F6EECF244321}">
                <p14:modId xmlns:p14="http://schemas.microsoft.com/office/powerpoint/2010/main" val="1579011935"/>
              </p:ext>
            </p:extLst>
          </p:nvPr>
        </p:nvGraphicFramePr>
        <p:xfrm>
          <a:off x="6197600" y="1889621"/>
          <a:ext cx="5181600" cy="914400"/>
        </p:xfrm>
        <a:graphic>
          <a:graphicData uri="http://schemas.openxmlformats.org/drawingml/2006/table">
            <a:tbl>
              <a:tblPr/>
              <a:tblGrid>
                <a:gridCol w="1863130"/>
                <a:gridCol w="827980"/>
                <a:gridCol w="827980"/>
                <a:gridCol w="827980"/>
                <a:gridCol w="828179"/>
              </a:tblGrid>
              <a:tr h="318591">
                <a:tc>
                  <a:txBody>
                    <a:bodyPr/>
                    <a:lstStyle/>
                    <a:p>
                      <a:pPr algn="l" indent="0" marL="0">
                        <a:lnSpc>
                          <a:spcPts val="1620"/>
                        </a:lnSpc>
                        <a:buNone/>
                      </a:pPr>
                      <a:r>
                        <a:rPr lang="en-US" sz="1200" b="1" dirty="0">
                          <a:solidFill>
                            <a:srgbClr val="F4EFE4"/>
                          </a:solidFill>
                          <a:latin typeface="Public Sans" pitchFamily="34" charset="0"/>
                          <a:ea typeface="Public Sans" pitchFamily="34" charset="-122"/>
                          <a:cs typeface="Public Sans" pitchFamily="34" charset="-120"/>
                        </a:rPr>
                        <a:t>List</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c>
                  <a:txBody>
                    <a:bodyPr/>
                    <a:lstStyle/>
                    <a:p>
                      <a:pPr algn="ctr" indent="0" marL="0">
                        <a:lnSpc>
                          <a:spcPts val="1620"/>
                        </a:lnSpc>
                        <a:buNone/>
                      </a:pPr>
                      <a:r>
                        <a:rPr lang="en-US" sz="1200" b="1" dirty="0">
                          <a:solidFill>
                            <a:srgbClr val="F4EFE4"/>
                          </a:solidFill>
                          <a:latin typeface="Public Sans" pitchFamily="34" charset="0"/>
                          <a:ea typeface="Public Sans" pitchFamily="34" charset="-122"/>
                          <a:cs typeface="Public Sans" pitchFamily="34" charset="-120"/>
                        </a:rPr>
                        <a:t>Maariv</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c>
                  <a:txBody>
                    <a:bodyPr/>
                    <a:lstStyle/>
                    <a:p>
                      <a:pPr algn="ctr" indent="0" marL="0">
                        <a:lnSpc>
                          <a:spcPts val="1620"/>
                        </a:lnSpc>
                        <a:buNone/>
                      </a:pPr>
                      <a:r>
                        <a:rPr lang="en-US" sz="1200" b="1" dirty="0">
                          <a:solidFill>
                            <a:srgbClr val="F4EFE4"/>
                          </a:solidFill>
                          <a:latin typeface="Public Sans" pitchFamily="34" charset="0"/>
                          <a:ea typeface="Public Sans" pitchFamily="34" charset="-122"/>
                          <a:cs typeface="Public Sans" pitchFamily="34" charset="-120"/>
                        </a:rPr>
                        <a:t>Ch 13</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c>
                  <a:txBody>
                    <a:bodyPr/>
                    <a:lstStyle/>
                    <a:p>
                      <a:pPr algn="ctr" indent="0" marL="0">
                        <a:lnSpc>
                          <a:spcPts val="1620"/>
                        </a:lnSpc>
                        <a:buNone/>
                      </a:pPr>
                      <a:r>
                        <a:rPr lang="en-US" sz="1200" b="1" dirty="0">
                          <a:solidFill>
                            <a:srgbClr val="F4EFE4"/>
                          </a:solidFill>
                          <a:latin typeface="Public Sans" pitchFamily="34" charset="0"/>
                          <a:ea typeface="Public Sans" pitchFamily="34" charset="-122"/>
                          <a:cs typeface="Public Sans" pitchFamily="34" charset="-120"/>
                        </a:rPr>
                        <a:t>Zman</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c>
                  <a:txBody>
                    <a:bodyPr/>
                    <a:lstStyle/>
                    <a:p>
                      <a:pPr algn="ctr" indent="0" marL="0">
                        <a:lnSpc>
                          <a:spcPts val="1620"/>
                        </a:lnSpc>
                        <a:buNone/>
                      </a:pPr>
                      <a:r>
                        <a:rPr lang="en-US" sz="1200" b="1" dirty="0">
                          <a:solidFill>
                            <a:srgbClr val="F4EFE4"/>
                          </a:solidFill>
                          <a:latin typeface="Public Sans" pitchFamily="34" charset="0"/>
                          <a:ea typeface="Public Sans" pitchFamily="34" charset="-122"/>
                          <a:cs typeface="Public Sans" pitchFamily="34" charset="-120"/>
                        </a:rPr>
                        <a:t>Kan</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9D1C1"/>
                      </a:solidFill>
                      <a:prstDash val="solid"/>
                      <a:round/>
                      <a:headEnd type="none" w="med" len="med"/>
                      <a:tailEnd type="none" w="med" len="med"/>
                    </a:lnT>
                    <a:lnB w="6350" cap="flat" cmpd="sng" algn="ctr">
                      <a:solidFill>
                        <a:srgbClr val="122034"/>
                      </a:solidFill>
                      <a:prstDash val="solid"/>
                      <a:round/>
                      <a:headEnd type="none" w="med" len="med"/>
                      <a:tailEnd type="none" w="med" len="med"/>
                    </a:lnB>
                    <a:solidFill>
                      <a:srgbClr val="15253D"/>
                    </a:solidFill>
                  </a:tcPr>
                </a:tc>
              </a:tr>
              <a:tr h="318591">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Yashar!</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21</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21</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21</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23</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18591">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B'Yachad</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13</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11</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10</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11</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18591">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The Democrats</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10</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11</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8</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9</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18591">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Yisrael Beiteinu</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9</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9</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10</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9</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18591">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Opposition total</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C6C0B3"/>
                      </a:solidFill>
                      <a:prstDash val="solid"/>
                      <a:round/>
                      <a:headEnd type="none" w="med" len="med"/>
                      <a:tailEnd type="none" w="med" len="med"/>
                    </a:lnT>
                    <a:lnB w="6350" cap="flat" cmpd="sng" algn="ctr">
                      <a:solidFill>
                        <a:srgbClr val="C6C0B3"/>
                      </a:solidFill>
                      <a:prstDash val="solid"/>
                      <a:round/>
                      <a:headEnd type="none" w="med" len="med"/>
                      <a:tailEnd type="none" w="med" len="med"/>
                    </a:lnB>
                    <a:solidFill>
                      <a:srgbClr val="E6DFD0"/>
                    </a:solidFill>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53</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C6C0B3"/>
                      </a:solidFill>
                      <a:prstDash val="solid"/>
                      <a:round/>
                      <a:headEnd type="none" w="med" len="med"/>
                      <a:tailEnd type="none" w="med" len="med"/>
                    </a:lnT>
                    <a:lnB w="6350" cap="flat" cmpd="sng" algn="ctr">
                      <a:solidFill>
                        <a:srgbClr val="C6C0B3"/>
                      </a:solidFill>
                      <a:prstDash val="solid"/>
                      <a:round/>
                      <a:headEnd type="none" w="med" len="med"/>
                      <a:tailEnd type="none" w="med" len="med"/>
                    </a:lnB>
                    <a:solidFill>
                      <a:srgbClr val="E6DFD0"/>
                    </a:solidFill>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52</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C6C0B3"/>
                      </a:solidFill>
                      <a:prstDash val="solid"/>
                      <a:round/>
                      <a:headEnd type="none" w="med" len="med"/>
                      <a:tailEnd type="none" w="med" len="med"/>
                    </a:lnT>
                    <a:lnB w="6350" cap="flat" cmpd="sng" algn="ctr">
                      <a:solidFill>
                        <a:srgbClr val="C6C0B3"/>
                      </a:solidFill>
                      <a:prstDash val="solid"/>
                      <a:round/>
                      <a:headEnd type="none" w="med" len="med"/>
                      <a:tailEnd type="none" w="med" len="med"/>
                    </a:lnB>
                    <a:solidFill>
                      <a:srgbClr val="E6DFD0"/>
                    </a:solidFill>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49</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C6C0B3"/>
                      </a:solidFill>
                      <a:prstDash val="solid"/>
                      <a:round/>
                      <a:headEnd type="none" w="med" len="med"/>
                      <a:tailEnd type="none" w="med" len="med"/>
                    </a:lnT>
                    <a:lnB w="6350" cap="flat" cmpd="sng" algn="ctr">
                      <a:solidFill>
                        <a:srgbClr val="C6C0B3"/>
                      </a:solidFill>
                      <a:prstDash val="solid"/>
                      <a:round/>
                      <a:headEnd type="none" w="med" len="med"/>
                      <a:tailEnd type="none" w="med" len="med"/>
                    </a:lnB>
                    <a:solidFill>
                      <a:srgbClr val="E6DFD0"/>
                    </a:solidFill>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52</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C6C0B3"/>
                      </a:solidFill>
                      <a:prstDash val="solid"/>
                      <a:round/>
                      <a:headEnd type="none" w="med" len="med"/>
                      <a:tailEnd type="none" w="med" len="med"/>
                    </a:lnT>
                    <a:lnB w="6350" cap="flat" cmpd="sng" algn="ctr">
                      <a:solidFill>
                        <a:srgbClr val="C6C0B3"/>
                      </a:solidFill>
                      <a:prstDash val="solid"/>
                      <a:round/>
                      <a:headEnd type="none" w="med" len="med"/>
                      <a:tailEnd type="none" w="med" len="med"/>
                    </a:lnB>
                    <a:solidFill>
                      <a:srgbClr val="E6DFD0"/>
                    </a:solidFill>
                  </a:tcPr>
                </a:tc>
              </a:tr>
              <a:tr h="318591">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Joint List</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7</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9</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8</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7</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18591">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Ra'am</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5</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5</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5</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5</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2CEC4"/>
                      </a:solidFill>
                      <a:prstDash val="solid"/>
                      <a:round/>
                      <a:headEnd type="none" w="med" len="med"/>
                      <a:tailEnd type="none" w="med" len="med"/>
                    </a:lnB>
                  </a:tcPr>
                </a:tc>
              </a:tr>
              <a:tr h="318591">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Arab-led total</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C6C0B3"/>
                      </a:solidFill>
                      <a:prstDash val="solid"/>
                      <a:round/>
                      <a:headEnd type="none" w="med" len="med"/>
                      <a:tailEnd type="none" w="med" len="med"/>
                    </a:lnT>
                    <a:lnB w="6350" cap="flat" cmpd="sng" algn="ctr">
                      <a:solidFill>
                        <a:srgbClr val="C6C0B3"/>
                      </a:solidFill>
                      <a:prstDash val="solid"/>
                      <a:round/>
                      <a:headEnd type="none" w="med" len="med"/>
                      <a:tailEnd type="none" w="med" len="med"/>
                    </a:lnB>
                    <a:solidFill>
                      <a:srgbClr val="E6DFD0"/>
                    </a:solidFill>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12</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C6C0B3"/>
                      </a:solidFill>
                      <a:prstDash val="solid"/>
                      <a:round/>
                      <a:headEnd type="none" w="med" len="med"/>
                      <a:tailEnd type="none" w="med" len="med"/>
                    </a:lnT>
                    <a:lnB w="6350" cap="flat" cmpd="sng" algn="ctr">
                      <a:solidFill>
                        <a:srgbClr val="C6C0B3"/>
                      </a:solidFill>
                      <a:prstDash val="solid"/>
                      <a:round/>
                      <a:headEnd type="none" w="med" len="med"/>
                      <a:tailEnd type="none" w="med" len="med"/>
                    </a:lnB>
                    <a:solidFill>
                      <a:srgbClr val="E6DFD0"/>
                    </a:solidFill>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14</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C6C0B3"/>
                      </a:solidFill>
                      <a:prstDash val="solid"/>
                      <a:round/>
                      <a:headEnd type="none" w="med" len="med"/>
                      <a:tailEnd type="none" w="med" len="med"/>
                    </a:lnT>
                    <a:lnB w="6350" cap="flat" cmpd="sng" algn="ctr">
                      <a:solidFill>
                        <a:srgbClr val="C6C0B3"/>
                      </a:solidFill>
                      <a:prstDash val="solid"/>
                      <a:round/>
                      <a:headEnd type="none" w="med" len="med"/>
                      <a:tailEnd type="none" w="med" len="med"/>
                    </a:lnB>
                    <a:solidFill>
                      <a:srgbClr val="E6DFD0"/>
                    </a:solidFill>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13</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C6C0B3"/>
                      </a:solidFill>
                      <a:prstDash val="solid"/>
                      <a:round/>
                      <a:headEnd type="none" w="med" len="med"/>
                      <a:tailEnd type="none" w="med" len="med"/>
                    </a:lnT>
                    <a:lnB w="6350" cap="flat" cmpd="sng" algn="ctr">
                      <a:solidFill>
                        <a:srgbClr val="C6C0B3"/>
                      </a:solidFill>
                      <a:prstDash val="solid"/>
                      <a:round/>
                      <a:headEnd type="none" w="med" len="med"/>
                      <a:tailEnd type="none" w="med" len="med"/>
                    </a:lnB>
                    <a:solidFill>
                      <a:srgbClr val="E6DFD0"/>
                    </a:solidFill>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12</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C6C0B3"/>
                      </a:solidFill>
                      <a:prstDash val="solid"/>
                      <a:round/>
                      <a:headEnd type="none" w="med" len="med"/>
                      <a:tailEnd type="none" w="med" len="med"/>
                    </a:lnT>
                    <a:lnB w="6350" cap="flat" cmpd="sng" algn="ctr">
                      <a:solidFill>
                        <a:srgbClr val="C6C0B3"/>
                      </a:solidFill>
                      <a:prstDash val="solid"/>
                      <a:round/>
                      <a:headEnd type="none" w="med" len="med"/>
                      <a:tailEnd type="none" w="med" len="med"/>
                    </a:lnB>
                    <a:solidFill>
                      <a:srgbClr val="E6DFD0"/>
                    </a:solidFill>
                  </a:tcPr>
                </a:tc>
              </a:tr>
              <a:tr h="318591">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Reservists</a:t>
                      </a:r>
                      <a:endParaRPr lang="en-US" sz="1200" dirty="0">
                        <a:latin typeface="Public Sans" charset="0"/>
                        <a:ea typeface="Public Sans" charset="0"/>
                        <a:cs typeface="Public Sans" charset="0"/>
                      </a:endParaRPr>
                    </a:p>
                  </a:txBody>
                  <a:tcPr marL="91440" marR="91440" marT="53340" marB="53340" anchor="t">
                    <a:lnL w="6350" cap="flat" cmpd="sng" algn="ctr">
                      <a:solidFill>
                        <a:srgbClr val="D9D1C1"/>
                      </a:solidFill>
                      <a:prstDash val="solid"/>
                      <a:round/>
                      <a:headEnd type="none" w="med" len="med"/>
                      <a:tailEnd type="none" w="med" len="med"/>
                    </a:lnL>
                    <a:lnR w="0" cap="flat" cmpd="sng" algn="ctr">
                      <a:noFill/>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4</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below</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5</a:t>
                      </a:r>
                      <a:endParaRPr lang="en-US" sz="1200" dirty="0">
                        <a:latin typeface="Public Sans" charset="0"/>
                        <a:ea typeface="Public Sans" charset="0"/>
                        <a:cs typeface="Public Sans" charset="0"/>
                      </a:endParaRPr>
                    </a:p>
                  </a:txBody>
                  <a:tcPr marL="91440" marR="91440" marT="53340" marB="53340" anchor="t">
                    <a:lnL w="0" cap="flat" cmpd="sng" algn="ctr">
                      <a:noFill/>
                    </a:lnL>
                    <a:lnR w="0" cap="flat" cmpd="sng" algn="ctr">
                      <a:noFill/>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c>
                  <a:txBody>
                    <a:bodyPr/>
                    <a:lstStyle/>
                    <a:p>
                      <a:pPr algn="l" indent="0" marL="0">
                        <a:lnSpc>
                          <a:spcPts val="1620"/>
                        </a:lnSpc>
                        <a:buNone/>
                      </a:pPr>
                      <a:r>
                        <a:rPr lang="en-US" sz="1200" dirty="0">
                          <a:solidFill>
                            <a:srgbClr val="1B2634"/>
                          </a:solidFill>
                          <a:latin typeface="Public Sans" pitchFamily="34" charset="0"/>
                          <a:ea typeface="Public Sans" pitchFamily="34" charset="-122"/>
                          <a:cs typeface="Public Sans" pitchFamily="34" charset="-120"/>
                        </a:rPr>
                        <a:t>4</a:t>
                      </a:r>
                      <a:endParaRPr lang="en-US" sz="1200" dirty="0">
                        <a:latin typeface="Public Sans" charset="0"/>
                        <a:ea typeface="Public Sans" charset="0"/>
                        <a:cs typeface="Public Sans" charset="0"/>
                      </a:endParaRPr>
                    </a:p>
                  </a:txBody>
                  <a:tcPr marL="91440" marR="91440" marT="53340" marB="53340" anchor="t">
                    <a:lnL w="0" cap="flat" cmpd="sng" algn="ctr">
                      <a:noFill/>
                    </a:lnL>
                    <a:lnR w="6350" cap="flat" cmpd="sng" algn="ctr">
                      <a:solidFill>
                        <a:srgbClr val="D9D1C1"/>
                      </a:solidFill>
                      <a:prstDash val="solid"/>
                      <a:round/>
                      <a:headEnd type="none" w="med" len="med"/>
                      <a:tailEnd type="none" w="med" len="med"/>
                    </a:lnR>
                    <a:lnT w="6350" cap="flat" cmpd="sng" algn="ctr">
                      <a:solidFill>
                        <a:srgbClr val="D2CEC4"/>
                      </a:solidFill>
                      <a:prstDash val="solid"/>
                      <a:round/>
                      <a:headEnd type="none" w="med" len="med"/>
                      <a:tailEnd type="none" w="med" len="med"/>
                    </a:lnT>
                    <a:lnB w="6350" cap="flat" cmpd="sng" algn="ctr">
                      <a:solidFill>
                        <a:srgbClr val="D9D1C1"/>
                      </a:solidFill>
                      <a:prstDash val="solid"/>
                      <a:round/>
                      <a:headEnd type="none" w="med" len="med"/>
                      <a:tailEnd type="none" w="med" len="med"/>
                    </a:lnB>
                  </a:tcPr>
                </a:tc>
              </a:tr>
            </a:tbl>
          </a:graphicData>
        </a:graphic>
      </p:graphicFrame>
      <p:sp>
        <p:nvSpPr>
          <p:cNvPr id="11" name="text-745"/>
          <p:cNvSpPr txBox="1"/>
          <p:nvPr/>
        </p:nvSpPr>
        <p:spPr>
          <a:xfrm>
            <a:off x="812800" y="6253559"/>
            <a:ext cx="10762996" cy="19804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Maariv (JPost), Oct 2 · Ch 13 (ToI), Oct 1 · Zman Yisrael, Oct 1 · Kan (JPost), Sep 28 · Channel 14 via The Media Line, Sep 27</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EFE4"/>
        </a:solidFill>
      </p:bgPr>
    </p:bg>
    <p:spTree>
      <p:nvGrpSpPr>
        <p:cNvPr id="1" name=""/>
        <p:cNvGrpSpPr/>
        <p:nvPr/>
      </p:nvGrpSpPr>
      <p:grpSpPr>
        <a:xfrm>
          <a:off x="0" y="0"/>
          <a:ext cx="0" cy="0"/>
          <a:chOff x="0" y="0"/>
          <a:chExt cx="0" cy="0"/>
        </a:xfrm>
      </p:grpSpPr>
      <p:sp>
        <p:nvSpPr>
          <p:cNvPr id="2" name="text-746"/>
          <p:cNvSpPr txBox="1"/>
          <p:nvPr/>
        </p:nvSpPr>
        <p:spPr>
          <a:xfrm>
            <a:off x="812800" y="812800"/>
            <a:ext cx="10762996" cy="446980"/>
          </a:xfrm>
          <a:prstGeom prst="rect">
            <a:avLst/>
          </a:prstGeom>
          <a:noFill/>
          <a:ln/>
        </p:spPr>
        <p:txBody>
          <a:bodyPr wrap="square" lIns="0" tIns="0" rIns="0" bIns="0" rtlCol="0" anchor="t"/>
          <a:lstStyle/>
          <a:p>
            <a:pPr algn="l" indent="0" marL="0">
              <a:lnSpc>
                <a:spcPts val="3520"/>
              </a:lnSpc>
              <a:buNone/>
            </a:pPr>
            <a:r>
              <a:rPr lang="en-US" sz="3200" dirty="0">
                <a:solidFill>
                  <a:srgbClr val="15253D"/>
                </a:solidFill>
                <a:latin typeface="Libre Baskerville" pitchFamily="34" charset="0"/>
                <a:ea typeface="Libre Baskerville" pitchFamily="34" charset="-122"/>
                <a:cs typeface="Libre Baskerville" pitchFamily="34" charset="-120"/>
              </a:rPr>
              <a:t>Since mid-September</a:t>
            </a:r>
            <a:endParaRPr lang="en-US" sz="3200" dirty="0"/>
          </a:p>
        </p:txBody>
      </p:sp>
      <p:sp>
        <p:nvSpPr>
          <p:cNvPr id="3" name="shape-747"/>
          <p:cNvSpPr/>
          <p:nvPr/>
        </p:nvSpPr>
        <p:spPr>
          <a:xfrm>
            <a:off x="812800" y="1513780"/>
            <a:ext cx="3386634" cy="3365004"/>
          </a:xfrm>
          <a:prstGeom prst="roundRect">
            <a:avLst>
              <a:gd name="adj" fmla="val 2264"/>
            </a:avLst>
          </a:prstGeom>
          <a:solidFill>
            <a:srgbClr val="FBF8F1"/>
          </a:solidFill>
          <a:ln w="6350">
            <a:solidFill>
              <a:srgbClr val="D9D1C1"/>
            </a:solidFill>
            <a:prstDash val="solid"/>
          </a:ln>
        </p:spPr>
      </p:sp>
      <p:sp>
        <p:nvSpPr>
          <p:cNvPr id="4" name="text-748"/>
          <p:cNvSpPr txBox="1"/>
          <p:nvPr/>
        </p:nvSpPr>
        <p:spPr>
          <a:xfrm>
            <a:off x="1022350" y="1723330"/>
            <a:ext cx="3050147" cy="205680"/>
          </a:xfrm>
          <a:prstGeom prst="rect">
            <a:avLst/>
          </a:prstGeom>
          <a:noFill/>
          <a:ln/>
        </p:spPr>
        <p:txBody>
          <a:bodyPr wrap="square" lIns="0" tIns="0" rIns="0" bIns="0" rtlCol="0" anchor="t"/>
          <a:lstStyle/>
          <a:p>
            <a:pPr algn="l" indent="0" marL="0">
              <a:lnSpc>
                <a:spcPts val="1620"/>
              </a:lnSpc>
              <a:buNone/>
            </a:pPr>
            <a:r>
              <a:rPr lang="en-US" sz="1200" b="1" spc="100" kern="0" dirty="0">
                <a:solidFill>
                  <a:srgbClr val="9A541A"/>
                </a:solidFill>
                <a:latin typeface="Public Sans" pitchFamily="34" charset="0"/>
                <a:ea typeface="Public Sans" pitchFamily="34" charset="-122"/>
                <a:cs typeface="Public Sans" pitchFamily="34" charset="-120"/>
              </a:rPr>
              <a:t>SEP 23 → OCT 2</a:t>
            </a:r>
            <a:endParaRPr lang="en-US" sz="1200" dirty="0"/>
          </a:p>
        </p:txBody>
      </p:sp>
      <p:sp>
        <p:nvSpPr>
          <p:cNvPr id="5" name="text-749"/>
          <p:cNvSpPr txBox="1"/>
          <p:nvPr/>
        </p:nvSpPr>
        <p:spPr>
          <a:xfrm>
            <a:off x="1022350" y="2030611"/>
            <a:ext cx="3050147" cy="1096963"/>
          </a:xfrm>
          <a:prstGeom prst="rect">
            <a:avLst/>
          </a:prstGeom>
          <a:noFill/>
          <a:ln/>
        </p:spPr>
        <p:txBody>
          <a:bodyPr wrap="square" lIns="0" tIns="0" rIns="0" bIns="0" rtlCol="0" anchor="t"/>
          <a:lstStyle/>
          <a:p>
            <a:pPr algn="l" indent="0" marL="0">
              <a:lnSpc>
                <a:spcPts val="2160"/>
              </a:lnSpc>
              <a:buNone/>
            </a:pPr>
            <a:r>
              <a:rPr lang="en-US" sz="1800" dirty="0">
                <a:solidFill>
                  <a:srgbClr val="15253D"/>
                </a:solidFill>
                <a:latin typeface="Libre Baskerville" pitchFamily="34" charset="0"/>
                <a:ea typeface="Libre Baskerville" pitchFamily="34" charset="-122"/>
                <a:cs typeface="Libre Baskerville" pitchFamily="34" charset="-120"/>
              </a:rPr>
              <a:t>Elections Committee votes to disqualify the Arab lists; Supreme Court reinstates them</a:t>
            </a:r>
            <a:endParaRPr lang="en-US" sz="1800" dirty="0"/>
          </a:p>
        </p:txBody>
      </p:sp>
      <p:sp>
        <p:nvSpPr>
          <p:cNvPr id="6" name="text-750"/>
          <p:cNvSpPr txBox="1"/>
          <p:nvPr/>
        </p:nvSpPr>
        <p:spPr>
          <a:xfrm>
            <a:off x="1022350" y="3229173"/>
            <a:ext cx="3050147" cy="1440061"/>
          </a:xfrm>
          <a:prstGeom prst="rect">
            <a:avLst/>
          </a:prstGeom>
          <a:noFill/>
          <a:ln/>
        </p:spPr>
        <p:txBody>
          <a:bodyPr wrap="square" lIns="0" tIns="0" rIns="0" bIns="0" rtlCol="0" anchor="t"/>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Sep 23: the Committee votes to bar Ra'am and the Joint List (each 18–5), Cassif (19–5) and Abu Shehadeh (30–4). Oct 2: the Court reinstates both lists 9–0 and Cassif 7–2. Abu Shehadeh withdrew.</a:t>
            </a:r>
            <a:endParaRPr lang="en-US" sz="1400" dirty="0"/>
          </a:p>
        </p:txBody>
      </p:sp>
      <p:sp>
        <p:nvSpPr>
          <p:cNvPr id="7" name="shape-751"/>
          <p:cNvSpPr/>
          <p:nvPr/>
        </p:nvSpPr>
        <p:spPr>
          <a:xfrm>
            <a:off x="4402634" y="1513780"/>
            <a:ext cx="3386634" cy="3365004"/>
          </a:xfrm>
          <a:prstGeom prst="roundRect">
            <a:avLst>
              <a:gd name="adj" fmla="val 2264"/>
            </a:avLst>
          </a:prstGeom>
          <a:solidFill>
            <a:srgbClr val="FBF8F1"/>
          </a:solidFill>
          <a:ln w="6350">
            <a:solidFill>
              <a:srgbClr val="D9D1C1"/>
            </a:solidFill>
            <a:prstDash val="solid"/>
          </a:ln>
        </p:spPr>
      </p:sp>
      <p:sp>
        <p:nvSpPr>
          <p:cNvPr id="8" name="text-752"/>
          <p:cNvSpPr txBox="1"/>
          <p:nvPr/>
        </p:nvSpPr>
        <p:spPr>
          <a:xfrm>
            <a:off x="4612184" y="1723330"/>
            <a:ext cx="3050147" cy="205680"/>
          </a:xfrm>
          <a:prstGeom prst="rect">
            <a:avLst/>
          </a:prstGeom>
          <a:noFill/>
          <a:ln/>
        </p:spPr>
        <p:txBody>
          <a:bodyPr wrap="square" lIns="0" tIns="0" rIns="0" bIns="0" rtlCol="0" anchor="t"/>
          <a:lstStyle/>
          <a:p>
            <a:pPr algn="l" indent="0" marL="0">
              <a:lnSpc>
                <a:spcPts val="1620"/>
              </a:lnSpc>
              <a:buNone/>
            </a:pPr>
            <a:r>
              <a:rPr lang="en-US" sz="1200" b="1" spc="100" kern="0" dirty="0">
                <a:solidFill>
                  <a:srgbClr val="9A541A"/>
                </a:solidFill>
                <a:latin typeface="Public Sans" pitchFamily="34" charset="0"/>
                <a:ea typeface="Public Sans" pitchFamily="34" charset="-122"/>
                <a:cs typeface="Public Sans" pitchFamily="34" charset="-120"/>
              </a:rPr>
              <a:t>SEP 20</a:t>
            </a:r>
            <a:endParaRPr lang="en-US" sz="1200" dirty="0"/>
          </a:p>
        </p:txBody>
      </p:sp>
      <p:sp>
        <p:nvSpPr>
          <p:cNvPr id="9" name="text-753"/>
          <p:cNvSpPr txBox="1"/>
          <p:nvPr/>
        </p:nvSpPr>
        <p:spPr>
          <a:xfrm>
            <a:off x="4612184" y="2030611"/>
            <a:ext cx="3050147" cy="274241"/>
          </a:xfrm>
          <a:prstGeom prst="rect">
            <a:avLst/>
          </a:prstGeom>
          <a:noFill/>
          <a:ln/>
        </p:spPr>
        <p:txBody>
          <a:bodyPr wrap="square" lIns="0" tIns="0" rIns="0" bIns="0" rtlCol="0" anchor="t"/>
          <a:lstStyle/>
          <a:p>
            <a:pPr algn="l" indent="0" marL="0">
              <a:lnSpc>
                <a:spcPts val="2160"/>
              </a:lnSpc>
              <a:buNone/>
            </a:pPr>
            <a:r>
              <a:rPr lang="en-US" sz="1800" dirty="0">
                <a:solidFill>
                  <a:srgbClr val="15253D"/>
                </a:solidFill>
                <a:latin typeface="Libre Baskerville" pitchFamily="34" charset="0"/>
                <a:ea typeface="Libre Baskerville" pitchFamily="34" charset="-122"/>
                <a:cs typeface="Libre Baskerville" pitchFamily="34" charset="-120"/>
              </a:rPr>
              <a:t>Gantz may step aside</a:t>
            </a:r>
            <a:endParaRPr lang="en-US" sz="1800" dirty="0"/>
          </a:p>
        </p:txBody>
      </p:sp>
      <p:sp>
        <p:nvSpPr>
          <p:cNvPr id="10" name="text-754"/>
          <p:cNvSpPr txBox="1"/>
          <p:nvPr/>
        </p:nvSpPr>
        <p:spPr>
          <a:xfrm>
            <a:off x="4612184" y="2406452"/>
            <a:ext cx="3050147" cy="960041"/>
          </a:xfrm>
          <a:prstGeom prst="rect">
            <a:avLst/>
          </a:prstGeom>
          <a:noFill/>
          <a:ln/>
        </p:spPr>
        <p:txBody>
          <a:bodyPr wrap="square" lIns="0" tIns="0" rIns="0" bIns="0" rtlCol="0" anchor="t"/>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Blue and White is under the 3.25% threshold in every poll. Benny Gantz says he will leave the race in the last week if it is still under.</a:t>
            </a:r>
            <a:endParaRPr lang="en-US" sz="1400" dirty="0"/>
          </a:p>
        </p:txBody>
      </p:sp>
      <p:sp>
        <p:nvSpPr>
          <p:cNvPr id="11" name="shape-755"/>
          <p:cNvSpPr/>
          <p:nvPr/>
        </p:nvSpPr>
        <p:spPr>
          <a:xfrm>
            <a:off x="7992467" y="1513780"/>
            <a:ext cx="3386634" cy="3365004"/>
          </a:xfrm>
          <a:prstGeom prst="roundRect">
            <a:avLst>
              <a:gd name="adj" fmla="val 2264"/>
            </a:avLst>
          </a:prstGeom>
          <a:solidFill>
            <a:srgbClr val="FBF8F1"/>
          </a:solidFill>
          <a:ln w="6350">
            <a:solidFill>
              <a:srgbClr val="D9D1C1"/>
            </a:solidFill>
            <a:prstDash val="solid"/>
          </a:ln>
        </p:spPr>
      </p:sp>
      <p:sp>
        <p:nvSpPr>
          <p:cNvPr id="12" name="text-756"/>
          <p:cNvSpPr txBox="1"/>
          <p:nvPr/>
        </p:nvSpPr>
        <p:spPr>
          <a:xfrm>
            <a:off x="8202017" y="1723330"/>
            <a:ext cx="3050147" cy="205680"/>
          </a:xfrm>
          <a:prstGeom prst="rect">
            <a:avLst/>
          </a:prstGeom>
          <a:noFill/>
          <a:ln/>
        </p:spPr>
        <p:txBody>
          <a:bodyPr wrap="square" lIns="0" tIns="0" rIns="0" bIns="0" rtlCol="0" anchor="t"/>
          <a:lstStyle/>
          <a:p>
            <a:pPr algn="l" indent="0" marL="0">
              <a:lnSpc>
                <a:spcPts val="1620"/>
              </a:lnSpc>
              <a:buNone/>
            </a:pPr>
            <a:r>
              <a:rPr lang="en-US" sz="1200" b="1" spc="100" kern="0" dirty="0">
                <a:solidFill>
                  <a:srgbClr val="9A541A"/>
                </a:solidFill>
                <a:latin typeface="Public Sans" pitchFamily="34" charset="0"/>
                <a:ea typeface="Public Sans" pitchFamily="34" charset="-122"/>
                <a:cs typeface="Public Sans" pitchFamily="34" charset="-120"/>
              </a:rPr>
              <a:t>SEP 19</a:t>
            </a:r>
            <a:endParaRPr lang="en-US" sz="1200" dirty="0"/>
          </a:p>
        </p:txBody>
      </p:sp>
      <p:sp>
        <p:nvSpPr>
          <p:cNvPr id="13" name="text-757"/>
          <p:cNvSpPr txBox="1"/>
          <p:nvPr/>
        </p:nvSpPr>
        <p:spPr>
          <a:xfrm>
            <a:off x="8202017" y="2030611"/>
            <a:ext cx="3050147" cy="274241"/>
          </a:xfrm>
          <a:prstGeom prst="rect">
            <a:avLst/>
          </a:prstGeom>
          <a:noFill/>
          <a:ln/>
        </p:spPr>
        <p:txBody>
          <a:bodyPr wrap="square" lIns="0" tIns="0" rIns="0" bIns="0" rtlCol="0" anchor="t"/>
          <a:lstStyle/>
          <a:p>
            <a:pPr algn="l" indent="0" marL="0">
              <a:lnSpc>
                <a:spcPts val="2160"/>
              </a:lnSpc>
              <a:buNone/>
            </a:pPr>
            <a:r>
              <a:rPr lang="en-US" sz="1800" dirty="0">
                <a:solidFill>
                  <a:srgbClr val="15253D"/>
                </a:solidFill>
                <a:latin typeface="Libre Baskerville" pitchFamily="34" charset="0"/>
                <a:ea typeface="Libre Baskerville" pitchFamily="34" charset="-122"/>
                <a:cs typeface="Libre Baskerville" pitchFamily="34" charset="-120"/>
              </a:rPr>
              <a:t>Flying voters home</a:t>
            </a:r>
            <a:endParaRPr lang="en-US" sz="1800" dirty="0"/>
          </a:p>
        </p:txBody>
      </p:sp>
      <p:sp>
        <p:nvSpPr>
          <p:cNvPr id="14" name="text-758"/>
          <p:cNvSpPr txBox="1"/>
          <p:nvPr/>
        </p:nvSpPr>
        <p:spPr>
          <a:xfrm>
            <a:off x="8202017" y="2406452"/>
            <a:ext cx="3050147" cy="960041"/>
          </a:xfrm>
          <a:prstGeom prst="rect">
            <a:avLst/>
          </a:prstGeom>
          <a:noFill/>
          <a:ln/>
        </p:spPr>
        <p:txBody>
          <a:bodyPr wrap="square" lIns="0" tIns="0" rIns="0" bIns="0" rtlCol="0" anchor="t"/>
          <a:lstStyle/>
          <a:p>
            <a:pPr algn="l" indent="0" marL="0">
              <a:lnSpc>
                <a:spcPts val="1890"/>
              </a:lnSpc>
              <a:buNone/>
            </a:pPr>
            <a:r>
              <a:rPr lang="en-US" sz="1400" dirty="0">
                <a:solidFill>
                  <a:srgbClr val="1B2634"/>
                </a:solidFill>
                <a:latin typeface="Public Sans" pitchFamily="34" charset="0"/>
                <a:ea typeface="Public Sans" pitchFamily="34" charset="-122"/>
                <a:cs typeface="Public Sans" pitchFamily="34" charset="-120"/>
              </a:rPr>
              <a:t>Israelis abroad have no absentee vote (diplomats, emissaries and ships' crews excepted); Likud fights a campaign to fly expats home.</a:t>
            </a:r>
            <a:endParaRPr lang="en-US" sz="1400" dirty="0"/>
          </a:p>
        </p:txBody>
      </p:sp>
      <p:sp>
        <p:nvSpPr>
          <p:cNvPr id="15" name="text-759"/>
          <p:cNvSpPr txBox="1"/>
          <p:nvPr/>
        </p:nvSpPr>
        <p:spPr>
          <a:xfrm>
            <a:off x="812800" y="6253559"/>
            <a:ext cx="10762996" cy="198041"/>
          </a:xfrm>
          <a:prstGeom prst="rect">
            <a:avLst/>
          </a:prstGeom>
          <a:noFill/>
          <a:ln/>
        </p:spPr>
        <p:txBody>
          <a:bodyPr wrap="square" lIns="0" tIns="0" rIns="0" bIns="0" rtlCol="0" anchor="t"/>
          <a:lstStyle/>
          <a:p>
            <a:pPr algn="l" indent="0" marL="0">
              <a:lnSpc>
                <a:spcPts val="1560"/>
              </a:lnSpc>
              <a:buNone/>
            </a:pPr>
            <a:r>
              <a:rPr lang="en-US" sz="1200" dirty="0">
                <a:solidFill>
                  <a:srgbClr val="4F5B69"/>
                </a:solidFill>
                <a:latin typeface="Public Sans" pitchFamily="34" charset="0"/>
                <a:ea typeface="Public Sans" pitchFamily="34" charset="-122"/>
                <a:cs typeface="Public Sans" pitchFamily="34" charset="-120"/>
              </a:rPr>
              <a:t>Sources: Times of Israel, Sep 20 and 23, 2026; Al Jazeera, Sep 24 and Oct 2, 2026; Jerusalem Post, Oct 2, 2026; CNN, Sep 19, 2026</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5253D"/>
        </a:solidFill>
      </p:bgPr>
    </p:bg>
    <p:spTree>
      <p:nvGrpSpPr>
        <p:cNvPr id="1" name=""/>
        <p:cNvGrpSpPr/>
        <p:nvPr/>
      </p:nvGrpSpPr>
      <p:grpSpPr>
        <a:xfrm>
          <a:off x="0" y="0"/>
          <a:ext cx="0" cy="0"/>
          <a:chOff x="0" y="0"/>
          <a:chExt cx="0" cy="0"/>
        </a:xfrm>
      </p:grpSpPr>
      <p:sp>
        <p:nvSpPr>
          <p:cNvPr id="2" name="text-760"/>
          <p:cNvSpPr txBox="1"/>
          <p:nvPr/>
        </p:nvSpPr>
        <p:spPr>
          <a:xfrm>
            <a:off x="812800" y="812800"/>
            <a:ext cx="10762996" cy="446980"/>
          </a:xfrm>
          <a:prstGeom prst="rect">
            <a:avLst/>
          </a:prstGeom>
          <a:noFill/>
          <a:ln/>
        </p:spPr>
        <p:txBody>
          <a:bodyPr wrap="square" lIns="0" tIns="0" rIns="0" bIns="0" rtlCol="0" anchor="t"/>
          <a:lstStyle/>
          <a:p>
            <a:pPr algn="l" indent="0" marL="0">
              <a:lnSpc>
                <a:spcPts val="3520"/>
              </a:lnSpc>
              <a:buNone/>
            </a:pPr>
            <a:r>
              <a:rPr lang="en-US" sz="3200" dirty="0">
                <a:solidFill>
                  <a:srgbClr val="F4EFE4"/>
                </a:solidFill>
                <a:latin typeface="Libre Baskerville" pitchFamily="34" charset="0"/>
                <a:ea typeface="Libre Baskerville" pitchFamily="34" charset="-122"/>
                <a:cs typeface="Libre Baskerville" pitchFamily="34" charset="-120"/>
              </a:rPr>
              <a:t>Discussion</a:t>
            </a:r>
            <a:endParaRPr lang="en-US" sz="3200" dirty="0"/>
          </a:p>
        </p:txBody>
      </p:sp>
      <p:sp>
        <p:nvSpPr>
          <p:cNvPr id="3" name="text-761"/>
          <p:cNvSpPr txBox="1"/>
          <p:nvPr/>
        </p:nvSpPr>
        <p:spPr>
          <a:xfrm>
            <a:off x="812800" y="2472730"/>
            <a:ext cx="10762996" cy="1341041"/>
          </a:xfrm>
          <a:prstGeom prst="rect">
            <a:avLst/>
          </a:prstGeom>
          <a:noFill/>
          <a:ln/>
        </p:spPr>
        <p:txBody>
          <a:bodyPr wrap="square" lIns="0" tIns="0" rIns="0" bIns="0" rtlCol="0" anchor="t"/>
          <a:lstStyle/>
          <a:p>
            <a:pPr algn="l" indent="0" marL="0">
              <a:lnSpc>
                <a:spcPts val="5280"/>
              </a:lnSpc>
              <a:buNone/>
            </a:pPr>
            <a:r>
              <a:rPr lang="en-US" sz="4800" i="1" dirty="0">
                <a:solidFill>
                  <a:srgbClr val="E2AD6E"/>
                </a:solidFill>
                <a:latin typeface="Libre Baskerville" pitchFamily="34" charset="0"/>
                <a:ea typeface="Libre Baskerville" pitchFamily="34" charset="-122"/>
                <a:cs typeface="Libre Baskerville" pitchFamily="34" charset="-120"/>
              </a:rPr>
              <a:t>What do you think this election is about?</a:t>
            </a:r>
            <a:endParaRPr lang="en-US" sz="4800" dirty="0"/>
          </a:p>
        </p:txBody>
      </p:sp>
      <p:sp>
        <p:nvSpPr>
          <p:cNvPr id="4" name="text-762"/>
          <p:cNvSpPr txBox="1"/>
          <p:nvPr/>
        </p:nvSpPr>
        <p:spPr>
          <a:xfrm>
            <a:off x="812800" y="4016970"/>
            <a:ext cx="10762996" cy="308570"/>
          </a:xfrm>
          <a:prstGeom prst="rect">
            <a:avLst/>
          </a:prstGeom>
          <a:noFill/>
          <a:ln/>
        </p:spPr>
        <p:txBody>
          <a:bodyPr wrap="square" lIns="0" tIns="0" rIns="0" bIns="0" rtlCol="0" anchor="t"/>
          <a:lstStyle/>
          <a:p>
            <a:pPr algn="l" indent="0" marL="0">
              <a:lnSpc>
                <a:spcPts val="2430"/>
              </a:lnSpc>
              <a:buNone/>
            </a:pPr>
            <a:r>
              <a:rPr lang="en-US" sz="1800" dirty="0">
                <a:solidFill>
                  <a:srgbClr val="F4EFE4"/>
                </a:solidFill>
                <a:latin typeface="Public Sans" pitchFamily="34" charset="0"/>
                <a:ea typeface="Public Sans" pitchFamily="34" charset="-122"/>
                <a:cs typeface="Public Sans" pitchFamily="34" charset="-120"/>
              </a:rPr>
              <a:t>We'll write the answers down and come back to them on election night, October 27.</a:t>
            </a:r>
            <a:endParaRPr lang="en-US" sz="1800" dirty="0"/>
          </a:p>
        </p:txBody>
      </p:sp>
      <p:sp>
        <p:nvSpPr>
          <p:cNvPr id="5" name="rule-764"/>
          <p:cNvSpPr/>
          <p:nvPr/>
        </p:nvSpPr>
        <p:spPr>
          <a:xfrm>
            <a:off x="812800" y="5538490"/>
            <a:ext cx="10566400" cy="6350"/>
          </a:xfrm>
          <a:prstGeom prst="rect">
            <a:avLst/>
          </a:prstGeom>
          <a:solidFill>
            <a:srgbClr val="3A4A63"/>
          </a:solidFill>
          <a:ln/>
        </p:spPr>
      </p:sp>
      <p:sp>
        <p:nvSpPr>
          <p:cNvPr id="6" name="text-765"/>
          <p:cNvSpPr txBox="1"/>
          <p:nvPr/>
        </p:nvSpPr>
        <p:spPr>
          <a:xfrm>
            <a:off x="812800" y="5817890"/>
            <a:ext cx="1824542" cy="205680"/>
          </a:xfrm>
          <a:prstGeom prst="rect">
            <a:avLst/>
          </a:prstGeom>
          <a:noFill/>
          <a:ln/>
        </p:spPr>
        <p:txBody>
          <a:bodyPr wrap="square" lIns="0" tIns="0" rIns="0" bIns="0" rtlCol="0" anchor="t"/>
          <a:lstStyle/>
          <a:p>
            <a:pPr algn="l" indent="0" marL="0">
              <a:lnSpc>
                <a:spcPts val="1620"/>
              </a:lnSpc>
              <a:buNone/>
            </a:pPr>
            <a:r>
              <a:rPr lang="en-US" sz="1200" b="1" spc="100" kern="0" dirty="0">
                <a:solidFill>
                  <a:srgbClr val="E2AD6E"/>
                </a:solidFill>
                <a:latin typeface="Public Sans" pitchFamily="34" charset="0"/>
                <a:ea typeface="Public Sans" pitchFamily="34" charset="-122"/>
                <a:cs typeface="Public Sans" pitchFamily="34" charset="-120"/>
              </a:rPr>
              <a:t>NEXT WEEK · OCT 13</a:t>
            </a:r>
            <a:endParaRPr lang="en-US" sz="1200" dirty="0"/>
          </a:p>
        </p:txBody>
      </p:sp>
      <p:sp>
        <p:nvSpPr>
          <p:cNvPr id="7" name="text-766"/>
          <p:cNvSpPr txBox="1"/>
          <p:nvPr/>
        </p:nvSpPr>
        <p:spPr>
          <a:xfrm>
            <a:off x="2776041" y="5748040"/>
            <a:ext cx="3161931" cy="297160"/>
          </a:xfrm>
          <a:prstGeom prst="rect">
            <a:avLst/>
          </a:prstGeom>
          <a:noFill/>
          <a:ln/>
        </p:spPr>
        <p:txBody>
          <a:bodyPr wrap="square" lIns="0" tIns="0" rIns="0" bIns="0" rtlCol="0" anchor="t"/>
          <a:lstStyle/>
          <a:p>
            <a:pPr algn="l" indent="0" marL="0">
              <a:lnSpc>
                <a:spcPts val="2340"/>
              </a:lnSpc>
              <a:buNone/>
            </a:pPr>
            <a:r>
              <a:rPr lang="en-US" sz="1800" dirty="0">
                <a:solidFill>
                  <a:srgbClr val="F4EFE4"/>
                </a:solidFill>
                <a:latin typeface="Public Sans" pitchFamily="34" charset="0"/>
                <a:ea typeface="Public Sans" pitchFamily="34" charset="-122"/>
                <a:cs typeface="Public Sans" pitchFamily="34" charset="-120"/>
              </a:rPr>
              <a:t>How we got here, 1977–2026</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ibre Baskervil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israelielection.org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Israel Votes — Session 1: The System, the Tribes, and the Map</dc:title>
  <dc:subject>PptxGenJS Presentation</dc:subject>
  <dc:creator>Rabbi Daniel Bogard</dc:creator>
  <cp:lastModifiedBy>Rabbi Daniel Bogard</cp:lastModifiedBy>
  <cp:revision>1</cp:revision>
  <dcterms:created xsi:type="dcterms:W3CDTF">2026-10-05T03:46:30Z</dcterms:created>
  <dcterms:modified xsi:type="dcterms:W3CDTF">2026-10-05T03:46:30Z</dcterms:modified>
</cp:coreProperties>
</file>